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60" r:id="rId4"/>
    <p:sldId id="258"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81"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back. Today's win is making an Excel table and giving it a useful name. If you missed yesterday, you can start here. We use the same sales export, and I will do the clicking.</a:t>
            </a:r>
          </a:p>
          <a:p>
            <a:endParaRPr/>
          </a:p>
          <a:p>
            <a:r>
              <a:t>CHAT CUE (about 0:30; budget 15 seconds total)</a:t>
            </a:r>
          </a:p>
          <a:p>
            <a:r>
              <a:t>SAY: One word in chat to get us started: do you use Excel tables already, YES or NO? No explanation needed. Watching is welcome too.</a:t>
            </a:r>
          </a:p>
          <a:p>
            <a:r>
              <a:t>PAUSE: Wait silently for 8 seconds. Do not repeat the request.</a:t>
            </a:r>
          </a:p>
          <a:p>
            <a:r>
              <a:t>IF SOMEONE REPLIES: Acknowledge an actual answer. 'I'll show the shortcut and the naming step, so either way you can follow.'</a:t>
            </a:r>
          </a:p>
          <a:p>
            <a:r>
              <a:t>IF CHAT IS QUIET: Say, "I'll show it from the beginning."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Keep the opening to 60 seconds. Participation is optional. The learning continues even with no chat replies.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Thirty-second recap for anyone just joining. Yesterday was the AI already hiding in your Excel: Flash Fill learned a pattern from one example, and Analyze Data answered a plain-English question with a PivotTable. The takeaway was to exhaust the AI you already have before asking for budget. But we also caught the tools being confidently wrong, inconsistent labels for four intended regions, because the data underneath was a mess. Today we start fixing the underneath. Same Lakeshore export, one new habit.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6:00; budget 15 seconds total)</a:t>
            </a:r>
          </a:p>
          <a:p>
            <a:r>
              <a:t>SAY: Quick vote: which name tells you more, A for Table1 or B for SalesData? Just the letter.</a:t>
            </a:r>
          </a:p>
          <a:p>
            <a:r>
              <a:t>PAUSE: Wait silently for 8 seconds. Do not repeat the request.</a:t>
            </a:r>
          </a:p>
          <a:p>
            <a:r>
              <a:t>IF SOMEONE REPLIES: B. SalesData tells us what the table contains. Show the Table Name box, then read SUM(SalesData[Amount]) out loud.</a:t>
            </a:r>
          </a:p>
          <a:p>
            <a:r>
              <a:t>IF CHAT IS QUIET: Say, "I'll use B, SalesData, so the formula tells us what it is adding up."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at the indicated demo pause. Keep the Excel window visible when the prompt refers to its result.</a:t>
            </a:r>
          </a:p>
          <a:p>
            <a:endParaRPr/>
          </a:p>
          <a:p>
            <a:r>
              <a:t>ORIGINAL TEACHING SCRIPT</a:t>
            </a:r>
          </a:p>
          <a:p>
            <a:r>
              <a:t>Into the workbook. First, ten seconds of tidying: those two TOTAL rows and the blank row from yesterday, I am deleting them by hand, and notice that it is manual and annoying, because tomorrow we automate exactly this. Now I click anywhere in the data and press Control T. Excel finds the edges, I confirm my data has headers, and we have a table. Here is the step almost everyone skips: go to Table Design and name it. Table1 means nothing. I am typing SalesData. Now watch what that name buys us. In a spare cell I type equals SUM, open paren, and click the Amount column header. The formula writes itself: sum of SalesData Amount. Read that out loud. It documents itself. No dollar signs, no H2 colon H58, no archaeology six months from now.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guerrilla hook. Tables sound like the least exciting feature in Excel, so here is the reframe: named tables give tools clear column names and data boundaries. That is true of Analyze Data, which you saw yesterday, and it is just as true of Copilot and of the Python we will run on Thursday. A table gives the machine named columns, a defined boundary, and one data type per field. On top of that, structured references make your formulas read like sentences, so a colleague, or an AI asked to audit your workbook, can tell what a formula means without decoding cell addresses. Here is the guerrilla part: while other teams wait for licenses to arrive, the analyst who makes data machine-readable today gets the payoff from every tool the moment it lands. The AI-ready workbook is a craft skill, not a purchase.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16:30; budget 15 seconds total)</a:t>
            </a:r>
          </a:p>
          <a:p>
            <a:r>
              <a:t>SAY: For your own workbook, which table name would fit: SALES, EXPENSES, or OTHER? One word is enough.</a:t>
            </a:r>
          </a:p>
          <a:p>
            <a:r>
              <a:t>PAUSE: Wait silently for 8 seconds. Do not repeat the request.</a:t>
            </a:r>
          </a:p>
          <a:p>
            <a:r>
              <a:t>IF SOMEONE REPLIES: Acknowledge an actual choice. Give the main range a table name that describes its contents. This is the one desk action to prioritize.</a:t>
            </a:r>
          </a:p>
          <a:p>
            <a:r>
              <a:t>IF CHAT IS QUIET: Say, "I'll use SalesData for this example. You can choose a name from your own work."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TEACHING SCRIPT
Pick one small next action. You do not need to complete every option. Pick one range you use often. Remove subtotal rows and blanks. Press Ctrl+T, confirm headers, and give the table a useful name. Optional: try =SUM(YourTable[Amount]) with your own table and column names.</a:t>
            </a:r>
          </a:p>
          <a:p>
            <a:r>
              <a:t>Desk actions, three again. One: open the workbook you live in and press Control T on its main range, then give the table a real name, not Table1. Two: take one fragile formula, the kind with dollar signs and mystery ranges, rewrite it with structured references, and read it out loud. If it reads like a sentence, you did it right. Three: rerun the Analyze Data question you tried Monday and compare the answers side by side. That comparison is the proof you can show a skeptical coworker.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Tomorrow is the day the region-label problem dies. Power Query records a cleanup once and replays it forever, which is the automated data prep people assume requires AI, delivered with zero AI. We will check the refreshed result on screen. Noon Eastern, twenty minutes, bring the export you hate cleaning.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18:30; budget 15 seconds total)</a:t>
            </a:r>
          </a:p>
          <a:p>
            <a:r>
              <a:t>SAY: Type CREATE, NAME, or FORMULA if you would like that step again. You do not need to write a whole question.</a:t>
            </a:r>
          </a:p>
          <a:p>
            <a:r>
              <a:t>PAUSE: Wait silently for 8 seconds. Do not repeat the request.</a:t>
            </a:r>
          </a:p>
          <a:p>
            <a:r>
              <a:t>IF SOMEONE REPLIES: Answer one actual request. CREATE: select the range and press Ctrl+T. NAME: Table Design, Table Name. FORMULA: =SUM(SalesData[Amount]).</a:t>
            </a:r>
          </a:p>
          <a:p>
            <a:r>
              <a:t>IF CHAT IS QUIET: Say, "The step I would double-check is the name: look in Table Design before writing the formula."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ORIGINAL TEACHING SCRIPT</a:t>
            </a:r>
          </a:p>
          <a:p>
            <a:r>
              <a:t>That is day 2. Recap: Control T plus a real name makes data machine-readable, structured references make formulas self-documenting, and every AI tool this week gets sharper because of it. Replay is in the membership vault.  Thanks, everyone. Tomorrow we try the Refresh button.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B1F72-14BB-4C72-BB2C-073E4809A30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324C1883-09B3-40E2-A456-77FA7C569222}"/>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5E7D60AD-AACB-4881-AFED-C2D6BAE888E4}"/>
              </a:ext>
            </a:extLst>
          </p:cNvPr>
          <p:cNvSpPr>
            <a:spLocks noGrp="1"/>
          </p:cNvSpPr>
          <p:nvPr>
            <p:ph type="dt" idx="10"/>
          </p:nvPr>
        </p:nvSpPr>
        <p:spPr/>
        <p:txBody>
          <a:body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81C8CE50-6BF9-4EBC-8031-1B58DF5A7A8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16ED835-CD05-4847-BE00-327ABD2C8E8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4A95-B435-4305-AAD2-9BC99D43CFA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ADB17A7-E1F5-42DD-A225-8C9CA3E619B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EA99CE0-E060-42B2-B5B5-2B3236E256F1}"/>
              </a:ext>
            </a:extLst>
          </p:cNvPr>
          <p:cNvSpPr>
            <a:spLocks noGrp="1"/>
          </p:cNvSpPr>
          <p:nvPr>
            <p:ph type="dt" idx="10"/>
          </p:nvPr>
        </p:nvSpPr>
        <p:spPr/>
        <p:txBody>
          <a:body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534A8D8F-543F-49FF-9843-EB6CEDF92BA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F4C03B3-0628-4733-ACB9-955787D592A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6F3EA-5700-4E0F-B096-73E22495E118}"/>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C7DE7995-3D7F-4664-8747-EF0630FD18D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99967FE-06BC-4AF9-8899-8740BB950166}"/>
              </a:ext>
            </a:extLst>
          </p:cNvPr>
          <p:cNvSpPr>
            <a:spLocks noGrp="1"/>
          </p:cNvSpPr>
          <p:nvPr>
            <p:ph type="dt" idx="10"/>
          </p:nvPr>
        </p:nvSpPr>
        <p:spPr/>
        <p:txBody>
          <a:body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4E8E6B28-FAD7-4DB2-ABFC-CB75E72B7EC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5B4F6C8-2D89-49B9-95A3-7B1D7A1471D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2A4C2-2F5C-4A8D-A83A-C7EFBA95844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6C8F385-F50D-4E93-8FBD-7F5894872803}"/>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647193B-D40B-4C61-B22C-9ED7DF6A6F3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5975E68D-7382-4B94-BC7C-4F91DD6CFE1F}"/>
              </a:ext>
            </a:extLst>
          </p:cNvPr>
          <p:cNvSpPr>
            <a:spLocks noGrp="1"/>
          </p:cNvSpPr>
          <p:nvPr>
            <p:ph type="dt" idx="10"/>
          </p:nvPr>
        </p:nvSpPr>
        <p:spPr/>
        <p:txBody>
          <a:bodyPr/>
          <a:lstStyle/>
          <a:p>
            <a:fld id="{5BCAD085-E8A6-8845-BD4E-CB4CCA059FC4}" type="datetimeFigureOut">
              <a:t>9/29/2026</a:t>
            </a:fld>
            <a:endParaRPr/>
          </a:p>
        </p:txBody>
      </p:sp>
      <p:sp>
        <p:nvSpPr>
          <p:cNvPr id="6" name="Footer Placeholder 5">
            <a:extLst>
              <a:ext uri="{FF2B5EF4-FFF2-40B4-BE49-F238E27FC236}">
                <a16:creationId xmlns:a16="http://schemas.microsoft.com/office/drawing/2014/main" id="{D454F9AD-0F09-4FB0-8947-CA3B3DA5479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D909F6B-54E6-48D7-9979-A3F93102001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607B-FA6C-42C8-A681-436819136DA0}"/>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3FB141AF-A0DA-499C-A8F4-8462317C96F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B5AF7CA5-DB32-4C1D-A57A-2478B2DA2325}"/>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E3DFA2D-880B-410F-A0BB-B9A33A878E55}"/>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3C90C135-EABC-40BC-B83F-7946596F68AE}"/>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DB5CFD7-E840-42FB-8E28-35FB9D21850A}"/>
              </a:ext>
            </a:extLst>
          </p:cNvPr>
          <p:cNvSpPr>
            <a:spLocks noGrp="1"/>
          </p:cNvSpPr>
          <p:nvPr>
            <p:ph type="dt" idx="10"/>
          </p:nvPr>
        </p:nvSpPr>
        <p:spPr/>
        <p:txBody>
          <a:bodyPr/>
          <a:lstStyle/>
          <a:p>
            <a:fld id="{5BCAD085-E8A6-8845-BD4E-CB4CCA059FC4}" type="datetimeFigureOut">
              <a:t>9/29/2026</a:t>
            </a:fld>
            <a:endParaRPr/>
          </a:p>
        </p:txBody>
      </p:sp>
      <p:sp>
        <p:nvSpPr>
          <p:cNvPr id="8" name="Footer Placeholder 7">
            <a:extLst>
              <a:ext uri="{FF2B5EF4-FFF2-40B4-BE49-F238E27FC236}">
                <a16:creationId xmlns:a16="http://schemas.microsoft.com/office/drawing/2014/main" id="{3FC83153-2DEF-499D-82B3-AC83028D338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6709CDE-F399-424C-8010-6E447030EFD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407DA-9C3E-4DB6-8859-F37B07B9BF1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6AA27B1C-9FF2-4D32-86F9-2365EAC98C10}"/>
              </a:ext>
            </a:extLst>
          </p:cNvPr>
          <p:cNvSpPr>
            <a:spLocks noGrp="1"/>
          </p:cNvSpPr>
          <p:nvPr>
            <p:ph type="dt" idx="10"/>
          </p:nvPr>
        </p:nvSpPr>
        <p:spPr/>
        <p:txBody>
          <a:bodyPr/>
          <a:lstStyle/>
          <a:p>
            <a:fld id="{5BCAD085-E8A6-8845-BD4E-CB4CCA059FC4}" type="datetimeFigureOut">
              <a:t>9/29/2026</a:t>
            </a:fld>
            <a:endParaRPr/>
          </a:p>
        </p:txBody>
      </p:sp>
      <p:sp>
        <p:nvSpPr>
          <p:cNvPr id="4" name="Footer Placeholder 3">
            <a:extLst>
              <a:ext uri="{FF2B5EF4-FFF2-40B4-BE49-F238E27FC236}">
                <a16:creationId xmlns:a16="http://schemas.microsoft.com/office/drawing/2014/main" id="{F92D451A-13B2-4E76-85F5-0AEF597D2FC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E349656-82E8-4D91-AAA6-9BD0DC677BD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14F211-67F9-4E73-98B7-CF183AC2741A}"/>
              </a:ext>
            </a:extLst>
          </p:cNvPr>
          <p:cNvSpPr>
            <a:spLocks noGrp="1"/>
          </p:cNvSpPr>
          <p:nvPr>
            <p:ph type="dt" idx="10"/>
          </p:nvPr>
        </p:nvSpPr>
        <p:spPr/>
        <p:txBody>
          <a:bodyPr/>
          <a:lstStyle/>
          <a:p>
            <a:fld id="{5BCAD085-E8A6-8845-BD4E-CB4CCA059FC4}" type="datetimeFigureOut">
              <a:t>9/29/2026</a:t>
            </a:fld>
            <a:endParaRPr/>
          </a:p>
        </p:txBody>
      </p:sp>
      <p:sp>
        <p:nvSpPr>
          <p:cNvPr id="3" name="Footer Placeholder 2">
            <a:extLst>
              <a:ext uri="{FF2B5EF4-FFF2-40B4-BE49-F238E27FC236}">
                <a16:creationId xmlns:a16="http://schemas.microsoft.com/office/drawing/2014/main" id="{59E1A435-8F9B-441D-AD3D-D69449F114CE}"/>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C34DCB35-1CD2-4119-9530-40FF3AF0D2A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8F300-65EE-48C5-8D6E-BD42DCCBA7F9}"/>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F4E22C05-9428-45D4-9F7D-00B4910EDBDD}"/>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502BB7AE-4E28-4791-AF78-E1B17FC53E7B}"/>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EE4A8A3-EB4C-4448-9D21-8378AE1672DF}"/>
              </a:ext>
            </a:extLst>
          </p:cNvPr>
          <p:cNvSpPr>
            <a:spLocks noGrp="1"/>
          </p:cNvSpPr>
          <p:nvPr>
            <p:ph type="dt" idx="10"/>
          </p:nvPr>
        </p:nvSpPr>
        <p:spPr/>
        <p:txBody>
          <a:bodyPr/>
          <a:lstStyle/>
          <a:p>
            <a:fld id="{5BCAD085-E8A6-8845-BD4E-CB4CCA059FC4}" type="datetimeFigureOut">
              <a:t>9/29/2026</a:t>
            </a:fld>
            <a:endParaRPr/>
          </a:p>
        </p:txBody>
      </p:sp>
      <p:sp>
        <p:nvSpPr>
          <p:cNvPr id="6" name="Footer Placeholder 5">
            <a:extLst>
              <a:ext uri="{FF2B5EF4-FFF2-40B4-BE49-F238E27FC236}">
                <a16:creationId xmlns:a16="http://schemas.microsoft.com/office/drawing/2014/main" id="{A11B314C-DBE0-4BAB-8107-B430C76E372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AC44B49-AD43-4116-B498-D4B62145AB4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3806-4DBC-4A8F-B5FF-A4A49A5A5732}"/>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AA2EBA35-F579-46E2-8D4C-99B00530DE7E}"/>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430B6F5-856A-4466-B385-65D9245D9370}"/>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8A5BBB6-20F7-4D57-93C3-55C2A8FE71A6}"/>
              </a:ext>
            </a:extLst>
          </p:cNvPr>
          <p:cNvSpPr>
            <a:spLocks noGrp="1"/>
          </p:cNvSpPr>
          <p:nvPr>
            <p:ph type="dt" idx="10"/>
          </p:nvPr>
        </p:nvSpPr>
        <p:spPr/>
        <p:txBody>
          <a:bodyPr/>
          <a:lstStyle/>
          <a:p>
            <a:fld id="{5BCAD085-E8A6-8845-BD4E-CB4CCA059FC4}" type="datetimeFigureOut">
              <a:t>9/29/2026</a:t>
            </a:fld>
            <a:endParaRPr/>
          </a:p>
        </p:txBody>
      </p:sp>
      <p:sp>
        <p:nvSpPr>
          <p:cNvPr id="6" name="Footer Placeholder 5">
            <a:extLst>
              <a:ext uri="{FF2B5EF4-FFF2-40B4-BE49-F238E27FC236}">
                <a16:creationId xmlns:a16="http://schemas.microsoft.com/office/drawing/2014/main" id="{6D4A84F3-53DD-4E19-9F00-7112937F9D9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A31216A-EA54-4357-9105-82DC3B1A252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3BD48-BD78-472D-BDFF-73F30D94144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35E93A0-4479-4B0F-8490-7474D02C0212}"/>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51ACFA6-FD46-4E74-AE4D-EB4286114CBA}"/>
              </a:ext>
            </a:extLst>
          </p:cNvPr>
          <p:cNvSpPr>
            <a:spLocks noGrp="1"/>
          </p:cNvSpPr>
          <p:nvPr>
            <p:ph type="dt" idx="10"/>
          </p:nvPr>
        </p:nvSpPr>
        <p:spPr/>
        <p:txBody>
          <a:body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09F1F79B-4384-465B-9276-CA0B2226E54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3B88999-2413-42A5-8F14-9E4684DFF8F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F896AD-439E-40E6-9C6B-E5B80187339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C82AC73-F837-4892-86F2-68CF3936094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A69C3B7-B87D-4C29-A533-8ACFC3AB23EA}"/>
              </a:ext>
            </a:extLst>
          </p:cNvPr>
          <p:cNvSpPr>
            <a:spLocks noGrp="1"/>
          </p:cNvSpPr>
          <p:nvPr>
            <p:ph type="dt" idx="10"/>
          </p:nvPr>
        </p:nvSpPr>
        <p:spPr/>
        <p:txBody>
          <a:body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25031327-0BD0-4735-860D-806DCFD17BE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29E7187-D74B-45B4-81F7-68DD59A1415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25CF15-B196-4B5A-9618-90C4CA445E28}"/>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45D9526C-8204-4F3A-908D-2BA0F981B363}"/>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32EEFDE-09C8-4EF9-AB0E-F9D73A3EB81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9/29/2026</a:t>
            </a:fld>
            <a:endParaRPr/>
          </a:p>
        </p:txBody>
      </p:sp>
      <p:sp>
        <p:nvSpPr>
          <p:cNvPr id="5" name="Footer Placeholder 4">
            <a:extLst>
              <a:ext uri="{FF2B5EF4-FFF2-40B4-BE49-F238E27FC236}">
                <a16:creationId xmlns:a16="http://schemas.microsoft.com/office/drawing/2014/main" id="{05327258-8A3B-4F59-8EDA-5B4584510EC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BACE27B-96E8-46EF-97BE-E3B183341E3E}"/>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146AF-E2AC-4CFA-A11B-A67FD4DB42AC}"/>
              </a:ext>
            </a:extLst>
          </p:cNvPr>
          <p:cNvSpPr>
            <a:spLocks noGrp="1"/>
          </p:cNvSpPr>
          <p:nvPr/>
        </p:nvSpPr>
        <p:spPr>
          <a:xfrm>
            <a:off x="640080" y="2103120"/>
            <a:ext cx="10607040" cy="2076450"/>
          </a:xfrm>
          <a:prstGeom prst="rect">
            <a:avLst/>
          </a:prstGeom>
          <a:noFill/>
        </p:spPr>
        <p:txBody>
          <a:bodyPr wrap="square" lIns="0" tIns="0" rIns="0" bIns="0">
            <a:spAutoFit/>
          </a:bodyPr>
          <a:lstStyle/>
          <a:p>
            <a:r>
              <a:rPr sz="1500" b="1" i="0">
                <a:solidFill>
                  <a:srgbClr val="CF3338"/>
                </a:solidFill>
                <a:latin typeface="Arial Black"/>
                <a:ea typeface="Arial Black"/>
                <a:cs typeface="Arial Black"/>
              </a:rPr>
              <a:t>GUERRILLA AI FOR EXCEL. A LIVE SERIES, DAY 2 OF 5</a:t>
            </a:r>
          </a:p>
          <a:p>
            <a:pPr>
              <a:spcBef>
                <a:spcPts val="1000"/>
              </a:spcBef>
              <a:buNone/>
            </a:pPr>
            <a:r>
              <a:rPr sz="4200" b="1" i="0">
                <a:solidFill>
                  <a:srgbClr val="1F2120"/>
                </a:solidFill>
                <a:latin typeface="Arial Black"/>
                <a:ea typeface="Arial Black"/>
                <a:cs typeface="Arial Black"/>
              </a:rPr>
              <a:t>Make your data AI-readable</a:t>
            </a:r>
          </a:p>
          <a:p>
            <a:pPr>
              <a:spcBef>
                <a:spcPts val="1400"/>
              </a:spcBef>
              <a:buNone/>
            </a:pPr>
            <a:r>
              <a:rPr sz="2000" b="0" i="0">
                <a:solidFill>
                  <a:srgbClr val="707070"/>
                </a:solidFill>
                <a:latin typeface="Arial"/>
                <a:ea typeface="Arial"/>
                <a:cs typeface="Arial"/>
              </a:rPr>
              <a:t>Tables and structured references: the prep move that makes every AI sharper.</a:t>
            </a:r>
          </a:p>
        </p:txBody>
      </p:sp>
      <p:sp>
        <p:nvSpPr>
          <p:cNvPr id="3" name="TextBox 2">
            <a:extLst>
              <a:ext uri="{FF2B5EF4-FFF2-40B4-BE49-F238E27FC236}">
                <a16:creationId xmlns:a16="http://schemas.microsoft.com/office/drawing/2014/main" id="{BC8D3B2E-8C31-4731-B48F-F32B9CB37797}"/>
              </a:ext>
            </a:extLst>
          </p:cNvPr>
          <p:cNvSpPr>
            <a:spLocks noGrp="1"/>
          </p:cNvSpPr>
          <p:nvPr/>
        </p:nvSpPr>
        <p:spPr>
          <a:xfrm>
            <a:off x="640080" y="6080760"/>
            <a:ext cx="10972800" cy="457200"/>
          </a:xfrm>
          <a:prstGeom prst="rect">
            <a:avLst/>
          </a:prstGeom>
          <a:noFill/>
        </p:spPr>
        <p:txBody>
          <a:bodyPr wrap="square" lIns="0" tIns="0" rIns="0" bIns="0">
            <a:spAutoFit/>
          </a:bodyPr>
          <a:lstStyle/>
          <a:p>
            <a:r>
              <a:rPr sz="1300" b="0" i="1">
                <a:solidFill>
                  <a:srgbClr val="707070"/>
                </a:solidFill>
                <a:latin typeface="Arial"/>
                <a:ea typeface="Arial"/>
                <a:cs typeface="Arial"/>
              </a:rPr>
              <a:t>Live Mon Sep 28 to Fri Oct 2, 12:00 to 12:20 PM ET. Sessions are recorded.</a:t>
            </a:r>
          </a:p>
        </p:txBody>
      </p:sp>
      <p:sp>
        <p:nvSpPr>
          <p:cNvPr id="4" name="TextBox 3">
            <a:extLst>
              <a:ext uri="{FF2B5EF4-FFF2-40B4-BE49-F238E27FC236}">
                <a16:creationId xmlns:a16="http://schemas.microsoft.com/office/drawing/2014/main" id="{225F7FE2-8943-46FD-9092-BFEEA5857400}"/>
              </a:ext>
            </a:extLst>
          </p:cNvPr>
          <p:cNvSpPr>
            <a:spLocks noGrp="1"/>
          </p:cNvSpPr>
          <p:nvPr/>
        </p:nvSpPr>
        <p:spPr>
          <a:xfrm>
            <a:off x="457200" y="384048"/>
            <a:ext cx="4114800" cy="365760"/>
          </a:xfrm>
          <a:prstGeom prst="rect">
            <a:avLst/>
          </a:prstGeom>
          <a:noFill/>
        </p:spPr>
        <p:txBody>
          <a:bodyPr wrap="square" lIns="0" tIns="0" rIns="0" bIns="0">
            <a:spAutoFit/>
          </a:bodyPr>
          <a:lstStyle/>
          <a:p>
            <a:r>
              <a:rPr sz="1300" b="1" i="0">
                <a:solidFill>
                  <a:srgbClr val="CF3338"/>
                </a:solidFill>
                <a:latin typeface="Arial Black"/>
                <a:ea typeface="Arial Black"/>
                <a:cs typeface="Arial Black"/>
              </a:rPr>
              <a:t>STRINGFEST ANALYTICS</a:t>
            </a:r>
          </a:p>
        </p:txBody>
      </p:sp>
      <p:sp>
        <p:nvSpPr>
          <p:cNvPr id="5" name="Chat prompt panel">
            <a:extLst>
              <a:ext uri="{FF2B5EF4-FFF2-40B4-BE49-F238E27FC236}">
                <a16:creationId xmlns:a16="http://schemas.microsoft.com/office/drawing/2014/main" id="{478EE6C4-CE7E-47CA-A3AC-FE8B63CABFD0}"/>
              </a:ext>
            </a:extLst>
          </p:cNvPr>
          <p:cNvSpPr>
            <a:spLocks noGrp="1"/>
          </p:cNvSpPr>
          <p:nvPr/>
        </p:nvSpPr>
        <p:spPr>
          <a:xfrm>
            <a:off x="638175" y="4352925"/>
            <a:ext cx="10896600" cy="1352550"/>
          </a:xfrm>
          <a:prstGeom prst="rect">
            <a:avLst/>
          </a:prstGeom>
          <a:solidFill>
            <a:srgbClr val="1F2120"/>
          </a:solidFill>
          <a:ln w="0">
            <a:noFill/>
          </a:ln>
        </p:spPr>
        <p:txBody>
          <a:bodyPr wrap="square" lIns="0" tIns="0" rIns="0" bIns="0">
            <a:noAutofit/>
          </a:bodyPr>
          <a:lstStyle/>
          <a:p>
            <a:endParaRPr/>
          </a:p>
        </p:txBody>
      </p:sp>
      <p:sp>
        <p:nvSpPr>
          <p:cNvPr id="6" name="Chat question">
            <a:extLst>
              <a:ext uri="{FF2B5EF4-FFF2-40B4-BE49-F238E27FC236}">
                <a16:creationId xmlns:a16="http://schemas.microsoft.com/office/drawing/2014/main" id="{3669CF47-C091-499B-9779-012E40FE20A3}"/>
              </a:ext>
            </a:extLst>
          </p:cNvPr>
          <p:cNvSpPr>
            <a:spLocks noGrp="1"/>
          </p:cNvSpPr>
          <p:nvPr/>
        </p:nvSpPr>
        <p:spPr>
          <a:xfrm>
            <a:off x="857250" y="4495800"/>
            <a:ext cx="10429875" cy="381000"/>
          </a:xfrm>
          <a:prstGeom prst="rect">
            <a:avLst/>
          </a:prstGeom>
          <a:noFill/>
          <a:ln w="0">
            <a:noFill/>
          </a:ln>
        </p:spPr>
        <p:txBody>
          <a:bodyPr wrap="square" lIns="0" tIns="0" rIns="0" bIns="0">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Do you use Excel tables already?</a:t>
            </a:r>
          </a:p>
        </p:txBody>
      </p:sp>
      <p:sp>
        <p:nvSpPr>
          <p:cNvPr id="7" name="Chat choices">
            <a:extLst>
              <a:ext uri="{FF2B5EF4-FFF2-40B4-BE49-F238E27FC236}">
                <a16:creationId xmlns:a16="http://schemas.microsoft.com/office/drawing/2014/main" id="{3ECE6A1F-B37B-4DDA-BED7-CE87E2A53A29}"/>
              </a:ext>
            </a:extLst>
          </p:cNvPr>
          <p:cNvSpPr>
            <a:spLocks noGrp="1"/>
          </p:cNvSpPr>
          <p:nvPr/>
        </p:nvSpPr>
        <p:spPr>
          <a:xfrm>
            <a:off x="857250" y="4962525"/>
            <a:ext cx="6858000" cy="419100"/>
          </a:xfrm>
          <a:prstGeom prst="rect">
            <a:avLst/>
          </a:prstGeom>
          <a:noFill/>
          <a:ln w="0">
            <a:noFill/>
          </a:ln>
        </p:spPr>
        <p:txBody>
          <a:bodyPr wrap="square" lIns="0" tIns="0" rIns="0" bIns="0">
            <a:noAutofit/>
          </a:bodyPr>
          <a:lstStyle/>
          <a:p>
            <a:pPr>
              <a:defRPr sz="2400" b="1">
                <a:solidFill>
                  <a:srgbClr val="FFFFFF"/>
                </a:solidFill>
                <a:latin typeface="Arial"/>
                <a:ea typeface="Arial"/>
                <a:cs typeface="Arial"/>
              </a:defRPr>
            </a:pPr>
            <a:r>
              <a:rPr sz="2400" b="1">
                <a:solidFill>
                  <a:srgbClr val="FFFFFF"/>
                </a:solidFill>
                <a:latin typeface="Arial"/>
                <a:ea typeface="Arial"/>
                <a:cs typeface="Arial"/>
              </a:rPr>
              <a:t>YES / NO</a:t>
            </a:r>
          </a:p>
        </p:txBody>
      </p:sp>
      <p:sp>
        <p:nvSpPr>
          <p:cNvPr id="8" name="Chat instruction">
            <a:extLst>
              <a:ext uri="{FF2B5EF4-FFF2-40B4-BE49-F238E27FC236}">
                <a16:creationId xmlns:a16="http://schemas.microsoft.com/office/drawing/2014/main" id="{58603D99-4D5C-47CC-BA46-BBC1D0DB602F}"/>
              </a:ext>
            </a:extLst>
          </p:cNvPr>
          <p:cNvSpPr>
            <a:spLocks noGrp="1"/>
          </p:cNvSpPr>
          <p:nvPr/>
        </p:nvSpPr>
        <p:spPr>
          <a:xfrm>
            <a:off x="8143875" y="5095875"/>
            <a:ext cx="3048000" cy="400050"/>
          </a:xfrm>
          <a:prstGeom prst="rect">
            <a:avLst/>
          </a:prstGeom>
          <a:noFill/>
          <a:ln w="0">
            <a:noFill/>
          </a:ln>
        </p:spPr>
        <p:txBody>
          <a:bodyPr wrap="square" lIns="0" tIns="0" rIns="0" bIns="0">
            <a:noAutofit/>
          </a:bodyPr>
          <a:lstStyle/>
          <a:p>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14737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77A430-4362-4375-9D72-1654B9D8F0E0}"/>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Yesterday in 30 seconds</a:t>
            </a:r>
          </a:p>
          <a:p>
            <a:pPr>
              <a:spcBef>
                <a:spcPts val="400"/>
              </a:spcBef>
              <a:buNone/>
            </a:pPr>
            <a:r>
              <a:rPr sz="1500" b="0" i="1">
                <a:solidFill>
                  <a:srgbClr val="CF3338"/>
                </a:solidFill>
                <a:latin typeface="Arial"/>
                <a:ea typeface="Arial"/>
                <a:cs typeface="Arial"/>
              </a:rPr>
              <a:t>One dataset, five practical wins</a:t>
            </a:r>
          </a:p>
        </p:txBody>
      </p:sp>
      <p:sp>
        <p:nvSpPr>
          <p:cNvPr id="3" name="TextBox 2">
            <a:extLst>
              <a:ext uri="{FF2B5EF4-FFF2-40B4-BE49-F238E27FC236}">
                <a16:creationId xmlns:a16="http://schemas.microsoft.com/office/drawing/2014/main" id="{EB9F6045-0ED3-4B3E-9CE7-00C20D2E9352}"/>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Day 1 was The AI already hiding in your Excel.</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Before asking for an AI budget, exhaust the AI you already have.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Same dataset today. Every day builds on the last.</a:t>
            </a:r>
          </a:p>
        </p:txBody>
      </p:sp>
    </p:spTree>
    <p:extLst>
      <p:ext uri="{BB962C8B-B14F-4D97-AF65-F5344CB8AC3E}">
        <p14:creationId xmlns:p14="http://schemas.microsoft.com/office/powerpoint/2010/main" val="891823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814534-16BD-4203-B612-E59BC98588E9}"/>
              </a:ext>
            </a:extLst>
          </p:cNvPr>
          <p:cNvSpPr>
            <a:spLocks noGrp="1"/>
          </p:cNvSpPr>
          <p:nvPr/>
        </p:nvSpPr>
        <p:spPr>
          <a:xfrm>
            <a:off x="9082735" y="0"/>
            <a:ext cx="3108960" cy="6858000"/>
          </a:xfrm>
          <a:prstGeom prst="rect">
            <a:avLst/>
          </a:prstGeom>
          <a:solidFill>
            <a:srgbClr val="CF33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6E1AB63-C43E-4F5F-86AA-7BE1F676AD73}"/>
              </a:ext>
            </a:extLst>
          </p:cNvPr>
          <p:cNvSpPr>
            <a:spLocks noGrp="1"/>
          </p:cNvSpPr>
          <p:nvPr/>
        </p:nvSpPr>
        <p:spPr>
          <a:xfrm>
            <a:off x="9311335" y="640080"/>
            <a:ext cx="2468880" cy="1828800"/>
          </a:xfrm>
          <a:prstGeom prst="rect">
            <a:avLst/>
          </a:prstGeom>
          <a:noFill/>
        </p:spPr>
        <p:txBody>
          <a:bodyPr wrap="square" lIns="0" tIns="0" rIns="0" bIns="0">
            <a:spAutoFit/>
          </a:bodyPr>
          <a:lstStyle/>
          <a:p>
            <a:r>
              <a:rPr sz="2600" b="1" i="0">
                <a:solidFill>
                  <a:srgbClr val="FFFFFF"/>
                </a:solidFill>
                <a:latin typeface="Arial Black"/>
                <a:ea typeface="Arial Black"/>
                <a:cs typeface="Arial Black"/>
              </a:rPr>
              <a:t>LIVE</a:t>
            </a:r>
          </a:p>
          <a:p>
            <a:r>
              <a:rPr sz="2600" b="1" i="0">
                <a:solidFill>
                  <a:srgbClr val="FFFFFF"/>
                </a:solidFill>
                <a:latin typeface="Arial Black"/>
                <a:ea typeface="Arial Black"/>
                <a:cs typeface="Arial Black"/>
              </a:rPr>
              <a:t>DEMO</a:t>
            </a:r>
          </a:p>
        </p:txBody>
      </p:sp>
      <p:sp>
        <p:nvSpPr>
          <p:cNvPr id="4" name="TextBox 3">
            <a:extLst>
              <a:ext uri="{FF2B5EF4-FFF2-40B4-BE49-F238E27FC236}">
                <a16:creationId xmlns:a16="http://schemas.microsoft.com/office/drawing/2014/main" id="{FAB62B29-0BFE-4223-AC34-87D34667E166}"/>
              </a:ext>
            </a:extLst>
          </p:cNvPr>
          <p:cNvSpPr>
            <a:spLocks noGrp="1"/>
          </p:cNvSpPr>
          <p:nvPr/>
        </p:nvSpPr>
        <p:spPr>
          <a:xfrm>
            <a:off x="548640" y="411480"/>
            <a:ext cx="8229600" cy="1097280"/>
          </a:xfrm>
          <a:prstGeom prst="rect">
            <a:avLst/>
          </a:prstGeom>
          <a:noFill/>
        </p:spPr>
        <p:txBody>
          <a:bodyPr wrap="square" lIns="0" tIns="0" rIns="0" bIns="0">
            <a:spAutoFit/>
          </a:bodyPr>
          <a:lstStyle/>
          <a:p>
            <a:r>
              <a:rPr sz="2500" b="1" i="0">
                <a:solidFill>
                  <a:srgbClr val="CF3338"/>
                </a:solidFill>
                <a:latin typeface="Arial Black"/>
                <a:ea typeface="Arial Black"/>
                <a:cs typeface="Arial Black"/>
              </a:rPr>
              <a:t>Live demo: Ctrl+T and a real name</a:t>
            </a:r>
          </a:p>
          <a:p>
            <a:pPr>
              <a:spcBef>
                <a:spcPts val="300"/>
              </a:spcBef>
              <a:buNone/>
            </a:pPr>
            <a:r>
              <a:rPr sz="1450" b="0" i="1">
                <a:solidFill>
                  <a:srgbClr val="707070"/>
                </a:solidFill>
                <a:latin typeface="Arial"/>
                <a:ea typeface="Arial"/>
                <a:cs typeface="Arial"/>
              </a:rPr>
              <a:t>Junk rows out, one shortcut, one name that means something.</a:t>
            </a:r>
          </a:p>
        </p:txBody>
      </p:sp>
      <p:sp>
        <p:nvSpPr>
          <p:cNvPr id="5" name="Rounded Rectangle 4">
            <a:extLst>
              <a:ext uri="{FF2B5EF4-FFF2-40B4-BE49-F238E27FC236}">
                <a16:creationId xmlns:a16="http://schemas.microsoft.com/office/drawing/2014/main" id="{D2522860-D8EA-4DB2-BAF0-BE9369258EE6}"/>
              </a:ext>
            </a:extLst>
          </p:cNvPr>
          <p:cNvSpPr>
            <a:spLocks noGrp="1"/>
          </p:cNvSpPr>
          <p:nvPr/>
        </p:nvSpPr>
        <p:spPr>
          <a:xfrm>
            <a:off x="548640" y="1600200"/>
            <a:ext cx="8229600" cy="402336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wrap="square" lIns="256032" tIns="182880" rIns="182880" bIns="109728" anchor="t"/>
          <a:lstStyle/>
          <a:p>
            <a:pPr algn="l">
              <a:spcAft>
                <a:spcPts val="100"/>
              </a:spcAft>
              <a:buNone/>
            </a:pPr>
            <a:r>
              <a:rPr sz="1300" b="0" i="0">
                <a:solidFill>
                  <a:srgbClr val="9EC57A"/>
                </a:solidFill>
                <a:latin typeface="Consolas"/>
                <a:ea typeface="Consolas"/>
                <a:cs typeface="Consolas"/>
              </a:rPr>
              <a:t># Convert the range to a named table</a:t>
            </a:r>
          </a:p>
          <a:p>
            <a:pPr algn="l">
              <a:spcAft>
                <a:spcPts val="100"/>
              </a:spcAft>
              <a:buNone/>
            </a:pPr>
            <a:r>
              <a:rPr sz="1300" b="0" i="0">
                <a:solidFill>
                  <a:srgbClr val="F5F5F5"/>
                </a:solidFill>
                <a:latin typeface="Consolas"/>
                <a:ea typeface="Consolas"/>
                <a:cs typeface="Consolas"/>
              </a:rPr>
              <a:t>1. Delete the two TOTAL rows and the blank row</a:t>
            </a:r>
          </a:p>
          <a:p>
            <a:pPr algn="l">
              <a:spcAft>
                <a:spcPts val="100"/>
              </a:spcAft>
              <a:buNone/>
            </a:pPr>
            <a:r>
              <a:rPr sz="1300" b="0" i="0">
                <a:solidFill>
                  <a:srgbClr val="F5F5F5"/>
                </a:solidFill>
                <a:latin typeface="Consolas"/>
                <a:ea typeface="Consolas"/>
                <a:cs typeface="Consolas"/>
              </a:rPr>
              <a:t>2. Click in the data, press Ctrl+T, confirm headers</a:t>
            </a:r>
          </a:p>
          <a:p>
            <a:pPr algn="l">
              <a:spcAft>
                <a:spcPts val="100"/>
              </a:spcAft>
              <a:buNone/>
            </a:pPr>
            <a:r>
              <a:rPr sz="1300" b="0" i="0">
                <a:solidFill>
                  <a:srgbClr val="F5F5F5"/>
                </a:solidFill>
                <a:latin typeface="Consolas"/>
                <a:ea typeface="Consolas"/>
                <a:cs typeface="Consolas"/>
              </a:rPr>
              <a:t>3. Table Design &gt; Table Name: type SalesData</a:t>
            </a:r>
          </a:p>
          <a:p>
            <a:pPr algn="l">
              <a:spcAft>
                <a:spcPts val="100"/>
              </a:spcAft>
              <a:buNone/>
            </a:pPr>
            <a:r>
              <a:rPr sz="1300" b="0" i="0">
                <a:solidFill>
                  <a:srgbClr val="F5F5F5"/>
                </a:solidFill>
                <a:latin typeface="Consolas"/>
                <a:ea typeface="Consolas"/>
                <a:cs typeface="Consolas"/>
              </a:rPr>
              <a:t>4. In a spare cell type: =SUM(SalesData[Amount])</a:t>
            </a:r>
          </a:p>
          <a:p>
            <a:pPr algn="l">
              <a:spcAft>
                <a:spcPts val="100"/>
              </a:spcAft>
              <a:buNone/>
            </a:pPr>
            <a:r>
              <a:rPr sz="1300" b="0" i="0">
                <a:solidFill>
                  <a:srgbClr val="F5F5F5"/>
                </a:solidFill>
                <a:latin typeface="Consolas"/>
                <a:ea typeface="Consolas"/>
                <a:cs typeface="Consolas"/>
              </a:rPr>
              <a:t>5. Read the formula out loud. It documents itself.</a:t>
            </a:r>
          </a:p>
        </p:txBody>
      </p:sp>
      <p:sp>
        <p:nvSpPr>
          <p:cNvPr id="6" name="TextBox 5">
            <a:extLst>
              <a:ext uri="{FF2B5EF4-FFF2-40B4-BE49-F238E27FC236}">
                <a16:creationId xmlns:a16="http://schemas.microsoft.com/office/drawing/2014/main" id="{4161F023-BEFC-4B1B-A57F-FD0627223355}"/>
              </a:ext>
            </a:extLst>
          </p:cNvPr>
          <p:cNvSpPr>
            <a:spLocks noGrp="1"/>
          </p:cNvSpPr>
          <p:nvPr/>
        </p:nvSpPr>
        <p:spPr>
          <a:xfrm>
            <a:off x="548640" y="5806440"/>
            <a:ext cx="8229600" cy="777240"/>
          </a:xfrm>
          <a:prstGeom prst="rect">
            <a:avLst/>
          </a:prstGeom>
          <a:noFill/>
        </p:spPr>
        <p:txBody>
          <a:bodyPr wrap="square" lIns="0" tIns="0" rIns="0" bIns="0">
            <a:spAutoFit/>
          </a:bodyPr>
          <a:lstStyle/>
          <a:p>
            <a:r>
              <a:rPr sz="1300" b="1" i="0">
                <a:solidFill>
                  <a:srgbClr val="CF3338"/>
                </a:solidFill>
                <a:latin typeface="Arial"/>
                <a:ea typeface="Arial"/>
                <a:cs typeface="Arial"/>
              </a:rPr>
              <a:t>• A formula that reads like a sentence is AI-readable</a:t>
            </a:r>
          </a:p>
        </p:txBody>
      </p:sp>
      <p:sp>
        <p:nvSpPr>
          <p:cNvPr id="7" name="Chat question">
            <a:extLst>
              <a:ext uri="{FF2B5EF4-FFF2-40B4-BE49-F238E27FC236}">
                <a16:creationId xmlns:a16="http://schemas.microsoft.com/office/drawing/2014/main" id="{A51580B2-E24F-4611-A955-D611E5C5CF5E}"/>
              </a:ext>
            </a:extLst>
          </p:cNvPr>
          <p:cNvSpPr>
            <a:spLocks noGrp="1"/>
          </p:cNvSpPr>
          <p:nvPr/>
        </p:nvSpPr>
        <p:spPr>
          <a:xfrm>
            <a:off x="9353550" y="2790825"/>
            <a:ext cx="2428875" cy="1362075"/>
          </a:xfrm>
          <a:prstGeom prst="rect">
            <a:avLst/>
          </a:prstGeom>
          <a:noFill/>
          <a:ln w="0">
            <a:noFill/>
          </a:ln>
        </p:spPr>
        <p:txBody>
          <a:bodyPr wrap="square" lIns="0" tIns="0" rIns="0" bIns="0">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Easier to recognize?</a:t>
            </a:r>
          </a:p>
        </p:txBody>
      </p:sp>
      <p:sp>
        <p:nvSpPr>
          <p:cNvPr id="8" name="Chat choices">
            <a:extLst>
              <a:ext uri="{FF2B5EF4-FFF2-40B4-BE49-F238E27FC236}">
                <a16:creationId xmlns:a16="http://schemas.microsoft.com/office/drawing/2014/main" id="{8EFF79B5-4966-40B1-AE36-CFCA20121F66}"/>
              </a:ext>
            </a:extLst>
          </p:cNvPr>
          <p:cNvSpPr>
            <a:spLocks noGrp="1"/>
          </p:cNvSpPr>
          <p:nvPr/>
        </p:nvSpPr>
        <p:spPr>
          <a:xfrm>
            <a:off x="9353550" y="4362450"/>
            <a:ext cx="2428875" cy="1009650"/>
          </a:xfrm>
          <a:prstGeom prst="rect">
            <a:avLst/>
          </a:prstGeom>
          <a:noFill/>
          <a:ln w="0">
            <a:noFill/>
          </a:ln>
        </p:spPr>
        <p:txBody>
          <a:bodyPr wrap="square" lIns="0" tIns="0" rIns="0" bIns="0">
            <a:noAutofit/>
          </a:bodyPr>
          <a:lstStyle/>
          <a:p>
            <a:pPr>
              <a:defRPr sz="1950" b="1">
                <a:solidFill>
                  <a:srgbClr val="FFFFFF"/>
                </a:solidFill>
                <a:latin typeface="Arial"/>
                <a:ea typeface="Arial"/>
                <a:cs typeface="Arial"/>
              </a:defRPr>
            </a:pPr>
            <a:r>
              <a:rPr sz="1950" b="1">
                <a:solidFill>
                  <a:srgbClr val="FFFFFF"/>
                </a:solidFill>
                <a:latin typeface="Arial"/>
                <a:ea typeface="Arial"/>
                <a:cs typeface="Arial"/>
              </a:rPr>
              <a:t>A = Table1</a:t>
            </a:r>
          </a:p>
          <a:p>
            <a:pPr>
              <a:defRPr sz="1950" b="1">
                <a:solidFill>
                  <a:srgbClr val="FFFFFF"/>
                </a:solidFill>
                <a:latin typeface="Arial"/>
                <a:ea typeface="Arial"/>
                <a:cs typeface="Arial"/>
              </a:defRPr>
            </a:pPr>
            <a:r>
              <a:rPr sz="1950" b="1">
                <a:solidFill>
                  <a:srgbClr val="FFFFFF"/>
                </a:solidFill>
                <a:latin typeface="Arial"/>
                <a:ea typeface="Arial"/>
                <a:cs typeface="Arial"/>
              </a:rPr>
              <a:t>B = SalesData</a:t>
            </a:r>
          </a:p>
        </p:txBody>
      </p:sp>
      <p:sp>
        <p:nvSpPr>
          <p:cNvPr id="9" name="Chat instruction">
            <a:extLst>
              <a:ext uri="{FF2B5EF4-FFF2-40B4-BE49-F238E27FC236}">
                <a16:creationId xmlns:a16="http://schemas.microsoft.com/office/drawing/2014/main" id="{36D710A5-A85B-4C11-BCDA-7CE7A0A23523}"/>
              </a:ext>
            </a:extLst>
          </p:cNvPr>
          <p:cNvSpPr>
            <a:spLocks noGrp="1"/>
          </p:cNvSpPr>
          <p:nvPr/>
        </p:nvSpPr>
        <p:spPr>
          <a:xfrm>
            <a:off x="9353550" y="5715000"/>
            <a:ext cx="2428875" cy="609600"/>
          </a:xfrm>
          <a:prstGeom prst="rect">
            <a:avLst/>
          </a:prstGeom>
          <a:noFill/>
          <a:ln w="0">
            <a:noFill/>
          </a:ln>
        </p:spPr>
        <p:txBody>
          <a:bodyPr wrap="square" lIns="0" tIns="0" rIns="0" bIns="0">
            <a:noAutofit/>
          </a:bodyPr>
          <a:lstStyle/>
          <a:p>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1029493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F3A1C4-8391-4BBD-BB0F-D5CBFE8922D6}"/>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Why this counts as AI</a:t>
            </a:r>
          </a:p>
          <a:p>
            <a:pPr>
              <a:spcBef>
                <a:spcPts val="400"/>
              </a:spcBef>
              <a:buNone/>
            </a:pPr>
            <a:r>
              <a:rPr sz="1500" b="0" i="1">
                <a:solidFill>
                  <a:srgbClr val="CF3338"/>
                </a:solidFill>
                <a:latin typeface="Arial"/>
                <a:ea typeface="Arial"/>
                <a:cs typeface="Arial"/>
              </a:rPr>
              <a:t>The guerrilla hook, day 2</a:t>
            </a:r>
          </a:p>
        </p:txBody>
      </p:sp>
      <p:sp>
        <p:nvSpPr>
          <p:cNvPr id="3" name="TextBox 2">
            <a:extLst>
              <a:ext uri="{FF2B5EF4-FFF2-40B4-BE49-F238E27FC236}">
                <a16:creationId xmlns:a16="http://schemas.microsoft.com/office/drawing/2014/main" id="{0D32DF53-A8C3-4E89-BF97-BF1EE9735579}"/>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Named tables give analysis tools clear column names and data boundaries.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That applies to Analyze Data today, and to Copilot and Python later this week.</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Structured references make formulas self-documenting, readable by AI and by humans.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Machine-readable data is the highest-leverage prep move while everyone else waits for licenses.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The AI-ready workbook is a craft skill, not a purchase.</a:t>
            </a:r>
          </a:p>
        </p:txBody>
      </p:sp>
    </p:spTree>
    <p:extLst>
      <p:ext uri="{BB962C8B-B14F-4D97-AF65-F5344CB8AC3E}">
        <p14:creationId xmlns:p14="http://schemas.microsoft.com/office/powerpoint/2010/main" val="371189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1E7FB2-B4AB-418E-9825-3F3E207A1B4D}"/>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Do this at your desk today</a:t>
            </a:r>
          </a:p>
          <a:p>
            <a:pPr>
              <a:spcBef>
                <a:spcPts val="400"/>
              </a:spcBef>
              <a:buNone/>
            </a:pPr>
            <a:r>
              <a:rPr sz="1500" b="0" i="1">
                <a:solidFill>
                  <a:srgbClr val="CF3338"/>
                </a:solidFill>
                <a:latin typeface="Arial"/>
                <a:ea typeface="Arial"/>
                <a:cs typeface="Arial"/>
              </a:rPr>
              <a:t>Choose one small win</a:t>
            </a:r>
          </a:p>
        </p:txBody>
      </p:sp>
      <p:sp>
        <p:nvSpPr>
          <p:cNvPr id="3" name="TextBox 2">
            <a:extLst>
              <a:ext uri="{FF2B5EF4-FFF2-40B4-BE49-F238E27FC236}">
                <a16:creationId xmlns:a16="http://schemas.microsoft.com/office/drawing/2014/main" id="{459901B7-0086-4286-8DC1-907270A01F2E}"/>
              </a:ext>
            </a:extLst>
          </p:cNvPr>
          <p:cNvSpPr>
            <a:spLocks noGrp="1"/>
          </p:cNvSpPr>
          <p:nvPr/>
        </p:nvSpPr>
        <p:spPr>
          <a:xfrm>
            <a:off x="640080" y="1783080"/>
            <a:ext cx="10881360" cy="2409825"/>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Pick one range you use often. Remove subtotal rows and blanks.</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Press Ctrl+T, confirm headers, and give the table a useful name.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Optional: try =SUM(YourTable[Amount]) with your own table and column names.</a:t>
            </a:r>
          </a:p>
        </p:txBody>
      </p:sp>
      <p:sp>
        <p:nvSpPr>
          <p:cNvPr id="4" name="Chat prompt panel">
            <a:extLst>
              <a:ext uri="{FF2B5EF4-FFF2-40B4-BE49-F238E27FC236}">
                <a16:creationId xmlns:a16="http://schemas.microsoft.com/office/drawing/2014/main" id="{9D31FC1A-A75D-4B10-BCF2-3305A7B21435}"/>
              </a:ext>
            </a:extLst>
          </p:cNvPr>
          <p:cNvSpPr>
            <a:spLocks noGrp="1"/>
          </p:cNvSpPr>
          <p:nvPr/>
        </p:nvSpPr>
        <p:spPr>
          <a:xfrm>
            <a:off x="638175" y="4476750"/>
            <a:ext cx="10896600" cy="1352550"/>
          </a:xfrm>
          <a:prstGeom prst="rect">
            <a:avLst/>
          </a:prstGeom>
          <a:solidFill>
            <a:srgbClr val="1F2120"/>
          </a:solidFill>
          <a:ln w="0">
            <a:noFill/>
          </a:ln>
        </p:spPr>
        <p:txBody>
          <a:bodyPr wrap="square" lIns="0" tIns="0" rIns="0" bIns="0">
            <a:noAutofit/>
          </a:bodyPr>
          <a:lstStyle/>
          <a:p>
            <a:endParaRPr/>
          </a:p>
        </p:txBody>
      </p:sp>
      <p:sp>
        <p:nvSpPr>
          <p:cNvPr id="5" name="Chat question">
            <a:extLst>
              <a:ext uri="{FF2B5EF4-FFF2-40B4-BE49-F238E27FC236}">
                <a16:creationId xmlns:a16="http://schemas.microsoft.com/office/drawing/2014/main" id="{60C36156-A82B-4B58-9592-CE179AB73E42}"/>
              </a:ext>
            </a:extLst>
          </p:cNvPr>
          <p:cNvSpPr>
            <a:spLocks noGrp="1"/>
          </p:cNvSpPr>
          <p:nvPr/>
        </p:nvSpPr>
        <p:spPr>
          <a:xfrm>
            <a:off x="857250" y="4619625"/>
            <a:ext cx="10429875" cy="381000"/>
          </a:xfrm>
          <a:prstGeom prst="rect">
            <a:avLst/>
          </a:prstGeom>
          <a:noFill/>
          <a:ln w="0">
            <a:noFill/>
          </a:ln>
        </p:spPr>
        <p:txBody>
          <a:bodyPr wrap="square" lIns="0" tIns="0" rIns="0" bIns="0">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A name for your first table?</a:t>
            </a:r>
          </a:p>
        </p:txBody>
      </p:sp>
      <p:sp>
        <p:nvSpPr>
          <p:cNvPr id="6" name="Chat choices">
            <a:extLst>
              <a:ext uri="{FF2B5EF4-FFF2-40B4-BE49-F238E27FC236}">
                <a16:creationId xmlns:a16="http://schemas.microsoft.com/office/drawing/2014/main" id="{951AE13E-811F-494E-91DC-5DC4F3B84635}"/>
              </a:ext>
            </a:extLst>
          </p:cNvPr>
          <p:cNvSpPr>
            <a:spLocks noGrp="1"/>
          </p:cNvSpPr>
          <p:nvPr/>
        </p:nvSpPr>
        <p:spPr>
          <a:xfrm>
            <a:off x="857250" y="5086350"/>
            <a:ext cx="6858000" cy="419100"/>
          </a:xfrm>
          <a:prstGeom prst="rect">
            <a:avLst/>
          </a:prstGeom>
          <a:noFill/>
          <a:ln w="0">
            <a:noFill/>
          </a:ln>
        </p:spPr>
        <p:txBody>
          <a:bodyPr wrap="square" lIns="0" tIns="0" rIns="0" bIns="0">
            <a:noAutofit/>
          </a:bodyPr>
          <a:lstStyle/>
          <a:p>
            <a:pPr>
              <a:defRPr sz="2400" b="1">
                <a:solidFill>
                  <a:srgbClr val="FFFFFF"/>
                </a:solidFill>
                <a:latin typeface="Arial"/>
                <a:ea typeface="Arial"/>
                <a:cs typeface="Arial"/>
              </a:defRPr>
            </a:pPr>
            <a:r>
              <a:rPr sz="2400" b="1">
                <a:solidFill>
                  <a:srgbClr val="FFFFFF"/>
                </a:solidFill>
                <a:latin typeface="Arial"/>
                <a:ea typeface="Arial"/>
                <a:cs typeface="Arial"/>
              </a:rPr>
              <a:t>SALES / EXPENSES / OTHER</a:t>
            </a:r>
          </a:p>
        </p:txBody>
      </p:sp>
      <p:sp>
        <p:nvSpPr>
          <p:cNvPr id="7" name="Chat instruction">
            <a:extLst>
              <a:ext uri="{FF2B5EF4-FFF2-40B4-BE49-F238E27FC236}">
                <a16:creationId xmlns:a16="http://schemas.microsoft.com/office/drawing/2014/main" id="{C521146E-A40D-49A8-85F3-B8EB0A024D29}"/>
              </a:ext>
            </a:extLst>
          </p:cNvPr>
          <p:cNvSpPr>
            <a:spLocks noGrp="1"/>
          </p:cNvSpPr>
          <p:nvPr/>
        </p:nvSpPr>
        <p:spPr>
          <a:xfrm>
            <a:off x="8143875" y="5219700"/>
            <a:ext cx="3048000" cy="400050"/>
          </a:xfrm>
          <a:prstGeom prst="rect">
            <a:avLst/>
          </a:prstGeom>
          <a:noFill/>
          <a:ln w="0">
            <a:noFill/>
          </a:ln>
        </p:spPr>
        <p:txBody>
          <a:bodyPr wrap="square" lIns="0" tIns="0" rIns="0" bIns="0">
            <a:noAutofit/>
          </a:bodyPr>
          <a:lstStyle/>
          <a:p>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3476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BE268E-836B-486C-8193-F92D7F98D486}"/>
              </a:ext>
            </a:extLst>
          </p:cNvPr>
          <p:cNvSpPr>
            <a:spLocks noGrp="1"/>
          </p:cNvSpPr>
          <p:nvPr/>
        </p:nvSpPr>
        <p:spPr>
          <a:xfrm>
            <a:off x="822960" y="2286000"/>
            <a:ext cx="10332720" cy="274320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TOMORROW</a:t>
            </a:r>
          </a:p>
          <a:p>
            <a:pPr>
              <a:spcBef>
                <a:spcPts val="800"/>
              </a:spcBef>
              <a:buNone/>
            </a:pPr>
            <a:r>
              <a:rPr sz="3600" b="1" i="0">
                <a:solidFill>
                  <a:srgbClr val="FFFFFF"/>
                </a:solidFill>
                <a:latin typeface="Arial Black"/>
                <a:ea typeface="Arial Black"/>
                <a:cs typeface="Arial Black"/>
              </a:rPr>
              <a:t>Clean data so AI doesn't lie to you</a:t>
            </a:r>
          </a:p>
          <a:p>
            <a:pPr>
              <a:spcBef>
                <a:spcPts val="1400"/>
              </a:spcBef>
              <a:buNone/>
            </a:pPr>
            <a:r>
              <a:rPr sz="1800" b="0" i="0">
                <a:solidFill>
                  <a:srgbClr val="FFFFFF"/>
                </a:solidFill>
                <a:latin typeface="Arial"/>
                <a:ea typeface="Arial"/>
                <a:cs typeface="Arial"/>
              </a:rPr>
              <a:t>Power Query: the automation people think they need AI for, plus the fix for the region-label problem.</a:t>
            </a:r>
          </a:p>
        </p:txBody>
      </p:sp>
    </p:spTree>
    <p:extLst>
      <p:ext uri="{BB962C8B-B14F-4D97-AF65-F5344CB8AC3E}">
        <p14:creationId xmlns:p14="http://schemas.microsoft.com/office/powerpoint/2010/main" val="162083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0F9BF3-94FF-496D-A3A7-46EC70DC0ACF}"/>
              </a:ext>
            </a:extLst>
          </p:cNvPr>
          <p:cNvSpPr>
            <a:spLocks noGrp="1"/>
          </p:cNvSpPr>
          <p:nvPr/>
        </p:nvSpPr>
        <p:spPr>
          <a:xfrm>
            <a:off x="822960" y="2103120"/>
            <a:ext cx="10515600" cy="211455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THANK YOU</a:t>
            </a:r>
          </a:p>
          <a:p>
            <a:pPr>
              <a:spcBef>
                <a:spcPts val="800"/>
              </a:spcBef>
              <a:buNone/>
            </a:pPr>
            <a:r>
              <a:rPr sz="3600" b="1" i="0">
                <a:solidFill>
                  <a:srgbClr val="FFFFFF"/>
                </a:solidFill>
                <a:latin typeface="Arial Black"/>
                <a:ea typeface="Arial Black"/>
                <a:cs typeface="Arial Black"/>
              </a:rPr>
              <a:t>See you tomorrow at noon Eastern</a:t>
            </a:r>
          </a:p>
          <a:p>
            <a:pPr>
              <a:spcBef>
                <a:spcPts val="1400"/>
              </a:spcBef>
              <a:buNone/>
            </a:pPr>
            <a:r>
              <a:rPr sz="1800" b="0" i="0">
                <a:solidFill>
                  <a:srgbClr val="FFFFFF"/>
                </a:solidFill>
                <a:latin typeface="Arial"/>
                <a:ea typeface="Arial"/>
                <a:cs typeface="Arial"/>
              </a:rPr>
              <a:t>Replays live in the Stringfest membership vault.</a:t>
            </a:r>
          </a:p>
        </p:txBody>
      </p:sp>
    </p:spTree>
    <p:extLst>
      <p:ext uri="{BB962C8B-B14F-4D97-AF65-F5344CB8AC3E}">
        <p14:creationId xmlns:p14="http://schemas.microsoft.com/office/powerpoint/2010/main" val="50353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1875</Words>
  <Application>Microsoft Office PowerPoint</Application>
  <DocSecurity>0</DocSecurity>
  <PresentationFormat>Widescreen</PresentationFormat>
  <Paragraphs>96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George Mount</cp:lastModifiedBy>
  <cp:revision>2</cp:revision>
  <dcterms:created xsi:type="dcterms:W3CDTF">2026-09-27T11:02:50Z</dcterms:created>
  <dcterms:modified xsi:type="dcterms:W3CDTF">2026-09-29T10:09:21Z</dcterms:modified>
</cp:coreProperties>
</file>
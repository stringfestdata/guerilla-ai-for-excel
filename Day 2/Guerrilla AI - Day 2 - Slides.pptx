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This is Guerrilla AI for Excel, day 2 of 5. I'm George Mount from Stringfest Analytics. Here is the idea behind this whole series. You do not need a Copilot license, a budget line, or IT's permission to work like an AI-powered analyst. Guerrilla AI means being crafty with what is already installed on your machine: the machine learning Excel has quietly shipped for years, the structural habits that make any AI dramatically better at reading your work, and the free tools that close the gap. Today's twenty-minute win: making your data machine-readable with nothing but Control T and a good name. We have one live demo block and then two or three things you can do at your own desk this afternoon. Let's go. Yesterday you saw smart tools stumble over a messy range. Today you see the same tools get noticeably sharper because of one habit.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Thirty-second recap for anyone just joining. Yesterday was the AI already hiding in your Excel: Flash Fill learned a pattern from one example, and Analyze Data answered a plain-English question with a PivotTable. The takeaway was to exhaust the AI you already have before asking for budget. But we also caught the tools being confidently wrong, seven regions instead of four, because the data underneath was a mess. Today we start fixing the underneath. Same Lakeshore export, one new habit.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Today's guerrilla hook. Tables sound like the least exciting feature in Excel, so here is the reframe: every AI tool you will touch performs dramatically better on a table than on a raw range. That is true of Analyze Data, which you saw yesterday, and it is just as true of Copilot and of the Python we will run on Thursday. A table gives the machine named columns, a defined boundary, and one data type per field. On top of that, structured references make your formulas read like sentences, so a colleague, or an AI asked to audit your workbook, can tell what a formula means without decoding cell addresses. Here is the guerrilla part: while other teams wait for licenses to arrive, the analyst who makes data machine-readable today gets the payoff from every tool the moment it lands. The AI-ready workbook is a craft skill, not a purchase.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demo it, here is what pressing Control T actually buys you, because it is more than formatting stripes. First, named columns: the machine can point at Amount instead of guessing that column H probably means money. Second, a defined boundary with one data type per column, which is exactly the shape every model expects data to arrive in. Third, structured references: sum of SalesData Amount reads like a sentence, and formulas that read like sentences are formulas AI tools and new teammates can interpret. Fourth, tables grow. Paste new rows at the bottom and every formula, pivot, and AI answer that points at the table picks them up. Two-part demo: convert and name, then rerun Monday's question and compare.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Into the workbook. First, ten seconds of tidying: those two TOTAL rows and the blank row from yesterday, I am deleting them by hand, and notice that it is manual and annoying, because tomorrow we automate exactly this. Now I click anywhere in the data and press Control T. Excel finds the edges, I confirm my data has headers, and we have a table. Here is the step almost everyone skips: go to Table Design and name it. Table1 means nothing. I am typing SalesData. Now watch what that name buys us. In a spare cell I type equals SUM, open paren, and click the Amount column header. The formula writes itself: sum of SalesData Amount. Read that out loud. It documents itself. No dollar signs, no H2 colon H58, no archaeology six months from now.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two, and this is the before-and-after that makes the whole day. Click inside SalesData, Home tab, Analyze Data, and I ask the exact question from Monday: total Amount by Region. Compare. No junk rows polluting the totals, because the TOTAL rows are gone. The suggestions reference SalesData and its column names instead of vague ranges. The pane is faster to useful answers because it is no longer guessing where the data starts and stops. The region typos are still there, we fix those tomorrow, but the structural confusion is gone. Same tool, same twenty seconds of effort, dramatically better output. That is what machine-readable buys, and it cost you one keyboard shortcut and a name.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Desk actions, three again. One: open the workbook you live in and press Control T on its main range, then give the table a real name, not Table1. Two: take one fragile formula, the kind with dollar signs and mystery ranges, rewrite it with structured references, and read it out loud. If it reads like a sentence, you did it right. Three: rerun the Analyze Data question you tried Monday and compare the answers side by side. That comparison is the proof you can show a skeptical coworker.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Tomorrow is the day the seven-region lie dies. Power Query records a cleanup once and replays it forever, which is the automated data prep people assume requires AI, delivered with zero AI. It is the applause-line demo of the week. Noon Eastern, twenty minutes, bring the export you hate cleaning.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day 2. Recap: Control T plus a real name makes data machine-readable, structured references make formulas self-documenting, and every AI tool this week gets sharper because of it. Replay is in the membership vault. One question if time allows, otherwise chat or email. Thanks, everyone. Tomorrow the Refresh button gets a round of applause.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TextBox 1"/>
          <p:cNvSpPr txBox="1"/>
          <p:nvPr/>
        </p:nvSpPr>
        <p:spPr>
          <a:xfrm>
            <a:off x="640080" y="2103120"/>
            <a:ext cx="10607040" cy="3291840"/>
          </a:xfrm>
          <a:prstGeom prst="rect">
            <a:avLst/>
          </a:prstGeom>
          <a:noFill/>
        </p:spPr>
        <p:txBody>
          <a:bodyPr wrap="square" lIns="0" rIns="0" tIns="0" bIns="0">
            <a:spAutoFit/>
          </a:bodyPr>
          <a:lstStyle/>
          <a:p>
            <a:r>
              <a:rPr sz="1500" b="1" i="0">
                <a:solidFill>
                  <a:srgbClr val="CF3338"/>
                </a:solidFill>
                <a:latin typeface="Arial Black"/>
              </a:rPr>
              <a:t>GUERRILLA AI FOR EXCEL. A LIVE SERIES, DAY 2 OF 5</a:t>
            </a:r>
          </a:p>
          <a:p>
            <a:pPr>
              <a:spcBef>
                <a:spcPts val="1000"/>
              </a:spcBef>
            </a:pPr>
            <a:r>
              <a:rPr sz="4200" b="1" i="0">
                <a:solidFill>
                  <a:srgbClr val="1F2120"/>
                </a:solidFill>
                <a:latin typeface="Arial Black"/>
              </a:rPr>
              <a:t>Make your data AI-readable</a:t>
            </a:r>
          </a:p>
          <a:p>
            <a:pPr>
              <a:spcBef>
                <a:spcPts val="1400"/>
              </a:spcBef>
            </a:pPr>
            <a:r>
              <a:rPr sz="2000" b="0" i="0">
                <a:solidFill>
                  <a:srgbClr val="707070"/>
                </a:solidFill>
                <a:latin typeface="Arial"/>
              </a:rPr>
              <a:t>Tables and structured references: the prep move that makes every AI sharper.</a:t>
            </a:r>
          </a:p>
        </p:txBody>
      </p:sp>
      <p:sp>
        <p:nvSpPr>
          <p:cNvPr id="3" name="TextBox 2"/>
          <p:cNvSpPr txBox="1"/>
          <p:nvPr/>
        </p:nvSpPr>
        <p:spPr>
          <a:xfrm>
            <a:off x="640080" y="6080760"/>
            <a:ext cx="10972800" cy="457200"/>
          </a:xfrm>
          <a:prstGeom prst="rect">
            <a:avLst/>
          </a:prstGeom>
          <a:noFill/>
        </p:spPr>
        <p:txBody>
          <a:bodyPr wrap="square" lIns="0" rIns="0" tIns="0" bIns="0">
            <a:spAutoFit/>
          </a:bodyPr>
          <a:lstStyle/>
          <a:p>
            <a:r>
              <a:rPr sz="1300" b="0" i="1">
                <a:solidFill>
                  <a:srgbClr val="707070"/>
                </a:solidFill>
                <a:latin typeface="Arial"/>
              </a:rPr>
              <a:t>Live Mon Sep 28 to Fri Oct 2, 12:00 to 12:20 PM ET. Sessions are recorded.</a:t>
            </a:r>
          </a:p>
        </p:txBody>
      </p:sp>
      <p:sp>
        <p:nvSpPr>
          <p:cNvPr id="4" name="TextBox 3"/>
          <p:cNvSpPr txBox="1"/>
          <p:nvPr/>
        </p:nvSpPr>
        <p:spPr>
          <a:xfrm>
            <a:off x="457200" y="384048"/>
            <a:ext cx="4114800" cy="365760"/>
          </a:xfrm>
          <a:prstGeom prst="rect">
            <a:avLst/>
          </a:prstGeom>
          <a:noFill/>
        </p:spPr>
        <p:txBody>
          <a:bodyPr wrap="square" lIns="0" rIns="0" tIns="0" bIns="0">
            <a:spAutoFit/>
          </a:bodyPr>
          <a:lstStyle/>
          <a:p>
            <a:r>
              <a:rPr sz="1300" b="1" i="0">
                <a:solidFill>
                  <a:srgbClr val="CF3338"/>
                </a:solidFill>
                <a:latin typeface="Arial Black"/>
              </a:rPr>
              <a:t>STRINGFEST ANALYTICS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TextBox 1"/>
          <p:cNvSpPr txBox="1"/>
          <p:nvPr/>
        </p:nvSpPr>
        <p:spPr>
          <a:xfrm>
            <a:off x="640080" y="457200"/>
            <a:ext cx="10881360" cy="1188720"/>
          </a:xfrm>
          <a:prstGeom prst="rect">
            <a:avLst/>
          </a:prstGeom>
          <a:noFill/>
        </p:spPr>
        <p:txBody>
          <a:bodyPr wrap="square" lIns="0" rIns="0" tIns="0" bIns="0">
            <a:spAutoFit/>
          </a:bodyPr>
          <a:lstStyle/>
          <a:p>
            <a:r>
              <a:rPr sz="3000" b="1" i="0">
                <a:solidFill>
                  <a:srgbClr val="1F2120"/>
                </a:solidFill>
                <a:latin typeface="Arial Black"/>
              </a:rPr>
              <a:t>Yesterday in 30 seconds</a:t>
            </a:r>
          </a:p>
          <a:p>
            <a:pPr>
              <a:spcBef>
                <a:spcPts val="400"/>
              </a:spcBef>
            </a:pPr>
            <a:r>
              <a:rPr sz="1500" b="0" i="1">
                <a:solidFill>
                  <a:srgbClr val="CF3338"/>
                </a:solidFill>
                <a:latin typeface="Arial"/>
              </a:rPr>
              <a:t>One dataset, five wins, zero licenses</a:t>
            </a:r>
          </a:p>
        </p:txBody>
      </p:sp>
      <p:sp>
        <p:nvSpPr>
          <p:cNvPr id="3" name="TextBox 2"/>
          <p:cNvSpPr txBox="1"/>
          <p:nvPr/>
        </p:nvSpPr>
        <p:spPr>
          <a:xfrm>
            <a:off x="640080" y="1783080"/>
            <a:ext cx="10881360" cy="4846320"/>
          </a:xfrm>
          <a:prstGeom prst="rect">
            <a:avLst/>
          </a:prstGeom>
          <a:noFill/>
        </p:spPr>
        <p:txBody>
          <a:bodyPr wrap="square" lIns="0" rIns="0" tIns="0" bIns="0">
            <a:spAutoFit/>
          </a:bodyPr>
          <a:lstStyle/>
          <a:p>
            <a:pPr>
              <a:spcAft>
                <a:spcPts val="700"/>
              </a:spcAft>
            </a:pPr>
            <a:r>
              <a:rPr sz="1200" b="1" i="0">
                <a:solidFill>
                  <a:srgbClr val="CF3338"/>
                </a:solidFill>
                <a:latin typeface="Arial"/>
              </a:rPr>
              <a:t>▶  </a:t>
            </a:r>
            <a:r>
              <a:rPr sz="1600" b="0" i="0">
                <a:solidFill>
                  <a:srgbClr val="1F2120"/>
                </a:solidFill>
                <a:latin typeface="Arial"/>
              </a:rPr>
              <a:t>Day 1 was The AI already hiding in your Excel.</a:t>
            </a:r>
          </a:p>
          <a:p>
            <a:pPr>
              <a:spcAft>
                <a:spcPts val="700"/>
              </a:spcAft>
            </a:pPr>
            <a:r>
              <a:rPr sz="1200" b="1" i="0">
                <a:solidFill>
                  <a:srgbClr val="CF3338"/>
                </a:solidFill>
                <a:latin typeface="Arial"/>
              </a:rPr>
              <a:t>▶  </a:t>
            </a:r>
            <a:r>
              <a:rPr sz="1600" b="0" i="0">
                <a:solidFill>
                  <a:srgbClr val="1F2120"/>
                </a:solidFill>
                <a:latin typeface="Arial"/>
              </a:rPr>
              <a:t>Before asking for an AI budget, exhaust the AI you already have.</a:t>
            </a:r>
          </a:p>
          <a:p>
            <a:pPr>
              <a:spcAft>
                <a:spcPts val="700"/>
              </a:spcAft>
            </a:pPr>
            <a:r>
              <a:rPr sz="1200" b="1" i="0">
                <a:solidFill>
                  <a:srgbClr val="CF3338"/>
                </a:solidFill>
                <a:latin typeface="Arial"/>
              </a:rPr>
              <a:t>▶  </a:t>
            </a:r>
            <a:r>
              <a:rPr sz="1600" b="0" i="0">
                <a:solidFill>
                  <a:srgbClr val="1F2120"/>
                </a:solidFill>
                <a:latin typeface="Arial"/>
              </a:rPr>
              <a:t>Same dataset today. Every day builds on the last.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TextBox 1"/>
          <p:cNvSpPr txBox="1"/>
          <p:nvPr/>
        </p:nvSpPr>
        <p:spPr>
          <a:xfrm>
            <a:off x="640080" y="457200"/>
            <a:ext cx="10881360" cy="1188720"/>
          </a:xfrm>
          <a:prstGeom prst="rect">
            <a:avLst/>
          </a:prstGeom>
          <a:noFill/>
        </p:spPr>
        <p:txBody>
          <a:bodyPr wrap="square" lIns="0" rIns="0" tIns="0" bIns="0">
            <a:spAutoFit/>
          </a:bodyPr>
          <a:lstStyle/>
          <a:p>
            <a:r>
              <a:rPr sz="3000" b="1" i="0">
                <a:solidFill>
                  <a:srgbClr val="1F2120"/>
                </a:solidFill>
                <a:latin typeface="Arial Black"/>
              </a:rPr>
              <a:t>Why this counts as AI</a:t>
            </a:r>
          </a:p>
          <a:p>
            <a:pPr>
              <a:spcBef>
                <a:spcPts val="400"/>
              </a:spcBef>
            </a:pPr>
            <a:r>
              <a:rPr sz="1500" b="0" i="1">
                <a:solidFill>
                  <a:srgbClr val="CF3338"/>
                </a:solidFill>
                <a:latin typeface="Arial"/>
              </a:rPr>
              <a:t>The guerrilla hook, day 2</a:t>
            </a:r>
          </a:p>
        </p:txBody>
      </p:sp>
      <p:sp>
        <p:nvSpPr>
          <p:cNvPr id="3" name="TextBox 2"/>
          <p:cNvSpPr txBox="1"/>
          <p:nvPr/>
        </p:nvSpPr>
        <p:spPr>
          <a:xfrm>
            <a:off x="640080" y="1783080"/>
            <a:ext cx="10881360" cy="4846320"/>
          </a:xfrm>
          <a:prstGeom prst="rect">
            <a:avLst/>
          </a:prstGeom>
          <a:noFill/>
        </p:spPr>
        <p:txBody>
          <a:bodyPr wrap="square" lIns="0" rIns="0" tIns="0" bIns="0">
            <a:spAutoFit/>
          </a:bodyPr>
          <a:lstStyle/>
          <a:p>
            <a:pPr>
              <a:spcAft>
                <a:spcPts val="700"/>
              </a:spcAft>
            </a:pPr>
            <a:r>
              <a:rPr sz="1200" b="1" i="0">
                <a:solidFill>
                  <a:srgbClr val="CF3338"/>
                </a:solidFill>
                <a:latin typeface="Arial"/>
              </a:rPr>
              <a:t>▶  </a:t>
            </a:r>
            <a:r>
              <a:rPr sz="1600" b="0" i="0">
                <a:solidFill>
                  <a:srgbClr val="1F2120"/>
                </a:solidFill>
                <a:latin typeface="Arial"/>
              </a:rPr>
              <a:t>Every AI tool performs dramatically better on tables than on raw ranges.</a:t>
            </a:r>
          </a:p>
          <a:p>
            <a:pPr>
              <a:spcAft>
                <a:spcPts val="700"/>
              </a:spcAft>
            </a:pPr>
            <a:r>
              <a:rPr sz="1200" b="1" i="0">
                <a:solidFill>
                  <a:srgbClr val="CF3338"/>
                </a:solidFill>
                <a:latin typeface="Arial"/>
              </a:rPr>
              <a:t>▶  </a:t>
            </a:r>
            <a:r>
              <a:rPr sz="1600" b="0" i="0">
                <a:solidFill>
                  <a:srgbClr val="1F2120"/>
                </a:solidFill>
                <a:latin typeface="Arial"/>
              </a:rPr>
              <a:t>That applies to Analyze Data today, and to Copilot and Python later this week.</a:t>
            </a:r>
          </a:p>
          <a:p>
            <a:pPr>
              <a:spcAft>
                <a:spcPts val="700"/>
              </a:spcAft>
            </a:pPr>
            <a:r>
              <a:rPr sz="1200" b="1" i="0">
                <a:solidFill>
                  <a:srgbClr val="CF3338"/>
                </a:solidFill>
                <a:latin typeface="Arial"/>
              </a:rPr>
              <a:t>▶  </a:t>
            </a:r>
            <a:r>
              <a:rPr sz="1600" b="0" i="0">
                <a:solidFill>
                  <a:srgbClr val="1F2120"/>
                </a:solidFill>
                <a:latin typeface="Arial"/>
              </a:rPr>
              <a:t>Structured references make formulas self-documenting, readable by AI and by humans.</a:t>
            </a:r>
          </a:p>
          <a:p>
            <a:pPr>
              <a:spcAft>
                <a:spcPts val="700"/>
              </a:spcAft>
            </a:pPr>
            <a:r>
              <a:rPr sz="1200" b="1" i="0">
                <a:solidFill>
                  <a:srgbClr val="CF3338"/>
                </a:solidFill>
                <a:latin typeface="Arial"/>
              </a:rPr>
              <a:t>▶  </a:t>
            </a:r>
            <a:r>
              <a:rPr sz="1600" b="0" i="0">
                <a:solidFill>
                  <a:srgbClr val="1F2120"/>
                </a:solidFill>
                <a:latin typeface="Arial"/>
              </a:rPr>
              <a:t>Machine-readable data is the highest-leverage prep move while everyone else waits for licenses.</a:t>
            </a:r>
          </a:p>
          <a:p>
            <a:pPr>
              <a:spcAft>
                <a:spcPts val="700"/>
              </a:spcAft>
            </a:pPr>
            <a:r>
              <a:rPr sz="1200" b="1" i="0">
                <a:solidFill>
                  <a:srgbClr val="CF3338"/>
                </a:solidFill>
                <a:latin typeface="Arial"/>
              </a:rPr>
              <a:t>▶  </a:t>
            </a:r>
            <a:r>
              <a:rPr sz="1600" b="0" i="0">
                <a:solidFill>
                  <a:srgbClr val="1F2120"/>
                </a:solidFill>
                <a:latin typeface="Arial"/>
              </a:rPr>
              <a:t>The AI-ready workbook is a craft skill, not a purchase.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TextBox 1"/>
          <p:cNvSpPr txBox="1"/>
          <p:nvPr/>
        </p:nvSpPr>
        <p:spPr>
          <a:xfrm>
            <a:off x="640080" y="457200"/>
            <a:ext cx="10881360" cy="1188720"/>
          </a:xfrm>
          <a:prstGeom prst="rect">
            <a:avLst/>
          </a:prstGeom>
          <a:noFill/>
        </p:spPr>
        <p:txBody>
          <a:bodyPr wrap="square" lIns="0" rIns="0" tIns="0" bIns="0">
            <a:spAutoFit/>
          </a:bodyPr>
          <a:lstStyle/>
          <a:p>
            <a:r>
              <a:rPr sz="3000" b="1" i="0">
                <a:solidFill>
                  <a:srgbClr val="1F2120"/>
                </a:solidFill>
                <a:latin typeface="Arial Black"/>
              </a:rPr>
              <a:t>What Ctrl+T actually changes</a:t>
            </a:r>
          </a:p>
          <a:p>
            <a:pPr>
              <a:spcBef>
                <a:spcPts val="400"/>
              </a:spcBef>
            </a:pPr>
            <a:r>
              <a:rPr sz="1500" b="0" i="1">
                <a:solidFill>
                  <a:srgbClr val="CF3338"/>
                </a:solidFill>
                <a:latin typeface="Arial"/>
              </a:rPr>
              <a:t>The 13-minute demo, in two parts</a:t>
            </a:r>
          </a:p>
        </p:txBody>
      </p:sp>
      <p:sp>
        <p:nvSpPr>
          <p:cNvPr id="3" name="TextBox 2"/>
          <p:cNvSpPr txBox="1"/>
          <p:nvPr/>
        </p:nvSpPr>
        <p:spPr>
          <a:xfrm>
            <a:off x="640080" y="1783080"/>
            <a:ext cx="10881360" cy="4846320"/>
          </a:xfrm>
          <a:prstGeom prst="rect">
            <a:avLst/>
          </a:prstGeom>
          <a:noFill/>
        </p:spPr>
        <p:txBody>
          <a:bodyPr wrap="square" lIns="0" rIns="0" tIns="0" bIns="0">
            <a:spAutoFit/>
          </a:bodyPr>
          <a:lstStyle/>
          <a:p>
            <a:pPr>
              <a:spcAft>
                <a:spcPts val="700"/>
              </a:spcAft>
            </a:pPr>
            <a:r>
              <a:rPr sz="1200" b="1" i="0">
                <a:solidFill>
                  <a:srgbClr val="CF3338"/>
                </a:solidFill>
                <a:latin typeface="Arial"/>
              </a:rPr>
              <a:t>▶  </a:t>
            </a:r>
            <a:r>
              <a:rPr sz="1600" b="0" i="0">
                <a:solidFill>
                  <a:srgbClr val="1F2120"/>
                </a:solidFill>
                <a:latin typeface="Arial"/>
              </a:rPr>
              <a:t>Named columns the machine can point at, instead of guessing where data ends.</a:t>
            </a:r>
          </a:p>
          <a:p>
            <a:pPr>
              <a:spcAft>
                <a:spcPts val="700"/>
              </a:spcAft>
            </a:pPr>
            <a:r>
              <a:rPr sz="1200" b="1" i="0">
                <a:solidFill>
                  <a:srgbClr val="CF3338"/>
                </a:solidFill>
                <a:latin typeface="Arial"/>
              </a:rPr>
              <a:t>▶  </a:t>
            </a:r>
            <a:r>
              <a:rPr sz="1600" b="0" i="0">
                <a:solidFill>
                  <a:srgbClr val="1F2120"/>
                </a:solidFill>
                <a:latin typeface="Arial"/>
              </a:rPr>
              <a:t>One data type per column, which is how models expect data to arrive.</a:t>
            </a:r>
          </a:p>
          <a:p>
            <a:pPr>
              <a:spcAft>
                <a:spcPts val="700"/>
              </a:spcAft>
            </a:pPr>
            <a:r>
              <a:rPr sz="1200" b="1" i="0">
                <a:solidFill>
                  <a:srgbClr val="CF3338"/>
                </a:solidFill>
                <a:latin typeface="Arial"/>
              </a:rPr>
              <a:t>▶  </a:t>
            </a:r>
            <a:r>
              <a:rPr sz="1600" b="0" i="0">
                <a:solidFill>
                  <a:srgbClr val="1F2120"/>
                </a:solidFill>
                <a:latin typeface="Arial"/>
              </a:rPr>
              <a:t>Formulas that self-document: =SUM(SalesData[Amount]) needs no explanation.</a:t>
            </a:r>
          </a:p>
          <a:p>
            <a:pPr>
              <a:spcAft>
                <a:spcPts val="700"/>
              </a:spcAft>
            </a:pPr>
            <a:r>
              <a:rPr sz="1200" b="1" i="0">
                <a:solidFill>
                  <a:srgbClr val="CF3338"/>
                </a:solidFill>
                <a:latin typeface="Arial"/>
              </a:rPr>
              <a:t>▶  </a:t>
            </a:r>
            <a:r>
              <a:rPr sz="1600" b="0" i="0">
                <a:solidFill>
                  <a:srgbClr val="1F2120"/>
                </a:solidFill>
                <a:latin typeface="Arial"/>
              </a:rPr>
              <a:t>New rows join the table automatically, so answers stay current.</a:t>
            </a:r>
          </a:p>
          <a:p>
            <a:pPr>
              <a:spcAft>
                <a:spcPts val="700"/>
              </a:spcAft>
            </a:pPr>
            <a:r>
              <a:rPr sz="1200" b="1" i="0">
                <a:solidFill>
                  <a:srgbClr val="CF3338"/>
                </a:solidFill>
                <a:latin typeface="Arial"/>
              </a:rPr>
              <a:t>▶  </a:t>
            </a:r>
            <a:r>
              <a:rPr sz="1600" b="0" i="0">
                <a:solidFill>
                  <a:srgbClr val="1F2120"/>
                </a:solidFill>
                <a:latin typeface="Arial"/>
              </a:rPr>
              <a:t>Your colleagues get the same benefit the AI does. Readability compounds.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Rectangle 1"/>
          <p:cNvSpPr/>
          <p:nvPr/>
        </p:nvSpPr>
        <p:spPr>
          <a:xfrm>
            <a:off x="9082735" y="0"/>
            <a:ext cx="3108960" cy="6858000"/>
          </a:xfrm>
          <a:prstGeom prst="rect">
            <a:avLst/>
          </a:prstGeom>
          <a:solidFill>
            <a:srgbClr val="CF3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311335" y="640080"/>
            <a:ext cx="2468880" cy="1828800"/>
          </a:xfrm>
          <a:prstGeom prst="rect">
            <a:avLst/>
          </a:prstGeom>
          <a:noFill/>
        </p:spPr>
        <p:txBody>
          <a:bodyPr wrap="square" lIns="0" rIns="0" tIns="0" bIns="0">
            <a:spAutoFit/>
          </a:bodyPr>
          <a:lstStyle/>
          <a:p>
            <a:r>
              <a:rPr sz="2600" b="1" i="0">
                <a:solidFill>
                  <a:srgbClr val="FFFFFF"/>
                </a:solidFill>
                <a:latin typeface="Arial Black"/>
              </a:rPr>
              <a:t>LIVE</a:t>
            </a:r>
          </a:p>
          <a:p>
            <a:r>
              <a:rPr sz="2600" b="1" i="0">
                <a:solidFill>
                  <a:srgbClr val="FFFFFF"/>
                </a:solidFill>
                <a:latin typeface="Arial Black"/>
              </a:rPr>
              <a:t>DEMO</a:t>
            </a:r>
          </a:p>
        </p:txBody>
      </p:sp>
      <p:sp>
        <p:nvSpPr>
          <p:cNvPr id="4" name="TextBox 3"/>
          <p:cNvSpPr txBox="1"/>
          <p:nvPr/>
        </p:nvSpPr>
        <p:spPr>
          <a:xfrm>
            <a:off x="548640" y="411480"/>
            <a:ext cx="8229600" cy="1097280"/>
          </a:xfrm>
          <a:prstGeom prst="rect">
            <a:avLst/>
          </a:prstGeom>
          <a:noFill/>
        </p:spPr>
        <p:txBody>
          <a:bodyPr wrap="square" lIns="0" rIns="0" tIns="0" bIns="0">
            <a:spAutoFit/>
          </a:bodyPr>
          <a:lstStyle/>
          <a:p>
            <a:r>
              <a:rPr sz="2500" b="1" i="0">
                <a:solidFill>
                  <a:srgbClr val="CF3338"/>
                </a:solidFill>
                <a:latin typeface="Arial Black"/>
              </a:rPr>
              <a:t>Live demo: Ctrl+T and a real name</a:t>
            </a:r>
          </a:p>
          <a:p>
            <a:pPr>
              <a:spcBef>
                <a:spcPts val="300"/>
              </a:spcBef>
            </a:pPr>
            <a:r>
              <a:rPr sz="1450" b="0" i="1">
                <a:solidFill>
                  <a:srgbClr val="707070"/>
                </a:solidFill>
                <a:latin typeface="Arial"/>
              </a:rPr>
              <a:t>Junk rows out, one shortcut, one name that means something.</a:t>
            </a:r>
          </a:p>
        </p:txBody>
      </p:sp>
      <p:sp>
        <p:nvSpPr>
          <p:cNvPr id="5" name="Rounded Rectangle 4"/>
          <p:cNvSpPr/>
          <p:nvPr/>
        </p:nvSpPr>
        <p:spPr>
          <a:xfrm>
            <a:off x="548640" y="1600200"/>
            <a:ext cx="8229600" cy="4023360"/>
          </a:xfrm>
          <a:prstGeom prst="round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56032" rIns="182880" tIns="182880" bIns="109728"/>
          <a:lstStyle/>
          <a:p>
            <a:pPr algn="l">
              <a:spcAft>
                <a:spcPts val="100"/>
              </a:spcAft>
            </a:pPr>
            <a:r>
              <a:rPr sz="1300" b="0" i="0">
                <a:solidFill>
                  <a:srgbClr val="9EC57A"/>
                </a:solidFill>
                <a:latin typeface="Consolas"/>
              </a:rPr>
              <a:t># Convert the range to a named table</a:t>
            </a:r>
          </a:p>
          <a:p>
            <a:pPr algn="l">
              <a:spcAft>
                <a:spcPts val="100"/>
              </a:spcAft>
            </a:pPr>
            <a:r>
              <a:rPr sz="1300" b="0" i="0">
                <a:solidFill>
                  <a:srgbClr val="F5F5F5"/>
                </a:solidFill>
                <a:latin typeface="Consolas"/>
              </a:rPr>
              <a:t>1. Delete the two TOTAL rows and the blank row</a:t>
            </a:r>
          </a:p>
          <a:p>
            <a:pPr algn="l">
              <a:spcAft>
                <a:spcPts val="100"/>
              </a:spcAft>
            </a:pPr>
            <a:r>
              <a:rPr sz="1300" b="0" i="0">
                <a:solidFill>
                  <a:srgbClr val="F5F5F5"/>
                </a:solidFill>
                <a:latin typeface="Consolas"/>
              </a:rPr>
              <a:t>2. Click in the data, press Ctrl+T, confirm headers</a:t>
            </a:r>
          </a:p>
          <a:p>
            <a:pPr algn="l">
              <a:spcAft>
                <a:spcPts val="100"/>
              </a:spcAft>
            </a:pPr>
            <a:r>
              <a:rPr sz="1300" b="0" i="0">
                <a:solidFill>
                  <a:srgbClr val="F5F5F5"/>
                </a:solidFill>
                <a:latin typeface="Consolas"/>
              </a:rPr>
              <a:t>3. Table Design &gt; Table Name: type SalesData</a:t>
            </a:r>
          </a:p>
          <a:p>
            <a:pPr algn="l">
              <a:spcAft>
                <a:spcPts val="100"/>
              </a:spcAft>
            </a:pPr>
            <a:r>
              <a:rPr sz="1300" b="0" i="0">
                <a:solidFill>
                  <a:srgbClr val="F5F5F5"/>
                </a:solidFill>
                <a:latin typeface="Consolas"/>
              </a:rPr>
              <a:t>4. In a spare cell type: =SUM(SalesData[Amount])</a:t>
            </a:r>
          </a:p>
          <a:p>
            <a:pPr algn="l">
              <a:spcAft>
                <a:spcPts val="100"/>
              </a:spcAft>
            </a:pPr>
            <a:r>
              <a:rPr sz="1300" b="0" i="0">
                <a:solidFill>
                  <a:srgbClr val="F5F5F5"/>
                </a:solidFill>
                <a:latin typeface="Consolas"/>
              </a:rPr>
              <a:t>5. Read the formula out loud. It documents itself.</a:t>
            </a:r>
          </a:p>
        </p:txBody>
      </p:sp>
      <p:sp>
        <p:nvSpPr>
          <p:cNvPr id="6" name="TextBox 5"/>
          <p:cNvSpPr txBox="1"/>
          <p:nvPr/>
        </p:nvSpPr>
        <p:spPr>
          <a:xfrm>
            <a:off x="548640" y="5806440"/>
            <a:ext cx="8229600" cy="777240"/>
          </a:xfrm>
          <a:prstGeom prst="rect">
            <a:avLst/>
          </a:prstGeom>
          <a:noFill/>
        </p:spPr>
        <p:txBody>
          <a:bodyPr wrap="square" lIns="0" rIns="0" tIns="0" bIns="0">
            <a:spAutoFit/>
          </a:bodyPr>
          <a:lstStyle/>
          <a:p>
            <a:r>
              <a:rPr sz="1300" b="1" i="0">
                <a:solidFill>
                  <a:srgbClr val="CF3338"/>
                </a:solidFill>
                <a:latin typeface="Arial"/>
              </a:rPr>
              <a:t>▶  A formula that reads like a sentence is AI-readable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Rectangle 1"/>
          <p:cNvSpPr/>
          <p:nvPr/>
        </p:nvSpPr>
        <p:spPr>
          <a:xfrm>
            <a:off x="9082735" y="0"/>
            <a:ext cx="3108960" cy="6858000"/>
          </a:xfrm>
          <a:prstGeom prst="rect">
            <a:avLst/>
          </a:prstGeom>
          <a:solidFill>
            <a:srgbClr val="CF3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311335" y="640080"/>
            <a:ext cx="2468880" cy="1828800"/>
          </a:xfrm>
          <a:prstGeom prst="rect">
            <a:avLst/>
          </a:prstGeom>
          <a:noFill/>
        </p:spPr>
        <p:txBody>
          <a:bodyPr wrap="square" lIns="0" rIns="0" tIns="0" bIns="0">
            <a:spAutoFit/>
          </a:bodyPr>
          <a:lstStyle/>
          <a:p>
            <a:r>
              <a:rPr sz="2600" b="1" i="0">
                <a:solidFill>
                  <a:srgbClr val="FFFFFF"/>
                </a:solidFill>
                <a:latin typeface="Arial Black"/>
              </a:rPr>
              <a:t>LIVE</a:t>
            </a:r>
          </a:p>
          <a:p>
            <a:r>
              <a:rPr sz="2600" b="1" i="0">
                <a:solidFill>
                  <a:srgbClr val="FFFFFF"/>
                </a:solidFill>
                <a:latin typeface="Arial Black"/>
              </a:rPr>
              <a:t>DEMO</a:t>
            </a:r>
          </a:p>
        </p:txBody>
      </p:sp>
      <p:sp>
        <p:nvSpPr>
          <p:cNvPr id="4" name="TextBox 3"/>
          <p:cNvSpPr txBox="1"/>
          <p:nvPr/>
        </p:nvSpPr>
        <p:spPr>
          <a:xfrm>
            <a:off x="548640" y="411480"/>
            <a:ext cx="8229600" cy="1097280"/>
          </a:xfrm>
          <a:prstGeom prst="rect">
            <a:avLst/>
          </a:prstGeom>
          <a:noFill/>
        </p:spPr>
        <p:txBody>
          <a:bodyPr wrap="square" lIns="0" rIns="0" tIns="0" bIns="0">
            <a:spAutoFit/>
          </a:bodyPr>
          <a:lstStyle/>
          <a:p>
            <a:r>
              <a:rPr sz="2500" b="1" i="0">
                <a:solidFill>
                  <a:srgbClr val="CF3338"/>
                </a:solidFill>
                <a:latin typeface="Arial Black"/>
              </a:rPr>
              <a:t>Live demo: rerun Monday's question</a:t>
            </a:r>
          </a:p>
          <a:p>
            <a:pPr>
              <a:spcBef>
                <a:spcPts val="300"/>
              </a:spcBef>
            </a:pPr>
            <a:r>
              <a:rPr sz="1450" b="0" i="1">
                <a:solidFill>
                  <a:srgbClr val="707070"/>
                </a:solidFill>
                <a:latin typeface="Arial"/>
              </a:rPr>
              <a:t>Same question as yesterday. Watch the quality jump.</a:t>
            </a:r>
          </a:p>
        </p:txBody>
      </p:sp>
      <p:sp>
        <p:nvSpPr>
          <p:cNvPr id="5" name="Rounded Rectangle 4"/>
          <p:cNvSpPr/>
          <p:nvPr/>
        </p:nvSpPr>
        <p:spPr>
          <a:xfrm>
            <a:off x="548640" y="1600200"/>
            <a:ext cx="8229600" cy="4023360"/>
          </a:xfrm>
          <a:prstGeom prst="round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56032" rIns="182880" tIns="182880" bIns="109728"/>
          <a:lstStyle/>
          <a:p>
            <a:pPr algn="l">
              <a:spcAft>
                <a:spcPts val="100"/>
              </a:spcAft>
            </a:pPr>
            <a:r>
              <a:rPr sz="1300" b="0" i="0">
                <a:solidFill>
                  <a:srgbClr val="9EC57A"/>
                </a:solidFill>
                <a:latin typeface="Consolas"/>
              </a:rPr>
              <a:t># Same question, better answer</a:t>
            </a:r>
          </a:p>
          <a:p>
            <a:pPr algn="l">
              <a:spcAft>
                <a:spcPts val="100"/>
              </a:spcAft>
            </a:pPr>
            <a:r>
              <a:rPr sz="1300" b="0" i="0">
                <a:solidFill>
                  <a:srgbClr val="F5F5F5"/>
                </a:solidFill>
                <a:latin typeface="Consolas"/>
              </a:rPr>
              <a:t>1. Click inside the SalesData table</a:t>
            </a:r>
          </a:p>
          <a:p>
            <a:pPr algn="l">
              <a:spcAft>
                <a:spcPts val="100"/>
              </a:spcAft>
            </a:pPr>
            <a:r>
              <a:rPr sz="1300" b="0" i="0">
                <a:solidFill>
                  <a:srgbClr val="F5F5F5"/>
                </a:solidFill>
                <a:latin typeface="Consolas"/>
              </a:rPr>
              <a:t>2. Home tab &gt; Analyze Data</a:t>
            </a:r>
          </a:p>
          <a:p>
            <a:pPr algn="l">
              <a:spcAft>
                <a:spcPts val="100"/>
              </a:spcAft>
            </a:pPr>
            <a:r>
              <a:rPr sz="1300" b="0" i="0">
                <a:solidFill>
                  <a:srgbClr val="F5F5F5"/>
                </a:solidFill>
                <a:latin typeface="Consolas"/>
              </a:rPr>
              <a:t>3. Ask again: total Amount by Region</a:t>
            </a:r>
          </a:p>
          <a:p>
            <a:pPr algn="l">
              <a:spcAft>
                <a:spcPts val="100"/>
              </a:spcAft>
            </a:pPr>
            <a:r>
              <a:rPr sz="1300" b="0" i="0">
                <a:solidFill>
                  <a:srgbClr val="F5F5F5"/>
                </a:solidFill>
                <a:latin typeface="Consolas"/>
              </a:rPr>
              <a:t>4. Compare with Monday: no junk rows, named fields</a:t>
            </a:r>
          </a:p>
          <a:p>
            <a:pPr algn="l">
              <a:spcAft>
                <a:spcPts val="100"/>
              </a:spcAft>
            </a:pPr>
            <a:r>
              <a:rPr sz="1300" b="0" i="0">
                <a:solidFill>
                  <a:srgbClr val="F5F5F5"/>
                </a:solidFill>
                <a:latin typeface="Consolas"/>
              </a:rPr>
              <a:t>5. New rows added to the table join automatically</a:t>
            </a:r>
          </a:p>
        </p:txBody>
      </p:sp>
      <p:sp>
        <p:nvSpPr>
          <p:cNvPr id="6" name="TextBox 5"/>
          <p:cNvSpPr txBox="1"/>
          <p:nvPr/>
        </p:nvSpPr>
        <p:spPr>
          <a:xfrm>
            <a:off x="548640" y="5806440"/>
            <a:ext cx="8229600" cy="777240"/>
          </a:xfrm>
          <a:prstGeom prst="rect">
            <a:avLst/>
          </a:prstGeom>
          <a:noFill/>
        </p:spPr>
        <p:txBody>
          <a:bodyPr wrap="square" lIns="0" rIns="0" tIns="0" bIns="0">
            <a:spAutoFit/>
          </a:bodyPr>
          <a:lstStyle/>
          <a:p>
            <a:r>
              <a:rPr sz="1300" b="1" i="0">
                <a:solidFill>
                  <a:srgbClr val="CF3338"/>
                </a:solidFill>
                <a:latin typeface="Arial"/>
              </a:rPr>
              <a:t>▶  Same tool, same data, better structure, better answer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TextBox 1"/>
          <p:cNvSpPr txBox="1"/>
          <p:nvPr/>
        </p:nvSpPr>
        <p:spPr>
          <a:xfrm>
            <a:off x="640080" y="457200"/>
            <a:ext cx="10881360" cy="1188720"/>
          </a:xfrm>
          <a:prstGeom prst="rect">
            <a:avLst/>
          </a:prstGeom>
          <a:noFill/>
        </p:spPr>
        <p:txBody>
          <a:bodyPr wrap="square" lIns="0" rIns="0" tIns="0" bIns="0">
            <a:spAutoFit/>
          </a:bodyPr>
          <a:lstStyle/>
          <a:p>
            <a:r>
              <a:rPr sz="3000" b="1" i="0">
                <a:solidFill>
                  <a:srgbClr val="1F2120"/>
                </a:solidFill>
                <a:latin typeface="Arial Black"/>
              </a:rPr>
              <a:t>Do this at your desk today</a:t>
            </a:r>
          </a:p>
          <a:p>
            <a:pPr>
              <a:spcBef>
                <a:spcPts val="400"/>
              </a:spcBef>
            </a:pPr>
            <a:r>
              <a:rPr sz="1500" b="0" i="1">
                <a:solidFill>
                  <a:srgbClr val="CF3338"/>
                </a:solidFill>
                <a:latin typeface="Arial"/>
              </a:rPr>
              <a:t>The highest-leverage ten minutes of your week</a:t>
            </a:r>
          </a:p>
        </p:txBody>
      </p:sp>
      <p:sp>
        <p:nvSpPr>
          <p:cNvPr id="3" name="TextBox 2"/>
          <p:cNvSpPr txBox="1"/>
          <p:nvPr/>
        </p:nvSpPr>
        <p:spPr>
          <a:xfrm>
            <a:off x="640080" y="1783080"/>
            <a:ext cx="10881360" cy="4846320"/>
          </a:xfrm>
          <a:prstGeom prst="rect">
            <a:avLst/>
          </a:prstGeom>
          <a:noFill/>
        </p:spPr>
        <p:txBody>
          <a:bodyPr wrap="square" lIns="0" rIns="0" tIns="0" bIns="0">
            <a:spAutoFit/>
          </a:bodyPr>
          <a:lstStyle/>
          <a:p>
            <a:pPr>
              <a:spcAft>
                <a:spcPts val="700"/>
              </a:spcAft>
            </a:pPr>
            <a:r>
              <a:rPr sz="1200" b="1" i="0">
                <a:solidFill>
                  <a:srgbClr val="CF3338"/>
                </a:solidFill>
                <a:latin typeface="Arial"/>
              </a:rPr>
              <a:t>▶  </a:t>
            </a:r>
            <a:r>
              <a:rPr sz="1600" b="0" i="0">
                <a:solidFill>
                  <a:srgbClr val="1F2120"/>
                </a:solidFill>
                <a:latin typeface="Arial"/>
              </a:rPr>
              <a:t>Pick your most-used workbook and press Ctrl+T on the main range. Give the table a real name.</a:t>
            </a:r>
          </a:p>
          <a:p>
            <a:pPr>
              <a:spcAft>
                <a:spcPts val="700"/>
              </a:spcAft>
            </a:pPr>
            <a:r>
              <a:rPr sz="1200" b="1" i="0">
                <a:solidFill>
                  <a:srgbClr val="CF3338"/>
                </a:solidFill>
                <a:latin typeface="Arial"/>
              </a:rPr>
              <a:t>▶  </a:t>
            </a:r>
            <a:r>
              <a:rPr sz="1600" b="0" i="0">
                <a:solidFill>
                  <a:srgbClr val="1F2120"/>
                </a:solidFill>
                <a:latin typeface="Arial"/>
              </a:rPr>
              <a:t>Rewrite one fragile formula with structured references and read it out loud.</a:t>
            </a:r>
          </a:p>
          <a:p>
            <a:pPr>
              <a:spcAft>
                <a:spcPts val="700"/>
              </a:spcAft>
            </a:pPr>
            <a:r>
              <a:rPr sz="1200" b="1" i="0">
                <a:solidFill>
                  <a:srgbClr val="CF3338"/>
                </a:solidFill>
                <a:latin typeface="Arial"/>
              </a:rPr>
              <a:t>▶  </a:t>
            </a:r>
            <a:r>
              <a:rPr sz="1600" b="0" i="0">
                <a:solidFill>
                  <a:srgbClr val="1F2120"/>
                </a:solidFill>
                <a:latin typeface="Arial"/>
              </a:rPr>
              <a:t>Rerun an Analyze Data question you tried Monday and compare the answers.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C00000"/>
        </a:solidFill>
        <a:effectLst/>
      </p:bgPr>
    </p:bg>
    <p:spTree>
      <p:nvGrpSpPr>
        <p:cNvPr id="1" name=""/>
        <p:cNvGrpSpPr/>
        <p:nvPr/>
      </p:nvGrpSpPr>
      <p:grpSpPr/>
      <p:sp>
        <p:nvSpPr>
          <p:cNvPr id="2" name="TextBox 1"/>
          <p:cNvSpPr txBox="1"/>
          <p:nvPr/>
        </p:nvSpPr>
        <p:spPr>
          <a:xfrm>
            <a:off x="822960" y="2286000"/>
            <a:ext cx="10332720" cy="2743200"/>
          </a:xfrm>
          <a:prstGeom prst="rect">
            <a:avLst/>
          </a:prstGeom>
          <a:noFill/>
        </p:spPr>
        <p:txBody>
          <a:bodyPr wrap="square" lIns="0" rIns="0" tIns="0" bIns="0">
            <a:spAutoFit/>
          </a:bodyPr>
          <a:lstStyle/>
          <a:p>
            <a:r>
              <a:rPr sz="1600" b="1" i="0">
                <a:solidFill>
                  <a:srgbClr val="FFFFFF"/>
                </a:solidFill>
                <a:latin typeface="Arial Black"/>
              </a:rPr>
              <a:t>TOMORROW</a:t>
            </a:r>
          </a:p>
          <a:p>
            <a:pPr>
              <a:spcBef>
                <a:spcPts val="800"/>
              </a:spcBef>
            </a:pPr>
            <a:r>
              <a:rPr sz="3600" b="1" i="0">
                <a:solidFill>
                  <a:srgbClr val="FFFFFF"/>
                </a:solidFill>
                <a:latin typeface="Arial Black"/>
              </a:rPr>
              <a:t>Clean data so AI doesn't lie to you</a:t>
            </a:r>
          </a:p>
          <a:p>
            <a:pPr>
              <a:spcBef>
                <a:spcPts val="1400"/>
              </a:spcBef>
            </a:pPr>
            <a:r>
              <a:rPr sz="1800" b="0" i="0">
                <a:solidFill>
                  <a:srgbClr val="FFFFFF"/>
                </a:solidFill>
                <a:latin typeface="Arial"/>
              </a:rPr>
              <a:t>Power Query: the automation people think they need AI for, plus the fix for the seven-region lie.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C00000"/>
        </a:solidFill>
        <a:effectLst/>
      </p:bgPr>
    </p:bg>
    <p:spTree>
      <p:nvGrpSpPr>
        <p:cNvPr id="1" name=""/>
        <p:cNvGrpSpPr/>
        <p:nvPr/>
      </p:nvGrpSpPr>
      <p:grpSpPr/>
      <p:sp>
        <p:nvSpPr>
          <p:cNvPr id="2" name="TextBox 1"/>
          <p:cNvSpPr txBox="1"/>
          <p:nvPr/>
        </p:nvSpPr>
        <p:spPr>
          <a:xfrm>
            <a:off x="822960" y="2286000"/>
            <a:ext cx="10332720" cy="2743200"/>
          </a:xfrm>
          <a:prstGeom prst="rect">
            <a:avLst/>
          </a:prstGeom>
          <a:noFill/>
        </p:spPr>
        <p:txBody>
          <a:bodyPr wrap="square" lIns="0" rIns="0" tIns="0" bIns="0">
            <a:spAutoFit/>
          </a:bodyPr>
          <a:lstStyle/>
          <a:p>
            <a:r>
              <a:rPr sz="1600" b="1" i="0">
                <a:solidFill>
                  <a:srgbClr val="FFFFFF"/>
                </a:solidFill>
                <a:latin typeface="Arial Black"/>
              </a:rPr>
              <a:t>THANK YOU</a:t>
            </a:r>
          </a:p>
          <a:p>
            <a:pPr>
              <a:spcBef>
                <a:spcPts val="800"/>
              </a:spcBef>
            </a:pPr>
            <a:r>
              <a:rPr sz="3600" b="1" i="0">
                <a:solidFill>
                  <a:srgbClr val="FFFFFF"/>
                </a:solidFill>
                <a:latin typeface="Arial Black"/>
              </a:rPr>
              <a:t>See you tomorrow at noon Eastern</a:t>
            </a:r>
          </a:p>
          <a:p>
            <a:pPr>
              <a:spcBef>
                <a:spcPts val="1400"/>
              </a:spcBef>
            </a:pPr>
            <a:r>
              <a:rPr sz="1800" b="0" i="0">
                <a:solidFill>
                  <a:srgbClr val="FFFFFF"/>
                </a:solidFill>
                <a:latin typeface="Arial"/>
              </a:rPr>
              <a:t>Replays live in the Stringfest membership vault.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
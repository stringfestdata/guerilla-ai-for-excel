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is Guerrilla AI for Excel, day 3 of 5. I'm George Mount from Stringfest Analytics. Here is the idea behind this whole series. You do not need a Copilot license, a budget line, or IT's permission to work like an AI-powered analyst. Guerrilla AI means being crafty with what is already installed on your machine: the machine learning Excel has quietly shipped for years, the structural habits that make any AI dramatically better at reading your work, and the free tools that close the gap. Today's twenty-minute win: automated, repeatable data cleaning with a tool already on your Data tab. We have one live demo block and then two or three things you can do at your own desk this afternoon. Let's go. This is the day with the applause line. Watch for the Refresh moment.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Monday: the machine learning already in Excel, and the discovery that dirty data makes smart tools lie, seven regions instead of four. Tuesday: Control T and structured references made the workbook machine-readable, and Analyze Data got sharper. The takeaway was that the AI-ready workbook is a craft skill, not a purchase. Today we kill the remaining lies in this dataset, and we do it in a way that never has to be done twice.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hook lands two punches. Punch one: when people say they want AI to automate their data prep, the outcome they are describing, automated, repeatable, refreshable cleanup, has been shipping inside Excel for a decade as Power Query, and there is no AI in it at all. It records your steps like a macro recorder that actually works, and replays them on demand. Automation without programming. Punch two: remember Monday, when Analyze Data swore we had seven regions? Clean inputs are what stop AI tools from hallucinating your numbers. Garbage in, confident-sounding garbage out, and the confident tone is what makes it dangerous in front of your CFO. And a bonus guerrilla move to keep in your pocket: free chatbots write perfectly good M code, Power Query's language, and the Advanced Editor is where you paste it. Let's clean this thing for the last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demo. I click in the RawExport table, Data tab, From Table Range, and the Power Query editor opens. Now I just clean, and it records. Step one: filter Order ID, uncheck the blanks and those two TOTAL rows. Gone, and unlike yesterday's manual delete, this is recorded. Step two: select Product dash Category, Split Column by delimiter, space dash space, and we get real Product and Category columns. Step three: Region. Transform, Format, Trim, then Capitalize Each Word. MIDWEST in caps, midwest with the trailing space, all collapse into one clean Midwest. The seven-region lie dies right there. Step four: types. Order Date to Date, Units to Whole Number, Unit Price to Currency, and the dollar signs and text numbers all resolve. Watch the Applied Steps pane on the right: that is a program you just wrote by clicking. Close and Load To, new sheet, and I name the output table SalesClean.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applause line. It is a new month at Lakeshore and June's orders just landed, same ugly format, of course. I copy the June rows from the june-rows sheet and paste them at the bottom of RawExport. Now I right-click the SalesClean table and hit Refresh. Done. Every recorded step replayed on the new data: junk filtered, product split, regions standardized, types fixed, June included. Nobody re-cleaned anything. That monthly chore you were going to do by hand forever is now one click, and next month it is still one click. This is the single best return on an hour I know of in Excel: build the query once, refresh it for the rest of your tenure.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 actions. One: pick the export you clean every week or every month, the one you dread, and rebuild the cleanup one time in Power Query, clicking through the same moves you saw today. Two: next cycle, paste the new data in and press Refresh instead of redoing the work, then enjoy the feeling. Three: if you hit a transform you cannot figure out, describe it to a free chatbot in plain English and ask for the M code, then paste that into the Advanced Editor. That last one is pure guerrilla: free AI writing code for a free tool you already had.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might be the biggest surprise of the week for some of you. There is a full Python data science environment, pandas, seaborn, the real thing, sitting behind an Excel formula called PY. No install, no admin rights, no IT ticket. And the clean table we built today is exactly what it wants to eat. Noon Eastern.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day 3, and the seven-region lie is officially dead. Recap: Power Query is recorded, repeatable cleanup, the Refresh click replays it on every new month, and clean inputs are what keep every AI tool this week honest. Replay in the membership vault, questions in chat or by email. Thanks, everyone. Tomorrow we write Python without leaving Excel.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2103120"/>
            <a:ext cx="10607040" cy="3291840"/>
          </a:xfrm>
          <a:prstGeom prst="rect">
            <a:avLst/>
          </a:prstGeom>
          <a:noFill/>
        </p:spPr>
        <p:txBody>
          <a:bodyPr wrap="square" lIns="0" rIns="0" tIns="0" bIns="0">
            <a:spAutoFit/>
          </a:bodyPr>
          <a:lstStyle/>
          <a:p>
            <a:r>
              <a:rPr sz="1500" b="1" i="0">
                <a:solidFill>
                  <a:srgbClr val="CF3338"/>
                </a:solidFill>
                <a:latin typeface="Arial Black"/>
              </a:rPr>
              <a:t>GUERRILLA AI FOR EXCEL. A LIVE SERIES, DAY 3 OF 5</a:t>
            </a:r>
          </a:p>
          <a:p>
            <a:pPr>
              <a:spcBef>
                <a:spcPts val="1000"/>
              </a:spcBef>
            </a:pPr>
            <a:r>
              <a:rPr sz="4200" b="1" i="0">
                <a:solidFill>
                  <a:srgbClr val="1F2120"/>
                </a:solidFill>
                <a:latin typeface="Arial Black"/>
              </a:rPr>
              <a:t>Clean data so AI doesn't lie to you</a:t>
            </a:r>
          </a:p>
          <a:p>
            <a:pPr>
              <a:spcBef>
                <a:spcPts val="1400"/>
              </a:spcBef>
            </a:pPr>
            <a:r>
              <a:rPr sz="2000" b="0" i="0">
                <a:solidFill>
                  <a:srgbClr val="707070"/>
                </a:solidFill>
                <a:latin typeface="Arial"/>
              </a:rPr>
              <a:t>Power Query: record the cleanup once, refresh it forever.</a:t>
            </a:r>
          </a:p>
        </p:txBody>
      </p:sp>
      <p:sp>
        <p:nvSpPr>
          <p:cNvPr id="3" name="TextBox 2"/>
          <p:cNvSpPr txBox="1"/>
          <p:nvPr/>
        </p:nvSpPr>
        <p:spPr>
          <a:xfrm>
            <a:off x="640080" y="6080760"/>
            <a:ext cx="10972800" cy="457200"/>
          </a:xfrm>
          <a:prstGeom prst="rect">
            <a:avLst/>
          </a:prstGeom>
          <a:noFill/>
        </p:spPr>
        <p:txBody>
          <a:bodyPr wrap="square" lIns="0" rIns="0" tIns="0" bIns="0">
            <a:spAutoFit/>
          </a:bodyPr>
          <a:lstStyle/>
          <a:p>
            <a:r>
              <a:rPr sz="1300" b="0" i="1">
                <a:solidFill>
                  <a:srgbClr val="707070"/>
                </a:solidFill>
                <a:latin typeface="Arial"/>
              </a:rPr>
              <a:t>Live Mon Sep 28 to Fri Oct 2, 12:00 to 12:20 PM ET. Sessions are recorded.</a:t>
            </a:r>
          </a:p>
        </p:txBody>
      </p:sp>
      <p:sp>
        <p:nvSpPr>
          <p:cNvPr id="4" name="TextBox 3"/>
          <p:cNvSpPr txBox="1"/>
          <p:nvPr/>
        </p:nvSpPr>
        <p:spPr>
          <a:xfrm>
            <a:off x="457200" y="384048"/>
            <a:ext cx="4114800" cy="365760"/>
          </a:xfrm>
          <a:prstGeom prst="rect">
            <a:avLst/>
          </a:prstGeom>
          <a:noFill/>
        </p:spPr>
        <p:txBody>
          <a:bodyPr wrap="square" lIns="0" rIns="0" tIns="0" bIns="0">
            <a:spAutoFit/>
          </a:bodyPr>
          <a:lstStyle/>
          <a:p>
            <a:r>
              <a:rPr sz="1300" b="1" i="0">
                <a:solidFill>
                  <a:srgbClr val="CF3338"/>
                </a:solidFill>
                <a:latin typeface="Arial Black"/>
              </a:rPr>
              <a:t>STRINGFEST ANALYTICS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Yesterday in 30 seconds</a:t>
            </a:r>
          </a:p>
          <a:p>
            <a:pPr>
              <a:spcBef>
                <a:spcPts val="400"/>
              </a:spcBef>
            </a:pPr>
            <a:r>
              <a:rPr sz="1500" b="0" i="1">
                <a:solidFill>
                  <a:srgbClr val="CF3338"/>
                </a:solidFill>
                <a:latin typeface="Arial"/>
              </a:rPr>
              <a:t>One dataset, five wins, zero licenses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Day 2 was Make your data AI-readable.</a:t>
            </a:r>
          </a:p>
          <a:p>
            <a:pPr>
              <a:spcAft>
                <a:spcPts val="700"/>
              </a:spcAft>
            </a:pPr>
            <a:r>
              <a:rPr sz="1200" b="1" i="0">
                <a:solidFill>
                  <a:srgbClr val="CF3338"/>
                </a:solidFill>
                <a:latin typeface="Arial"/>
              </a:rPr>
              <a:t>▶  </a:t>
            </a:r>
            <a:r>
              <a:rPr sz="1600" b="0" i="0">
                <a:solidFill>
                  <a:srgbClr val="1F2120"/>
                </a:solidFill>
                <a:latin typeface="Arial"/>
              </a:rPr>
              <a:t>The AI-ready workbook is a craft skill, not a purchase.</a:t>
            </a:r>
          </a:p>
          <a:p>
            <a:pPr>
              <a:spcAft>
                <a:spcPts val="700"/>
              </a:spcAft>
            </a:pPr>
            <a:r>
              <a:rPr sz="1200" b="1" i="0">
                <a:solidFill>
                  <a:srgbClr val="CF3338"/>
                </a:solidFill>
                <a:latin typeface="Arial"/>
              </a:rPr>
              <a:t>▶  </a:t>
            </a:r>
            <a:r>
              <a:rPr sz="1600" b="0" i="0">
                <a:solidFill>
                  <a:srgbClr val="1F2120"/>
                </a:solidFill>
                <a:latin typeface="Arial"/>
              </a:rPr>
              <a:t>Same dataset today. Every day builds on the last.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Why this counts as AI</a:t>
            </a:r>
          </a:p>
          <a:p>
            <a:pPr>
              <a:spcBef>
                <a:spcPts val="400"/>
              </a:spcBef>
            </a:pPr>
            <a:r>
              <a:rPr sz="1500" b="0" i="1">
                <a:solidFill>
                  <a:srgbClr val="CF3338"/>
                </a:solidFill>
                <a:latin typeface="Arial"/>
              </a:rPr>
              <a:t>The guerrilla hook, day 3</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Punch one: Power Query delivers what people think they need AI for. Automated, repeatable, refreshable prep, zero AI inside.</a:t>
            </a:r>
          </a:p>
          <a:p>
            <a:pPr>
              <a:spcAft>
                <a:spcPts val="700"/>
              </a:spcAft>
            </a:pPr>
            <a:r>
              <a:rPr sz="1200" b="1" i="0">
                <a:solidFill>
                  <a:srgbClr val="CF3338"/>
                </a:solidFill>
                <a:latin typeface="Arial"/>
              </a:rPr>
              <a:t>▶  </a:t>
            </a:r>
            <a:r>
              <a:rPr sz="1600" b="0" i="0">
                <a:solidFill>
                  <a:srgbClr val="1F2120"/>
                </a:solidFill>
                <a:latin typeface="Arial"/>
              </a:rPr>
              <a:t>Recorded steps are automation without programming.</a:t>
            </a:r>
          </a:p>
          <a:p>
            <a:pPr>
              <a:spcAft>
                <a:spcPts val="700"/>
              </a:spcAft>
            </a:pPr>
            <a:r>
              <a:rPr sz="1200" b="1" i="0">
                <a:solidFill>
                  <a:srgbClr val="CF3338"/>
                </a:solidFill>
                <a:latin typeface="Arial"/>
              </a:rPr>
              <a:t>▶  </a:t>
            </a:r>
            <a:r>
              <a:rPr sz="1600" b="0" i="0">
                <a:solidFill>
                  <a:srgbClr val="1F2120"/>
                </a:solidFill>
                <a:latin typeface="Arial"/>
              </a:rPr>
              <a:t>Punch two: clean inputs are what stop AI from hallucinating your numbers.</a:t>
            </a:r>
          </a:p>
          <a:p>
            <a:pPr>
              <a:spcAft>
                <a:spcPts val="700"/>
              </a:spcAft>
            </a:pPr>
            <a:r>
              <a:rPr sz="1200" b="1" i="0">
                <a:solidFill>
                  <a:srgbClr val="CF3338"/>
                </a:solidFill>
                <a:latin typeface="Arial"/>
              </a:rPr>
              <a:t>▶  </a:t>
            </a:r>
            <a:r>
              <a:rPr sz="1600" b="0" i="0">
                <a:solidFill>
                  <a:srgbClr val="1F2120"/>
                </a:solidFill>
                <a:latin typeface="Arial"/>
              </a:rPr>
              <a:t>Garbage in, confident-sounding garbage out.</a:t>
            </a:r>
          </a:p>
          <a:p>
            <a:pPr>
              <a:spcAft>
                <a:spcPts val="700"/>
              </a:spcAft>
            </a:pPr>
            <a:r>
              <a:rPr sz="1200" b="1" i="0">
                <a:solidFill>
                  <a:srgbClr val="CF3338"/>
                </a:solidFill>
                <a:latin typeface="Arial"/>
              </a:rPr>
              <a:t>▶  </a:t>
            </a:r>
            <a:r>
              <a:rPr sz="1600" b="0" i="0">
                <a:solidFill>
                  <a:srgbClr val="1F2120"/>
                </a:solidFill>
                <a:latin typeface="Arial"/>
              </a:rPr>
              <a:t>Bonus move: free chatbots write M code, and Power Query is where you paste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record the cleanup once</a:t>
            </a:r>
          </a:p>
          <a:p>
            <a:pPr>
              <a:spcBef>
                <a:spcPts val="300"/>
              </a:spcBef>
            </a:pPr>
            <a:r>
              <a:rPr sz="1450" b="0" i="1">
                <a:solidFill>
                  <a:srgbClr val="707070"/>
                </a:solidFill>
                <a:latin typeface="Arial"/>
              </a:rPr>
              <a:t>Six recorded steps. Every flaw from Monday, fixed in order.</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Record the cleanup once</a:t>
            </a:r>
          </a:p>
          <a:p>
            <a:pPr algn="l">
              <a:spcAft>
                <a:spcPts val="100"/>
              </a:spcAft>
            </a:pPr>
            <a:r>
              <a:rPr sz="1300" b="0" i="0">
                <a:solidFill>
                  <a:srgbClr val="F5F5F5"/>
                </a:solidFill>
                <a:latin typeface="Consolas"/>
              </a:rPr>
              <a:t>1. Click in RawExport, then Data &gt; From Table/Range</a:t>
            </a:r>
          </a:p>
          <a:p>
            <a:pPr algn="l">
              <a:spcAft>
                <a:spcPts val="100"/>
              </a:spcAft>
            </a:pPr>
            <a:r>
              <a:rPr sz="1300" b="0" i="0">
                <a:solidFill>
                  <a:srgbClr val="F5F5F5"/>
                </a:solidFill>
                <a:latin typeface="Consolas"/>
              </a:rPr>
              <a:t>2. Filter Order ID: uncheck blanks and TOTAL rows</a:t>
            </a:r>
          </a:p>
          <a:p>
            <a:pPr algn="l">
              <a:spcAft>
                <a:spcPts val="100"/>
              </a:spcAft>
            </a:pPr>
            <a:r>
              <a:rPr sz="1300" b="0" i="0">
                <a:solidFill>
                  <a:srgbClr val="F5F5F5"/>
                </a:solidFill>
                <a:latin typeface="Consolas"/>
              </a:rPr>
              <a:t>3. Split 'Product - Category' by delimiter ' - '</a:t>
            </a:r>
          </a:p>
          <a:p>
            <a:pPr algn="l">
              <a:spcAft>
                <a:spcPts val="100"/>
              </a:spcAft>
            </a:pPr>
            <a:r>
              <a:rPr sz="1300" b="0" i="0">
                <a:solidFill>
                  <a:srgbClr val="F5F5F5"/>
                </a:solidFill>
                <a:latin typeface="Consolas"/>
              </a:rPr>
              <a:t>4. Region: Transform &gt; Format &gt; Trim, then Capitalize</a:t>
            </a:r>
          </a:p>
          <a:p>
            <a:pPr algn="l">
              <a:spcAft>
                <a:spcPts val="100"/>
              </a:spcAft>
            </a:pPr>
            <a:r>
              <a:rPr sz="1300" b="0" i="0">
                <a:solidFill>
                  <a:srgbClr val="F5F5F5"/>
                </a:solidFill>
                <a:latin typeface="Consolas"/>
              </a:rPr>
              <a:t>5. Set types: Date, Whole Number, Currency</a:t>
            </a:r>
          </a:p>
          <a:p>
            <a:pPr algn="l">
              <a:spcAft>
                <a:spcPts val="100"/>
              </a:spcAft>
            </a:pPr>
            <a:r>
              <a:rPr sz="1300" b="0" i="0">
                <a:solidFill>
                  <a:srgbClr val="F5F5F5"/>
                </a:solidFill>
                <a:latin typeface="Consolas"/>
              </a:rPr>
              <a:t>6. Home &gt; Close &amp; Load To... a table named SalesClean</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You just wrote a program by clicking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the Refresh moment</a:t>
            </a:r>
          </a:p>
          <a:p>
            <a:pPr>
              <a:spcBef>
                <a:spcPts val="300"/>
              </a:spcBef>
            </a:pPr>
            <a:r>
              <a:rPr sz="1450" b="0" i="1">
                <a:solidFill>
                  <a:srgbClr val="707070"/>
                </a:solidFill>
                <a:latin typeface="Arial"/>
              </a:rPr>
              <a:t>June just arrived. Watch what does not happen next.</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The applause line</a:t>
            </a:r>
          </a:p>
          <a:p>
            <a:pPr algn="l">
              <a:spcAft>
                <a:spcPts val="100"/>
              </a:spcAft>
            </a:pPr>
            <a:r>
              <a:rPr sz="1300" b="0" i="0">
                <a:solidFill>
                  <a:srgbClr val="F5F5F5"/>
                </a:solidFill>
                <a:latin typeface="Consolas"/>
              </a:rPr>
              <a:t>1. Copy the June rows from the june-rows sheet</a:t>
            </a:r>
          </a:p>
          <a:p>
            <a:pPr algn="l">
              <a:spcAft>
                <a:spcPts val="100"/>
              </a:spcAft>
            </a:pPr>
            <a:r>
              <a:rPr sz="1300" b="0" i="0">
                <a:solidFill>
                  <a:srgbClr val="F5F5F5"/>
                </a:solidFill>
                <a:latin typeface="Consolas"/>
              </a:rPr>
              <a:t>2. Paste them at the bottom of RawExport</a:t>
            </a:r>
          </a:p>
          <a:p>
            <a:pPr algn="l">
              <a:spcAft>
                <a:spcPts val="100"/>
              </a:spcAft>
            </a:pPr>
            <a:r>
              <a:rPr sz="1300" b="0" i="0">
                <a:solidFill>
                  <a:srgbClr val="F5F5F5"/>
                </a:solidFill>
                <a:latin typeface="Consolas"/>
              </a:rPr>
              <a:t>3. Right-click the SalesClean table &gt; Refresh</a:t>
            </a:r>
          </a:p>
          <a:p>
            <a:pPr algn="l">
              <a:spcAft>
                <a:spcPts val="100"/>
              </a:spcAft>
            </a:pPr>
            <a:r>
              <a:rPr sz="1300" b="0" i="0">
                <a:solidFill>
                  <a:srgbClr val="F5F5F5"/>
                </a:solidFill>
                <a:latin typeface="Consolas"/>
              </a:rPr>
              <a:t>4. Every recorded step replays on the new data</a:t>
            </a:r>
          </a:p>
          <a:p>
            <a:pPr algn="l">
              <a:spcAft>
                <a:spcPts val="100"/>
              </a:spcAft>
            </a:pPr>
            <a:r>
              <a:rPr sz="1300" b="0" i="0">
                <a:solidFill>
                  <a:srgbClr val="F5F5F5"/>
                </a:solidFill>
                <a:latin typeface="Consolas"/>
              </a:rPr>
              <a:t>5. That recurring cleanup chore is now one click</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One hour of Power Query replaces a recurring chore forever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Do this at your desk today</a:t>
            </a:r>
          </a:p>
          <a:p>
            <a:pPr>
              <a:spcBef>
                <a:spcPts val="400"/>
              </a:spcBef>
            </a:pPr>
            <a:r>
              <a:rPr sz="1500" b="0" i="1">
                <a:solidFill>
                  <a:srgbClr val="CF3338"/>
                </a:solidFill>
                <a:latin typeface="Arial"/>
              </a:rPr>
              <a:t>Pick your ugliest recurring export</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Find the export you clean every week or month and rebuild the cleanup once in Power Query.</a:t>
            </a:r>
          </a:p>
          <a:p>
            <a:pPr>
              <a:spcAft>
                <a:spcPts val="700"/>
              </a:spcAft>
            </a:pPr>
            <a:r>
              <a:rPr sz="1200" b="1" i="0">
                <a:solidFill>
                  <a:srgbClr val="CF3338"/>
                </a:solidFill>
                <a:latin typeface="Arial"/>
              </a:rPr>
              <a:t>▶  </a:t>
            </a:r>
            <a:r>
              <a:rPr sz="1600" b="0" i="0">
                <a:solidFill>
                  <a:srgbClr val="1F2120"/>
                </a:solidFill>
                <a:latin typeface="Arial"/>
              </a:rPr>
              <a:t>Next cycle, paste the new export in and hit Refresh instead of redoing the work.</a:t>
            </a:r>
          </a:p>
          <a:p>
            <a:pPr>
              <a:spcAft>
                <a:spcPts val="700"/>
              </a:spcAft>
            </a:pPr>
            <a:r>
              <a:rPr sz="1200" b="1" i="0">
                <a:solidFill>
                  <a:srgbClr val="CF3338"/>
                </a:solidFill>
                <a:latin typeface="Arial"/>
              </a:rPr>
              <a:t>▶  </a:t>
            </a:r>
            <a:r>
              <a:rPr sz="1600" b="0" i="0">
                <a:solidFill>
                  <a:srgbClr val="1F2120"/>
                </a:solidFill>
                <a:latin typeface="Arial"/>
              </a:rPr>
              <a:t>Stuck on a transform? Describe it to a free chatbot and ask for the M 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TOMORROW</a:t>
            </a:r>
          </a:p>
          <a:p>
            <a:pPr>
              <a:spcBef>
                <a:spcPts val="800"/>
              </a:spcBef>
            </a:pPr>
            <a:r>
              <a:rPr sz="3600" b="1" i="0">
                <a:solidFill>
                  <a:srgbClr val="FFFFFF"/>
                </a:solidFill>
                <a:latin typeface="Arial Black"/>
              </a:rPr>
              <a:t>A data science lab behind =PY()</a:t>
            </a:r>
          </a:p>
          <a:p>
            <a:pPr>
              <a:spcBef>
                <a:spcPts val="1400"/>
              </a:spcBef>
            </a:pPr>
            <a:r>
              <a:rPr sz="1800" b="0" i="0">
                <a:solidFill>
                  <a:srgbClr val="FFFFFF"/>
                </a:solidFill>
                <a:latin typeface="Arial"/>
              </a:rPr>
              <a:t>pandas and seaborn are already inside Excel. No install, no admin rights, no ticket.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THANK YOU</a:t>
            </a:r>
          </a:p>
          <a:p>
            <a:pPr>
              <a:spcBef>
                <a:spcPts val="800"/>
              </a:spcBef>
            </a:pPr>
            <a:r>
              <a:rPr sz="3600" b="1" i="0">
                <a:solidFill>
                  <a:srgbClr val="FFFFFF"/>
                </a:solidFill>
                <a:latin typeface="Arial Black"/>
              </a:rPr>
              <a:t>See you tomorrow at noon Eastern</a:t>
            </a:r>
          </a:p>
          <a:p>
            <a:pPr>
              <a:spcBef>
                <a:spcPts val="1400"/>
              </a:spcBef>
            </a:pPr>
            <a:r>
              <a:rPr sz="1800" b="0" i="0">
                <a:solidFill>
                  <a:srgbClr val="FFFFFF"/>
                </a:solidFill>
                <a:latin typeface="Arial"/>
              </a:rPr>
              <a:t>Replays live in the Stringfest membership vault.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
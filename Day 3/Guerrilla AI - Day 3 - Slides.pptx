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9" r:id="rId4"/>
    <p:sldId id="260" r:id="rId5"/>
    <p:sldId id="258"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9" d="100"/>
          <a:sy n="79" d="100"/>
        </p:scale>
        <p:origin x="81" y="8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to day three. Today we record the cleanup once in Power Query, then use Refresh when the next batch arrives. Watch along. You do not need to rebuild the query during these twenty minutes.</a:t>
            </a:r>
          </a:p>
          <a:p>
            <a:endParaRPr/>
          </a:p>
          <a:p>
            <a:r>
              <a:t>CHAT CUE (about 0:30; budget 15 seconds total)</a:t>
            </a:r>
          </a:p>
          <a:p>
            <a:r>
              <a:t>SAY: One word to start: do you repeat the same cleanup each week or month, YES or NO? Watching is welcome too.</a:t>
            </a:r>
          </a:p>
          <a:p>
            <a:r>
              <a:t>PAUSE: Wait silently for 8 seconds. Do not repeat the request.</a:t>
            </a:r>
          </a:p>
          <a:p>
            <a:r>
              <a:t>IF SOMEONE REPLIES: Acknowledge an actual answer. 'Keep that export in mind. Today we record the steps for next time.'</a:t>
            </a:r>
          </a:p>
          <a:p>
            <a:r>
              <a:t>IF CHAT IS QUIET: Say, "I'll use our monthly sales export as the example." Then continue. Never imply that somebody replied.</a:t>
            </a:r>
          </a:p>
          <a:p>
            <a:r>
              <a:t>FACILITATION: Acknowledge at most two actual replies, without calling on anyone by name. Accept a letter, a word, or a longer question. If a reply arrives later, acknowledge it at the next natural pause.</a:t>
            </a:r>
          </a:p>
          <a:p>
            <a:endParaRPr/>
          </a:p>
          <a:p>
            <a:r>
              <a:t>Keep the opening to 60 seconds. Participation is optional. The learning continues even with no chat replies.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Quick recap. Monday: the machine learning already in Excel, and the discovery that dirty data makes smart tools lie, inconsistent labels for four intended regions. Tuesday: Control T and structured references made the workbook machine-readable, and Analyze Data got sharper. The takeaway was that the AI-ready workbook is a craft skill, not a purchase. Today we kill the remaining lies in this dataset, and we do it in a way that never has to be done twice.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CHAT CUE (about 6:00; budget 15 seconds total)</a:t>
            </a:r>
          </a:p>
          <a:p>
            <a:r>
              <a:t>SAY: Quick choice from the steps on screen: which removes extra spaces, A for Trim or B for Split?</a:t>
            </a:r>
          </a:p>
          <a:p>
            <a:r>
              <a:t>PAUSE: Wait silently for 8 seconds. Do not repeat the request.</a:t>
            </a:r>
          </a:p>
          <a:p>
            <a:r>
              <a:t>IF SOMEONE REPLIES: A. Trim removes leading and trailing spaces. Split separates the product and category. Point to Trim in the recorded steps.</a:t>
            </a:r>
          </a:p>
          <a:p>
            <a:r>
              <a:t>IF CHAT IS QUIET: Say, "I'll choose A, Trim, for the spaces around the region names." Then continue. Never imply that somebody replied.</a:t>
            </a:r>
          </a:p>
          <a:p>
            <a:r>
              <a:t>FACILITATION: Acknowledge at most two actual replies, without calling on anyone by name. Accept a letter, a word, or a longer question. If a reply arrives later, acknowledge it at the next natural pause.</a:t>
            </a:r>
          </a:p>
          <a:p>
            <a:endParaRPr/>
          </a:p>
          <a:p>
            <a:r>
              <a:t>Use this cue at the indicated demo pause. Keep the Excel window visible when the prompt refers to its result.</a:t>
            </a:r>
          </a:p>
          <a:p>
            <a:endParaRPr/>
          </a:p>
          <a:p>
            <a:r>
              <a:t>ORIGINAL TEACHING SCRIPT</a:t>
            </a:r>
          </a:p>
          <a:p>
            <a:r>
              <a:t>Main demo. I click in the RawExport table, Data tab, From Table Range, and the Power Query editor opens. Now I just clean, and it records. Step one: filter Order ID, uncheck the blanks and those two TOTAL rows. Gone, and unlike yesterday's manual delete, this is recorded. Step two: select Product dash Category, Split Column by delimiter, space dash space, and we get real Product and Category columns. Step three: Region. Transform, Format, Trim, then Capitalize Each Word. MIDWEST in caps, midwest with the trailing space, all collapse into one clean Midwest. The region-label problem dies right there. Step four: types. Order Date to Date, Units to Whole Number, Unit Price to Currency, and the dollar signs and text numbers all resolve. Watch the Applied Steps pane on the right: that is a program you just wrote by clicking. Close and Load To, new sheet, and I name the output table SalesClean.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CHAT CUE (about 12:00; budget 15 seconds total)</a:t>
            </a:r>
          </a:p>
          <a:p>
            <a:r>
              <a:t>SAY: June has arrived. One word before I click: REDO or REFRESH?</a:t>
            </a:r>
          </a:p>
          <a:p>
            <a:r>
              <a:t>PAUSE: Wait silently for 8 seconds. Do not repeat the request.</a:t>
            </a:r>
          </a:p>
          <a:p>
            <a:r>
              <a:t>IF SOMEONE REPLIES: REFRESH. With new rows inside RawExport, refresh SalesClean. Show a new June order in the output so the payoff is visible.</a:t>
            </a:r>
          </a:p>
          <a:p>
            <a:r>
              <a:t>IF CHAT IS QUIET: Say, "I'll click REFRESH and check that a June order made it into the result." Then continue. Never imply that somebody replied.</a:t>
            </a:r>
          </a:p>
          <a:p>
            <a:r>
              <a:t>FACILITATION: Acknowledge at most two actual replies, without calling on anyone by name. Accept a letter, a word, or a longer question. If a reply arrives later, acknowledge it at the next natural pause.</a:t>
            </a:r>
          </a:p>
          <a:p>
            <a:endParaRPr/>
          </a:p>
          <a:p>
            <a:r>
              <a:t>Use this cue at the indicated demo pause. Keep the Excel window visible when the prompt refers to its result.</a:t>
            </a:r>
          </a:p>
          <a:p>
            <a:endParaRPr/>
          </a:p>
          <a:p>
            <a:r>
              <a:t>ORIGINAL TEACHING SCRIPT</a:t>
            </a:r>
          </a:p>
          <a:p>
            <a:r>
              <a:t>Now the refresh check. It is a new month at Lakeshore and June's orders just landed, same ugly format, of course. I copy the June rows from the june-rows sheet and paste them at the bottom of RawExport. Now I right-click the SalesClean table and hit Refresh. Done. Every recorded step replayed on the new data: junk filtered, product split, regions standardized, types fixed, June included. Nobody re-cleaned anything. That monthly chore you were going to do by hand forever is now one click, and next month it is still one click. This is the single best return on an hour I know of in Excel: build the query once, refresh it for the rest of your tenure.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Today's hook lands two punches. Punch one: when people say they want AI to automate their data prep, the outcome they are describing, automated, repeatable, refreshable cleanup, has been shipping inside Excel for a decade as Power Query, and there is no AI in it at all. It records your steps like a macro recorder that actually works, and replays them on demand. Automation without programming. Punch two: remember Monday, when Analyze Data swore we had seven regions? Clean inputs remove avoidable data errors. They do not guarantee that an AI answer is correct. Garbage in, confident-sounding garbage out, and the confident tone is what makes it dangerous in front of your CFO. And a bonus guerrilla move to keep in your pocket: free chatbots write perfectly good M code, Power Query's language, and the Advanced Editor is where you paste it. Let's clean this thing for the last 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CHAT CUE (about 16:30; budget 15 seconds total)</a:t>
            </a:r>
          </a:p>
          <a:p>
            <a:r>
              <a:t>SAY: Which step would you most like to stop repeating: SPACES, SPLIT, or TYPES? Pick just one word.</a:t>
            </a:r>
          </a:p>
          <a:p>
            <a:r>
              <a:t>PAUSE: Wait silently for 8 seconds. Do not repeat the request.</a:t>
            </a:r>
          </a:p>
          <a:p>
            <a:r>
              <a:t>IF SOMEONE REPLIES: Acknowledge an actual choice and connect it to that recorded step. The desk action is to save one small query for a recurring export.</a:t>
            </a:r>
          </a:p>
          <a:p>
            <a:r>
              <a:t>IF CHAT IS QUIET: Say, "I'll pick SPACES. That is a small first query you can build and refresh." Then continue. Never imply that somebody replied.</a:t>
            </a:r>
          </a:p>
          <a:p>
            <a:r>
              <a:t>FACILITATION: Acknowledge at most two actual replies, without calling on anyone by name. Accept a letter, a word, or a longer question. If a reply arrives later, acknowledge it at the next natural pause.</a:t>
            </a:r>
          </a:p>
          <a:p>
            <a:endParaRPr/>
          </a:p>
          <a:p>
            <a:r>
              <a:t>Use this cue before reading the remaining notes.</a:t>
            </a:r>
          </a:p>
          <a:p>
            <a:endParaRPr/>
          </a:p>
          <a:p>
            <a:r>
              <a:t>TEACHING SCRIPT
Pick one small next action. You do not need to complete every option. Pick one recurring export and one cleanup step. Record that step in Power Query, then load the result. Next time, refresh it and check that the new rows appear.</a:t>
            </a:r>
          </a:p>
          <a:p>
            <a:r>
              <a:t>Desk actions. One: pick the export you clean every week or every month, the one you dread, and rebuild the cleanup one time in Power Query, clicking through the same moves you saw today. Two: next cycle, paste the new data in and press Refresh instead of redoing the work, then enjoy the feeling. Three: if you hit a transform you cannot figure out, describe it to a free chatbot in plain English and ask for the M code, then paste that into the Advanced Editor. That last one is pure guerrilla: free AI writing code for a free tool you already had.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Tomorrow might be the biggest surprise of the week for some of you. There is a full Python data science environment, pandas, seaborn, the real thing, sitting behind an Excel formula called PY. No install, no admin rights, no IT ticket. And the clean table we built today is exactly what it wants to eat. Noon Eastern.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CHAT CUE (about 18:30; budget 15 seconds total)</a:t>
            </a:r>
          </a:p>
          <a:p>
            <a:r>
              <a:t>SAY: If you want a step again, type FILTER, SPLIT, or REFRESH. A full question works too.</a:t>
            </a:r>
          </a:p>
          <a:p>
            <a:r>
              <a:t>PAUSE: Wait silently for 8 seconds. Do not repeat the request.</a:t>
            </a:r>
          </a:p>
          <a:p>
            <a:r>
              <a:t>IF SOMEONE REPLIES: Answer one actual request. FILTER: remove blank and TOTAL rows. SPLIT: use the space-dash-space delimiter. REFRESH: put new rows inside RawExport, then refresh SalesClean.</a:t>
            </a:r>
          </a:p>
          <a:p>
            <a:r>
              <a:t>IF CHAT IS QUIET: Say, "One useful reminder: new rows need to be inside the source table before you refresh." Then continue. Never imply that somebody replied.</a:t>
            </a:r>
          </a:p>
          <a:p>
            <a:r>
              <a:t>FACILITATION: Acknowledge at most two actual replies, without calling on anyone by name. Accept a letter, a word, or a longer question. If a reply arrives later, acknowledge it at the next natural pause.</a:t>
            </a:r>
          </a:p>
          <a:p>
            <a:endParaRPr/>
          </a:p>
          <a:p>
            <a:r>
              <a:t>Use this cue before reading the remaining notes.</a:t>
            </a:r>
          </a:p>
          <a:p>
            <a:endParaRPr/>
          </a:p>
          <a:p>
            <a:r>
              <a:t>ORIGINAL TEACHING SCRIPT</a:t>
            </a:r>
          </a:p>
          <a:p>
            <a:r>
              <a:t>That is day 3, and the region-label problem is officially dead. Recap: Power Query is recorded, repeatable cleanup, the Refresh click replays it on every new month, and clean inputs are what keep every AI tool this week honest. Replay in the membership vault, questions in chat or by email. Thanks, everyone. Tomorrow we write Python without leaving Excel.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AC117-8D08-4155-B847-9EEEB596EAE7}"/>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835D75C2-CAEF-4FFF-9AE3-11298FE19BD0}"/>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F2F18624-4EC4-4DD5-A951-9107D6F9F0AC}"/>
              </a:ext>
            </a:extLst>
          </p:cNvPr>
          <p:cNvSpPr>
            <a:spLocks noGrp="1"/>
          </p:cNvSpPr>
          <p:nvPr>
            <p:ph type="dt" idx="10"/>
          </p:nvPr>
        </p:nvSpPr>
        <p:spPr/>
        <p:txBody>
          <a:bodyPr/>
          <a:lstStyle/>
          <a:p>
            <a:fld id="{5BCAD085-E8A6-8845-BD4E-CB4CCA059FC4}" type="datetimeFigureOut">
              <a:t>9/30/2026</a:t>
            </a:fld>
            <a:endParaRPr/>
          </a:p>
        </p:txBody>
      </p:sp>
      <p:sp>
        <p:nvSpPr>
          <p:cNvPr id="5" name="Footer Placeholder 4">
            <a:extLst>
              <a:ext uri="{FF2B5EF4-FFF2-40B4-BE49-F238E27FC236}">
                <a16:creationId xmlns:a16="http://schemas.microsoft.com/office/drawing/2014/main" id="{B55017C1-E372-45A3-B587-E519CEB46D7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C988A03-A9F7-4328-BC5F-B4251B61070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FD0E0-8456-4C69-B8BE-DA474090FB5C}"/>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B473754-89DA-433C-8AC0-0DCC58D360F3}"/>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F7FAFEE-0386-416E-94EF-B47DC0F307BD}"/>
              </a:ext>
            </a:extLst>
          </p:cNvPr>
          <p:cNvSpPr>
            <a:spLocks noGrp="1"/>
          </p:cNvSpPr>
          <p:nvPr>
            <p:ph type="dt" idx="10"/>
          </p:nvPr>
        </p:nvSpPr>
        <p:spPr/>
        <p:txBody>
          <a:bodyPr/>
          <a:lstStyle/>
          <a:p>
            <a:fld id="{5BCAD085-E8A6-8845-BD4E-CB4CCA059FC4}" type="datetimeFigureOut">
              <a:t>9/30/2026</a:t>
            </a:fld>
            <a:endParaRPr/>
          </a:p>
        </p:txBody>
      </p:sp>
      <p:sp>
        <p:nvSpPr>
          <p:cNvPr id="5" name="Footer Placeholder 4">
            <a:extLst>
              <a:ext uri="{FF2B5EF4-FFF2-40B4-BE49-F238E27FC236}">
                <a16:creationId xmlns:a16="http://schemas.microsoft.com/office/drawing/2014/main" id="{8BB320DE-706F-4B74-B372-AFC8701A316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C6C79A1-FB41-4E5F-B987-49569A3DFCDC}"/>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90448-909E-424F-A2C8-B3DBD0A35706}"/>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02C810C5-A600-4F23-B502-49674D0C5320}"/>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ED62B62E-82AB-47E4-A290-97736A546DC6}"/>
              </a:ext>
            </a:extLst>
          </p:cNvPr>
          <p:cNvSpPr>
            <a:spLocks noGrp="1"/>
          </p:cNvSpPr>
          <p:nvPr>
            <p:ph type="dt" idx="10"/>
          </p:nvPr>
        </p:nvSpPr>
        <p:spPr/>
        <p:txBody>
          <a:bodyPr/>
          <a:lstStyle/>
          <a:p>
            <a:fld id="{5BCAD085-E8A6-8845-BD4E-CB4CCA059FC4}" type="datetimeFigureOut">
              <a:t>9/30/2026</a:t>
            </a:fld>
            <a:endParaRPr/>
          </a:p>
        </p:txBody>
      </p:sp>
      <p:sp>
        <p:nvSpPr>
          <p:cNvPr id="5" name="Footer Placeholder 4">
            <a:extLst>
              <a:ext uri="{FF2B5EF4-FFF2-40B4-BE49-F238E27FC236}">
                <a16:creationId xmlns:a16="http://schemas.microsoft.com/office/drawing/2014/main" id="{BAA0E975-8825-4B52-867C-98D5E9F13717}"/>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469E6E7-5C7A-4CD1-AFC2-EFE7E54BD51C}"/>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4F3B5-3299-4C89-ABFF-7B2066C97DD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B62B0995-3416-4235-993D-8B9D568CDD80}"/>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29F35E69-9C11-4027-BBF4-1A40F7ECA810}"/>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83C5F928-3099-4FBA-817D-FE45E39076E9}"/>
              </a:ext>
            </a:extLst>
          </p:cNvPr>
          <p:cNvSpPr>
            <a:spLocks noGrp="1"/>
          </p:cNvSpPr>
          <p:nvPr>
            <p:ph type="dt" idx="10"/>
          </p:nvPr>
        </p:nvSpPr>
        <p:spPr/>
        <p:txBody>
          <a:bodyPr/>
          <a:lstStyle/>
          <a:p>
            <a:fld id="{5BCAD085-E8A6-8845-BD4E-CB4CCA059FC4}" type="datetimeFigureOut">
              <a:t>9/30/2026</a:t>
            </a:fld>
            <a:endParaRPr/>
          </a:p>
        </p:txBody>
      </p:sp>
      <p:sp>
        <p:nvSpPr>
          <p:cNvPr id="6" name="Footer Placeholder 5">
            <a:extLst>
              <a:ext uri="{FF2B5EF4-FFF2-40B4-BE49-F238E27FC236}">
                <a16:creationId xmlns:a16="http://schemas.microsoft.com/office/drawing/2014/main" id="{3E3D8469-25E8-43CD-97BA-E09DD188948D}"/>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4ADB9BF1-629D-4703-BBE5-AA77C6477C5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36766-2D3A-4A71-88B9-9758D7625EE8}"/>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E43FC878-78C6-4B84-8601-02F65C912C01}"/>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CEB2A183-58E9-4EDC-8CCF-12F9A956DB72}"/>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31235DFE-1648-4EF8-886C-FBF9084AC9AD}"/>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2E32A127-1229-4FD7-A51E-E07B4DEBB8BA}"/>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C8E4ED59-2AB7-42E6-AE4D-34B46A4AFBD2}"/>
              </a:ext>
            </a:extLst>
          </p:cNvPr>
          <p:cNvSpPr>
            <a:spLocks noGrp="1"/>
          </p:cNvSpPr>
          <p:nvPr>
            <p:ph type="dt" idx="10"/>
          </p:nvPr>
        </p:nvSpPr>
        <p:spPr/>
        <p:txBody>
          <a:bodyPr/>
          <a:lstStyle/>
          <a:p>
            <a:fld id="{5BCAD085-E8A6-8845-BD4E-CB4CCA059FC4}" type="datetimeFigureOut">
              <a:t>9/30/2026</a:t>
            </a:fld>
            <a:endParaRPr/>
          </a:p>
        </p:txBody>
      </p:sp>
      <p:sp>
        <p:nvSpPr>
          <p:cNvPr id="8" name="Footer Placeholder 7">
            <a:extLst>
              <a:ext uri="{FF2B5EF4-FFF2-40B4-BE49-F238E27FC236}">
                <a16:creationId xmlns:a16="http://schemas.microsoft.com/office/drawing/2014/main" id="{72929CE0-7D7C-4C1C-B940-C730940731A6}"/>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76885DD3-28D8-4273-8950-0FB2EA3EDDFD}"/>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EE293-4225-4178-931F-6E1FFBF21BE4}"/>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D552FECB-3C5B-43DA-949E-C619B8A8A1AE}"/>
              </a:ext>
            </a:extLst>
          </p:cNvPr>
          <p:cNvSpPr>
            <a:spLocks noGrp="1"/>
          </p:cNvSpPr>
          <p:nvPr>
            <p:ph type="dt" idx="10"/>
          </p:nvPr>
        </p:nvSpPr>
        <p:spPr/>
        <p:txBody>
          <a:bodyPr/>
          <a:lstStyle/>
          <a:p>
            <a:fld id="{5BCAD085-E8A6-8845-BD4E-CB4CCA059FC4}" type="datetimeFigureOut">
              <a:t>9/30/2026</a:t>
            </a:fld>
            <a:endParaRPr/>
          </a:p>
        </p:txBody>
      </p:sp>
      <p:sp>
        <p:nvSpPr>
          <p:cNvPr id="4" name="Footer Placeholder 3">
            <a:extLst>
              <a:ext uri="{FF2B5EF4-FFF2-40B4-BE49-F238E27FC236}">
                <a16:creationId xmlns:a16="http://schemas.microsoft.com/office/drawing/2014/main" id="{D4AD1AC3-372E-4D79-A8D5-D274C2DB7718}"/>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336700AC-5571-476A-B21F-D6F503536566}"/>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F1660F-1813-468C-8B07-9D71CCC0DC1A}"/>
              </a:ext>
            </a:extLst>
          </p:cNvPr>
          <p:cNvSpPr>
            <a:spLocks noGrp="1"/>
          </p:cNvSpPr>
          <p:nvPr>
            <p:ph type="dt" idx="10"/>
          </p:nvPr>
        </p:nvSpPr>
        <p:spPr/>
        <p:txBody>
          <a:bodyPr/>
          <a:lstStyle/>
          <a:p>
            <a:fld id="{5BCAD085-E8A6-8845-BD4E-CB4CCA059FC4}" type="datetimeFigureOut">
              <a:t>9/30/2026</a:t>
            </a:fld>
            <a:endParaRPr/>
          </a:p>
        </p:txBody>
      </p:sp>
      <p:sp>
        <p:nvSpPr>
          <p:cNvPr id="3" name="Footer Placeholder 2">
            <a:extLst>
              <a:ext uri="{FF2B5EF4-FFF2-40B4-BE49-F238E27FC236}">
                <a16:creationId xmlns:a16="http://schemas.microsoft.com/office/drawing/2014/main" id="{EFC7DDD1-EB84-4D9F-9352-ED257779FEC6}"/>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6FB273BD-842B-4D2B-B64C-BCFED37CAC0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8F000-83C5-40E2-A814-3987D4E7A713}"/>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2A582E7D-EA19-4B53-A456-11F9B7180803}"/>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1C3AAA05-9A49-46E4-BBA3-B1382B80BB25}"/>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BEDEC884-B733-411A-AD44-0A7A6BEB7D2C}"/>
              </a:ext>
            </a:extLst>
          </p:cNvPr>
          <p:cNvSpPr>
            <a:spLocks noGrp="1"/>
          </p:cNvSpPr>
          <p:nvPr>
            <p:ph type="dt" idx="10"/>
          </p:nvPr>
        </p:nvSpPr>
        <p:spPr/>
        <p:txBody>
          <a:bodyPr/>
          <a:lstStyle/>
          <a:p>
            <a:fld id="{5BCAD085-E8A6-8845-BD4E-CB4CCA059FC4}" type="datetimeFigureOut">
              <a:t>9/30/2026</a:t>
            </a:fld>
            <a:endParaRPr/>
          </a:p>
        </p:txBody>
      </p:sp>
      <p:sp>
        <p:nvSpPr>
          <p:cNvPr id="6" name="Footer Placeholder 5">
            <a:extLst>
              <a:ext uri="{FF2B5EF4-FFF2-40B4-BE49-F238E27FC236}">
                <a16:creationId xmlns:a16="http://schemas.microsoft.com/office/drawing/2014/main" id="{5FF64685-D7FB-4969-B5D3-ADAAB41DC82D}"/>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F9BC6B70-B9FD-4D31-B0FF-1703F84CBCF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6A51F-DEDB-479A-943D-5ECF68B84C99}"/>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7C6769FF-E3BA-419A-B9F7-9CF8BE72F68B}"/>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94D589E5-4B50-4876-805C-91AD38906CFB}"/>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3EAB2EF5-5FA1-46B5-A028-8E52F2A70AC3}"/>
              </a:ext>
            </a:extLst>
          </p:cNvPr>
          <p:cNvSpPr>
            <a:spLocks noGrp="1"/>
          </p:cNvSpPr>
          <p:nvPr>
            <p:ph type="dt" idx="10"/>
          </p:nvPr>
        </p:nvSpPr>
        <p:spPr/>
        <p:txBody>
          <a:bodyPr/>
          <a:lstStyle/>
          <a:p>
            <a:fld id="{5BCAD085-E8A6-8845-BD4E-CB4CCA059FC4}" type="datetimeFigureOut">
              <a:t>9/30/2026</a:t>
            </a:fld>
            <a:endParaRPr/>
          </a:p>
        </p:txBody>
      </p:sp>
      <p:sp>
        <p:nvSpPr>
          <p:cNvPr id="6" name="Footer Placeholder 5">
            <a:extLst>
              <a:ext uri="{FF2B5EF4-FFF2-40B4-BE49-F238E27FC236}">
                <a16:creationId xmlns:a16="http://schemas.microsoft.com/office/drawing/2014/main" id="{553BB96A-03B5-4E50-9F1C-E87BFBCEACD4}"/>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C8F1C658-5728-4E7D-8932-B98C92184AAD}"/>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D97CC-1B72-415F-9B2F-B2D9CB9D89BD}"/>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27BA4F75-A3A3-443D-8C09-4BE680471767}"/>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083FD7B-5E62-47AA-B0A3-862DC306BCA6}"/>
              </a:ext>
            </a:extLst>
          </p:cNvPr>
          <p:cNvSpPr>
            <a:spLocks noGrp="1"/>
          </p:cNvSpPr>
          <p:nvPr>
            <p:ph type="dt" idx="10"/>
          </p:nvPr>
        </p:nvSpPr>
        <p:spPr/>
        <p:txBody>
          <a:bodyPr/>
          <a:lstStyle/>
          <a:p>
            <a:fld id="{5BCAD085-E8A6-8845-BD4E-CB4CCA059FC4}" type="datetimeFigureOut">
              <a:t>9/30/2026</a:t>
            </a:fld>
            <a:endParaRPr/>
          </a:p>
        </p:txBody>
      </p:sp>
      <p:sp>
        <p:nvSpPr>
          <p:cNvPr id="5" name="Footer Placeholder 4">
            <a:extLst>
              <a:ext uri="{FF2B5EF4-FFF2-40B4-BE49-F238E27FC236}">
                <a16:creationId xmlns:a16="http://schemas.microsoft.com/office/drawing/2014/main" id="{92AC57A5-E60E-4696-B3CA-CF3BB6649CA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AD7161CD-1F82-4728-9CF6-1A18E5E1614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CBE873-DC51-45EF-9C3B-DF87E3545BA1}"/>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2DD36565-9138-4FDD-9594-A99426347639}"/>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5C7E0914-88A5-4B03-B38E-9B245016752F}"/>
              </a:ext>
            </a:extLst>
          </p:cNvPr>
          <p:cNvSpPr>
            <a:spLocks noGrp="1"/>
          </p:cNvSpPr>
          <p:nvPr>
            <p:ph type="dt" idx="10"/>
          </p:nvPr>
        </p:nvSpPr>
        <p:spPr/>
        <p:txBody>
          <a:bodyPr/>
          <a:lstStyle/>
          <a:p>
            <a:fld id="{5BCAD085-E8A6-8845-BD4E-CB4CCA059FC4}" type="datetimeFigureOut">
              <a:t>9/30/2026</a:t>
            </a:fld>
            <a:endParaRPr/>
          </a:p>
        </p:txBody>
      </p:sp>
      <p:sp>
        <p:nvSpPr>
          <p:cNvPr id="5" name="Footer Placeholder 4">
            <a:extLst>
              <a:ext uri="{FF2B5EF4-FFF2-40B4-BE49-F238E27FC236}">
                <a16:creationId xmlns:a16="http://schemas.microsoft.com/office/drawing/2014/main" id="{5167CD24-4CEA-40EF-A527-B9718E21AA6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46E67A8-71B4-4597-83FE-6CD4469172B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55D003-A95C-4D33-A261-7D90712750D7}"/>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71E15105-C352-41B9-8B3B-89019C4809FF}"/>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BF2E271-2C14-47A8-900C-F982F61FD235}"/>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9/30/2026</a:t>
            </a:fld>
            <a:endParaRPr/>
          </a:p>
        </p:txBody>
      </p:sp>
      <p:sp>
        <p:nvSpPr>
          <p:cNvPr id="5" name="Footer Placeholder 4">
            <a:extLst>
              <a:ext uri="{FF2B5EF4-FFF2-40B4-BE49-F238E27FC236}">
                <a16:creationId xmlns:a16="http://schemas.microsoft.com/office/drawing/2014/main" id="{54154EE6-15E7-44D9-823D-B595FD98D639}"/>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33855827-D5FC-4D31-B9D3-5C71EE14A46A}"/>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2D5FEB-45AF-443D-8F5B-EA524BD641F1}"/>
              </a:ext>
            </a:extLst>
          </p:cNvPr>
          <p:cNvSpPr>
            <a:spLocks noGrp="1"/>
          </p:cNvSpPr>
          <p:nvPr/>
        </p:nvSpPr>
        <p:spPr>
          <a:xfrm>
            <a:off x="640080" y="2103120"/>
            <a:ext cx="10607040" cy="2076450"/>
          </a:xfrm>
          <a:prstGeom prst="rect">
            <a:avLst/>
          </a:prstGeom>
          <a:noFill/>
        </p:spPr>
        <p:txBody>
          <a:bodyPr wrap="square" lIns="0" tIns="0" rIns="0" bIns="0">
            <a:spAutoFit/>
          </a:bodyPr>
          <a:lstStyle/>
          <a:p>
            <a:r>
              <a:rPr sz="1500" b="1" i="0">
                <a:solidFill>
                  <a:srgbClr val="CF3338"/>
                </a:solidFill>
                <a:latin typeface="Arial Black"/>
                <a:ea typeface="Arial Black"/>
                <a:cs typeface="Arial Black"/>
              </a:rPr>
              <a:t>GUERRILLA AI FOR EXCEL. A LIVE SERIES, DAY 3 OF 5</a:t>
            </a:r>
          </a:p>
          <a:p>
            <a:pPr>
              <a:spcBef>
                <a:spcPts val="1000"/>
              </a:spcBef>
              <a:buNone/>
            </a:pPr>
            <a:r>
              <a:rPr sz="4200" b="1" i="0">
                <a:solidFill>
                  <a:srgbClr val="1F2120"/>
                </a:solidFill>
                <a:latin typeface="Arial Black"/>
                <a:ea typeface="Arial Black"/>
                <a:cs typeface="Arial Black"/>
              </a:rPr>
              <a:t>Clean data so AI doesn't lie to you</a:t>
            </a:r>
          </a:p>
          <a:p>
            <a:pPr>
              <a:spcBef>
                <a:spcPts val="1400"/>
              </a:spcBef>
              <a:buNone/>
            </a:pPr>
            <a:r>
              <a:rPr sz="2000" b="0" i="0">
                <a:solidFill>
                  <a:srgbClr val="707070"/>
                </a:solidFill>
                <a:latin typeface="Arial"/>
                <a:ea typeface="Arial"/>
                <a:cs typeface="Arial"/>
              </a:rPr>
              <a:t>Power Query: record the cleanup once, refresh it forever.</a:t>
            </a:r>
          </a:p>
        </p:txBody>
      </p:sp>
      <p:sp>
        <p:nvSpPr>
          <p:cNvPr id="3" name="TextBox 2">
            <a:extLst>
              <a:ext uri="{FF2B5EF4-FFF2-40B4-BE49-F238E27FC236}">
                <a16:creationId xmlns:a16="http://schemas.microsoft.com/office/drawing/2014/main" id="{8033E7C4-54EA-4B59-A1DC-928A7D9D6D5E}"/>
              </a:ext>
            </a:extLst>
          </p:cNvPr>
          <p:cNvSpPr>
            <a:spLocks noGrp="1"/>
          </p:cNvSpPr>
          <p:nvPr/>
        </p:nvSpPr>
        <p:spPr>
          <a:xfrm>
            <a:off x="640080" y="6080760"/>
            <a:ext cx="10972800" cy="457200"/>
          </a:xfrm>
          <a:prstGeom prst="rect">
            <a:avLst/>
          </a:prstGeom>
          <a:noFill/>
        </p:spPr>
        <p:txBody>
          <a:bodyPr wrap="square" lIns="0" tIns="0" rIns="0" bIns="0">
            <a:spAutoFit/>
          </a:bodyPr>
          <a:lstStyle/>
          <a:p>
            <a:r>
              <a:rPr sz="1300" b="0" i="1">
                <a:solidFill>
                  <a:srgbClr val="707070"/>
                </a:solidFill>
                <a:latin typeface="Arial"/>
                <a:ea typeface="Arial"/>
                <a:cs typeface="Arial"/>
              </a:rPr>
              <a:t>Live Mon Sep 28 to Fri Oct 2, 12:00 to 12:20 PM ET. Sessions are recorded.</a:t>
            </a:r>
          </a:p>
        </p:txBody>
      </p:sp>
      <p:sp>
        <p:nvSpPr>
          <p:cNvPr id="4" name="TextBox 3">
            <a:extLst>
              <a:ext uri="{FF2B5EF4-FFF2-40B4-BE49-F238E27FC236}">
                <a16:creationId xmlns:a16="http://schemas.microsoft.com/office/drawing/2014/main" id="{35654EE9-EDC1-45DE-9FE3-4075243C387C}"/>
              </a:ext>
            </a:extLst>
          </p:cNvPr>
          <p:cNvSpPr>
            <a:spLocks noGrp="1"/>
          </p:cNvSpPr>
          <p:nvPr/>
        </p:nvSpPr>
        <p:spPr>
          <a:xfrm>
            <a:off x="457200" y="384048"/>
            <a:ext cx="4114800" cy="365760"/>
          </a:xfrm>
          <a:prstGeom prst="rect">
            <a:avLst/>
          </a:prstGeom>
          <a:noFill/>
        </p:spPr>
        <p:txBody>
          <a:bodyPr wrap="square" lIns="0" tIns="0" rIns="0" bIns="0">
            <a:spAutoFit/>
          </a:bodyPr>
          <a:lstStyle/>
          <a:p>
            <a:r>
              <a:rPr sz="1300" b="1" i="0">
                <a:solidFill>
                  <a:srgbClr val="CF3338"/>
                </a:solidFill>
                <a:latin typeface="Arial Black"/>
                <a:ea typeface="Arial Black"/>
                <a:cs typeface="Arial Black"/>
              </a:rPr>
              <a:t>STRINGFEST ANALYTICS</a:t>
            </a:r>
          </a:p>
        </p:txBody>
      </p:sp>
      <p:sp>
        <p:nvSpPr>
          <p:cNvPr id="8" name="Chat instruction">
            <a:extLst>
              <a:ext uri="{FF2B5EF4-FFF2-40B4-BE49-F238E27FC236}">
                <a16:creationId xmlns:a16="http://schemas.microsoft.com/office/drawing/2014/main" id="{57BFD59A-83FF-4EE3-AEBA-04020DC0822F}"/>
              </a:ext>
            </a:extLst>
          </p:cNvPr>
          <p:cNvSpPr>
            <a:spLocks noGrp="1"/>
          </p:cNvSpPr>
          <p:nvPr/>
        </p:nvSpPr>
        <p:spPr>
          <a:xfrm>
            <a:off x="8143875" y="5095875"/>
            <a:ext cx="3048000" cy="400050"/>
          </a:xfrm>
          <a:prstGeom prst="rect">
            <a:avLst/>
          </a:prstGeom>
          <a:noFill/>
          <a:ln w="0">
            <a:noFill/>
          </a:ln>
        </p:spPr>
        <p:txBody>
          <a:bodyPr wrap="square" lIns="0" tIns="0" rIns="0" bIns="0">
            <a:noAutofit/>
          </a:bodyPr>
          <a:lstStyle/>
          <a:p>
            <a:pPr>
              <a:defRPr sz="1425" b="0">
                <a:solidFill>
                  <a:srgbClr val="FFFFFF"/>
                </a:solidFill>
                <a:latin typeface="Arial"/>
                <a:ea typeface="Arial"/>
                <a:cs typeface="Arial"/>
              </a:defRPr>
            </a:pPr>
            <a:r>
              <a:rPr sz="1425" b="0">
                <a:solidFill>
                  <a:srgbClr val="FFFFFF"/>
                </a:solidFill>
                <a:latin typeface="Arial"/>
                <a:ea typeface="Arial"/>
                <a:cs typeface="Arial"/>
              </a:rPr>
              <a:t>Type one word in chat.</a:t>
            </a:r>
          </a:p>
        </p:txBody>
      </p:sp>
    </p:spTree>
    <p:extLst>
      <p:ext uri="{BB962C8B-B14F-4D97-AF65-F5344CB8AC3E}">
        <p14:creationId xmlns:p14="http://schemas.microsoft.com/office/powerpoint/2010/main" val="699503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8FC54A-0D7B-4D9B-8274-CE0792D40BA0}"/>
              </a:ext>
            </a:extLst>
          </p:cNvPr>
          <p:cNvSpPr>
            <a:spLocks noGrp="1"/>
          </p:cNvSpPr>
          <p:nvPr/>
        </p:nvSpPr>
        <p:spPr>
          <a:xfrm>
            <a:off x="640080" y="457200"/>
            <a:ext cx="10881360" cy="1188720"/>
          </a:xfrm>
          <a:prstGeom prst="rect">
            <a:avLst/>
          </a:prstGeom>
          <a:noFill/>
        </p:spPr>
        <p:txBody>
          <a:bodyPr wrap="square" lIns="0" tIns="0" rIns="0" bIns="0">
            <a:spAutoFit/>
          </a:bodyPr>
          <a:lstStyle/>
          <a:p>
            <a:r>
              <a:rPr sz="3000" b="1" i="0">
                <a:solidFill>
                  <a:srgbClr val="1F2120"/>
                </a:solidFill>
                <a:latin typeface="Arial Black"/>
                <a:ea typeface="Arial Black"/>
                <a:cs typeface="Arial Black"/>
              </a:rPr>
              <a:t>Yesterday in 30 seconds</a:t>
            </a:r>
          </a:p>
          <a:p>
            <a:pPr>
              <a:spcBef>
                <a:spcPts val="400"/>
              </a:spcBef>
              <a:buNone/>
            </a:pPr>
            <a:r>
              <a:rPr sz="1500" b="0" i="1">
                <a:solidFill>
                  <a:srgbClr val="CF3338"/>
                </a:solidFill>
                <a:latin typeface="Arial"/>
                <a:ea typeface="Arial"/>
                <a:cs typeface="Arial"/>
              </a:rPr>
              <a:t>One dataset, five practical wins</a:t>
            </a:r>
          </a:p>
        </p:txBody>
      </p:sp>
      <p:sp>
        <p:nvSpPr>
          <p:cNvPr id="3" name="TextBox 2">
            <a:extLst>
              <a:ext uri="{FF2B5EF4-FFF2-40B4-BE49-F238E27FC236}">
                <a16:creationId xmlns:a16="http://schemas.microsoft.com/office/drawing/2014/main" id="{913AD083-3B26-4091-81A8-C4B56F5813C0}"/>
              </a:ext>
            </a:extLst>
          </p:cNvPr>
          <p:cNvSpPr>
            <a:spLocks noGrp="1"/>
          </p:cNvSpPr>
          <p:nvPr/>
        </p:nvSpPr>
        <p:spPr>
          <a:xfrm>
            <a:off x="640080" y="1783080"/>
            <a:ext cx="10881360" cy="4846320"/>
          </a:xfrm>
          <a:prstGeom prst="rect">
            <a:avLst/>
          </a:prstGeom>
          <a:noFill/>
        </p:spPr>
        <p:txBody>
          <a:bodyPr wrap="square" lIns="0" tIns="0" rIns="0" bIns="0">
            <a:spAutoFit/>
          </a:bodyPr>
          <a:lstStyle/>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Day 2 was Make your data AI-readable.</a:t>
            </a:r>
          </a:p>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The AI-ready workbook is a craft skill, not a purchase.</a:t>
            </a:r>
          </a:p>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Same dataset today. Every day builds on the last.</a:t>
            </a:r>
          </a:p>
        </p:txBody>
      </p:sp>
    </p:spTree>
    <p:extLst>
      <p:ext uri="{BB962C8B-B14F-4D97-AF65-F5344CB8AC3E}">
        <p14:creationId xmlns:p14="http://schemas.microsoft.com/office/powerpoint/2010/main" val="1465131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08ED261-F2D0-4DB5-A80D-26D6EED69CCB}"/>
              </a:ext>
            </a:extLst>
          </p:cNvPr>
          <p:cNvSpPr>
            <a:spLocks noGrp="1"/>
          </p:cNvSpPr>
          <p:nvPr/>
        </p:nvSpPr>
        <p:spPr>
          <a:xfrm>
            <a:off x="9082735" y="0"/>
            <a:ext cx="3108960" cy="6858000"/>
          </a:xfrm>
          <a:prstGeom prst="rect">
            <a:avLst/>
          </a:prstGeom>
          <a:solidFill>
            <a:srgbClr val="CF333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ECECD1E0-BBC4-4E38-A06C-E24D7A769881}"/>
              </a:ext>
            </a:extLst>
          </p:cNvPr>
          <p:cNvSpPr>
            <a:spLocks noGrp="1"/>
          </p:cNvSpPr>
          <p:nvPr/>
        </p:nvSpPr>
        <p:spPr>
          <a:xfrm>
            <a:off x="9311335" y="640080"/>
            <a:ext cx="2468880" cy="1828800"/>
          </a:xfrm>
          <a:prstGeom prst="rect">
            <a:avLst/>
          </a:prstGeom>
          <a:noFill/>
        </p:spPr>
        <p:txBody>
          <a:bodyPr wrap="square" lIns="0" tIns="0" rIns="0" bIns="0">
            <a:spAutoFit/>
          </a:bodyPr>
          <a:lstStyle/>
          <a:p>
            <a:r>
              <a:rPr sz="2600" b="1" i="0">
                <a:solidFill>
                  <a:srgbClr val="FFFFFF"/>
                </a:solidFill>
                <a:latin typeface="Arial Black"/>
                <a:ea typeface="Arial Black"/>
                <a:cs typeface="Arial Black"/>
              </a:rPr>
              <a:t>LIVE</a:t>
            </a:r>
          </a:p>
          <a:p>
            <a:r>
              <a:rPr sz="2600" b="1" i="0">
                <a:solidFill>
                  <a:srgbClr val="FFFFFF"/>
                </a:solidFill>
                <a:latin typeface="Arial Black"/>
                <a:ea typeface="Arial Black"/>
                <a:cs typeface="Arial Black"/>
              </a:rPr>
              <a:t>DEMO</a:t>
            </a:r>
          </a:p>
        </p:txBody>
      </p:sp>
      <p:sp>
        <p:nvSpPr>
          <p:cNvPr id="4" name="TextBox 3">
            <a:extLst>
              <a:ext uri="{FF2B5EF4-FFF2-40B4-BE49-F238E27FC236}">
                <a16:creationId xmlns:a16="http://schemas.microsoft.com/office/drawing/2014/main" id="{4FE08B17-35D4-4BB3-922B-143C19C6AB94}"/>
              </a:ext>
            </a:extLst>
          </p:cNvPr>
          <p:cNvSpPr>
            <a:spLocks noGrp="1"/>
          </p:cNvSpPr>
          <p:nvPr/>
        </p:nvSpPr>
        <p:spPr>
          <a:xfrm>
            <a:off x="548640" y="411480"/>
            <a:ext cx="8229600" cy="1097280"/>
          </a:xfrm>
          <a:prstGeom prst="rect">
            <a:avLst/>
          </a:prstGeom>
          <a:noFill/>
        </p:spPr>
        <p:txBody>
          <a:bodyPr wrap="square" lIns="0" tIns="0" rIns="0" bIns="0">
            <a:spAutoFit/>
          </a:bodyPr>
          <a:lstStyle/>
          <a:p>
            <a:r>
              <a:rPr sz="2500" b="1" i="0">
                <a:solidFill>
                  <a:srgbClr val="CF3338"/>
                </a:solidFill>
                <a:latin typeface="Arial Black"/>
                <a:ea typeface="Arial Black"/>
                <a:cs typeface="Arial Black"/>
              </a:rPr>
              <a:t>Live demo: record the cleanup once</a:t>
            </a:r>
          </a:p>
          <a:p>
            <a:pPr>
              <a:spcBef>
                <a:spcPts val="300"/>
              </a:spcBef>
              <a:buNone/>
            </a:pPr>
            <a:r>
              <a:rPr sz="1450" b="0" i="1">
                <a:solidFill>
                  <a:srgbClr val="707070"/>
                </a:solidFill>
                <a:latin typeface="Arial"/>
                <a:ea typeface="Arial"/>
                <a:cs typeface="Arial"/>
              </a:rPr>
              <a:t>Six recorded steps. Every flaw from Monday, fixed in order.</a:t>
            </a:r>
          </a:p>
        </p:txBody>
      </p:sp>
      <p:sp>
        <p:nvSpPr>
          <p:cNvPr id="5" name="Rounded Rectangle 4">
            <a:extLst>
              <a:ext uri="{FF2B5EF4-FFF2-40B4-BE49-F238E27FC236}">
                <a16:creationId xmlns:a16="http://schemas.microsoft.com/office/drawing/2014/main" id="{1E087B50-5C8E-4860-ACBA-C7FC73C4CAF6}"/>
              </a:ext>
            </a:extLst>
          </p:cNvPr>
          <p:cNvSpPr>
            <a:spLocks noGrp="1"/>
          </p:cNvSpPr>
          <p:nvPr/>
        </p:nvSpPr>
        <p:spPr>
          <a:xfrm>
            <a:off x="548640" y="1600200"/>
            <a:ext cx="8229600" cy="4023360"/>
          </a:xfrm>
          <a:prstGeom prst="round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wrap="square" lIns="256032" tIns="182880" rIns="182880" bIns="109728" anchor="t"/>
          <a:lstStyle/>
          <a:p>
            <a:pPr algn="l">
              <a:spcAft>
                <a:spcPts val="100"/>
              </a:spcAft>
              <a:buNone/>
            </a:pPr>
            <a:r>
              <a:rPr sz="1300" b="0" i="0">
                <a:solidFill>
                  <a:srgbClr val="9EC57A"/>
                </a:solidFill>
                <a:latin typeface="Consolas"/>
                <a:ea typeface="Consolas"/>
                <a:cs typeface="Consolas"/>
              </a:rPr>
              <a:t># Record the cleanup once</a:t>
            </a:r>
          </a:p>
          <a:p>
            <a:pPr algn="l">
              <a:spcAft>
                <a:spcPts val="100"/>
              </a:spcAft>
              <a:buNone/>
            </a:pPr>
            <a:r>
              <a:rPr sz="1300" b="0" i="0">
                <a:solidFill>
                  <a:srgbClr val="F5F5F5"/>
                </a:solidFill>
                <a:latin typeface="Consolas"/>
                <a:ea typeface="Consolas"/>
                <a:cs typeface="Consolas"/>
              </a:rPr>
              <a:t>1. Click in RawExport, then Data &gt; From Table/Range</a:t>
            </a:r>
          </a:p>
          <a:p>
            <a:pPr algn="l">
              <a:spcAft>
                <a:spcPts val="100"/>
              </a:spcAft>
              <a:buNone/>
            </a:pPr>
            <a:r>
              <a:rPr sz="1300" b="0" i="0">
                <a:solidFill>
                  <a:srgbClr val="F5F5F5"/>
                </a:solidFill>
                <a:latin typeface="Consolas"/>
                <a:ea typeface="Consolas"/>
                <a:cs typeface="Consolas"/>
              </a:rPr>
              <a:t>2. Filter Order ID: uncheck blanks and TOTAL rows</a:t>
            </a:r>
          </a:p>
          <a:p>
            <a:pPr algn="l">
              <a:spcAft>
                <a:spcPts val="100"/>
              </a:spcAft>
              <a:buNone/>
            </a:pPr>
            <a:r>
              <a:rPr sz="1300" b="0" i="0">
                <a:solidFill>
                  <a:srgbClr val="F5F5F5"/>
                </a:solidFill>
                <a:latin typeface="Consolas"/>
                <a:ea typeface="Consolas"/>
                <a:cs typeface="Consolas"/>
              </a:rPr>
              <a:t>3. Split 'Product - Category' by delimiter ' - '</a:t>
            </a:r>
          </a:p>
          <a:p>
            <a:pPr algn="l">
              <a:spcAft>
                <a:spcPts val="100"/>
              </a:spcAft>
              <a:buNone/>
            </a:pPr>
            <a:r>
              <a:rPr sz="1300" b="0" i="0">
                <a:solidFill>
                  <a:srgbClr val="F5F5F5"/>
                </a:solidFill>
                <a:latin typeface="Consolas"/>
                <a:ea typeface="Consolas"/>
                <a:cs typeface="Consolas"/>
              </a:rPr>
              <a:t>4. Region: Transform &gt; Format &gt; Trim, then Capitalize</a:t>
            </a:r>
          </a:p>
          <a:p>
            <a:pPr algn="l">
              <a:spcAft>
                <a:spcPts val="100"/>
              </a:spcAft>
              <a:buNone/>
            </a:pPr>
            <a:r>
              <a:rPr sz="1300" b="0" i="0">
                <a:solidFill>
                  <a:srgbClr val="F5F5F5"/>
                </a:solidFill>
                <a:latin typeface="Consolas"/>
                <a:ea typeface="Consolas"/>
                <a:cs typeface="Consolas"/>
              </a:rPr>
              <a:t>5. Set types: Date, Whole Number, Currency</a:t>
            </a:r>
          </a:p>
          <a:p>
            <a:pPr algn="l">
              <a:spcAft>
                <a:spcPts val="100"/>
              </a:spcAft>
              <a:buNone/>
            </a:pPr>
            <a:r>
              <a:rPr sz="1300" b="0" i="0">
                <a:solidFill>
                  <a:srgbClr val="F5F5F5"/>
                </a:solidFill>
                <a:latin typeface="Consolas"/>
                <a:ea typeface="Consolas"/>
                <a:cs typeface="Consolas"/>
              </a:rPr>
              <a:t>6. Home &gt; Close &amp; Load To... a table named SalesClean</a:t>
            </a:r>
          </a:p>
        </p:txBody>
      </p:sp>
      <p:sp>
        <p:nvSpPr>
          <p:cNvPr id="6" name="TextBox 5">
            <a:extLst>
              <a:ext uri="{FF2B5EF4-FFF2-40B4-BE49-F238E27FC236}">
                <a16:creationId xmlns:a16="http://schemas.microsoft.com/office/drawing/2014/main" id="{83B28F3B-F658-43C9-8B2C-E0148DC70978}"/>
              </a:ext>
            </a:extLst>
          </p:cNvPr>
          <p:cNvSpPr>
            <a:spLocks noGrp="1"/>
          </p:cNvSpPr>
          <p:nvPr/>
        </p:nvSpPr>
        <p:spPr>
          <a:xfrm>
            <a:off x="548640" y="5806440"/>
            <a:ext cx="8229600" cy="777240"/>
          </a:xfrm>
          <a:prstGeom prst="rect">
            <a:avLst/>
          </a:prstGeom>
          <a:noFill/>
        </p:spPr>
        <p:txBody>
          <a:bodyPr wrap="square" lIns="0" tIns="0" rIns="0" bIns="0">
            <a:spAutoFit/>
          </a:bodyPr>
          <a:lstStyle/>
          <a:p>
            <a:r>
              <a:rPr sz="1300" b="1" i="0">
                <a:solidFill>
                  <a:srgbClr val="CF3338"/>
                </a:solidFill>
                <a:latin typeface="Arial"/>
                <a:ea typeface="Arial"/>
                <a:cs typeface="Arial"/>
              </a:rPr>
              <a:t>• You just wrote a program by clicking</a:t>
            </a:r>
          </a:p>
        </p:txBody>
      </p:sp>
      <p:sp>
        <p:nvSpPr>
          <p:cNvPr id="7" name="Chat question">
            <a:extLst>
              <a:ext uri="{FF2B5EF4-FFF2-40B4-BE49-F238E27FC236}">
                <a16:creationId xmlns:a16="http://schemas.microsoft.com/office/drawing/2014/main" id="{67B14DF5-13CA-4F43-B2DC-D124E388617D}"/>
              </a:ext>
            </a:extLst>
          </p:cNvPr>
          <p:cNvSpPr>
            <a:spLocks noGrp="1"/>
          </p:cNvSpPr>
          <p:nvPr/>
        </p:nvSpPr>
        <p:spPr>
          <a:xfrm>
            <a:off x="9353550" y="2790825"/>
            <a:ext cx="2428875" cy="1362075"/>
          </a:xfrm>
          <a:prstGeom prst="rect">
            <a:avLst/>
          </a:prstGeom>
          <a:noFill/>
          <a:ln w="0">
            <a:noFill/>
          </a:ln>
        </p:spPr>
        <p:txBody>
          <a:bodyPr wrap="square" lIns="0" tIns="0" rIns="0" bIns="0">
            <a:noAutofit/>
          </a:bodyPr>
          <a:lstStyle/>
          <a:p>
            <a:pPr>
              <a:defRPr sz="2175" b="1">
                <a:solidFill>
                  <a:srgbClr val="FFFFFF"/>
                </a:solidFill>
                <a:latin typeface="Arial"/>
                <a:ea typeface="Arial"/>
                <a:cs typeface="Arial"/>
              </a:defRPr>
            </a:pPr>
            <a:r>
              <a:rPr sz="2175" b="1">
                <a:solidFill>
                  <a:srgbClr val="FFFFFF"/>
                </a:solidFill>
                <a:latin typeface="Arial"/>
                <a:ea typeface="Arial"/>
                <a:cs typeface="Arial"/>
              </a:rPr>
              <a:t>Which removes</a:t>
            </a:r>
          </a:p>
          <a:p>
            <a:pPr>
              <a:defRPr sz="2175" b="1">
                <a:solidFill>
                  <a:srgbClr val="FFFFFF"/>
                </a:solidFill>
                <a:latin typeface="Arial"/>
                <a:ea typeface="Arial"/>
                <a:cs typeface="Arial"/>
              </a:defRPr>
            </a:pPr>
            <a:r>
              <a:rPr sz="2175" b="1">
                <a:solidFill>
                  <a:srgbClr val="FFFFFF"/>
                </a:solidFill>
                <a:latin typeface="Arial"/>
                <a:ea typeface="Arial"/>
                <a:cs typeface="Arial"/>
              </a:rPr>
              <a:t>extra spaces?</a:t>
            </a:r>
          </a:p>
        </p:txBody>
      </p:sp>
      <p:sp>
        <p:nvSpPr>
          <p:cNvPr id="8" name="Chat choices">
            <a:extLst>
              <a:ext uri="{FF2B5EF4-FFF2-40B4-BE49-F238E27FC236}">
                <a16:creationId xmlns:a16="http://schemas.microsoft.com/office/drawing/2014/main" id="{750A5F44-3EF7-4810-8173-5CA0A241C08C}"/>
              </a:ext>
            </a:extLst>
          </p:cNvPr>
          <p:cNvSpPr>
            <a:spLocks noGrp="1"/>
          </p:cNvSpPr>
          <p:nvPr/>
        </p:nvSpPr>
        <p:spPr>
          <a:xfrm>
            <a:off x="9353550" y="4362450"/>
            <a:ext cx="2428875" cy="1009650"/>
          </a:xfrm>
          <a:prstGeom prst="rect">
            <a:avLst/>
          </a:prstGeom>
          <a:noFill/>
          <a:ln w="0">
            <a:noFill/>
          </a:ln>
        </p:spPr>
        <p:txBody>
          <a:bodyPr wrap="square" lIns="0" tIns="0" rIns="0" bIns="0">
            <a:noAutofit/>
          </a:bodyPr>
          <a:lstStyle/>
          <a:p>
            <a:pPr>
              <a:defRPr sz="1950" b="1">
                <a:solidFill>
                  <a:srgbClr val="FFFFFF"/>
                </a:solidFill>
                <a:latin typeface="Arial"/>
                <a:ea typeface="Arial"/>
                <a:cs typeface="Arial"/>
              </a:defRPr>
            </a:pPr>
            <a:r>
              <a:rPr sz="1950" b="1">
                <a:solidFill>
                  <a:srgbClr val="FFFFFF"/>
                </a:solidFill>
                <a:latin typeface="Arial"/>
                <a:ea typeface="Arial"/>
                <a:cs typeface="Arial"/>
              </a:rPr>
              <a:t>A = Trim</a:t>
            </a:r>
          </a:p>
          <a:p>
            <a:pPr>
              <a:defRPr sz="1950" b="1">
                <a:solidFill>
                  <a:srgbClr val="FFFFFF"/>
                </a:solidFill>
                <a:latin typeface="Arial"/>
                <a:ea typeface="Arial"/>
                <a:cs typeface="Arial"/>
              </a:defRPr>
            </a:pPr>
            <a:r>
              <a:rPr sz="1950" b="1">
                <a:solidFill>
                  <a:srgbClr val="FFFFFF"/>
                </a:solidFill>
                <a:latin typeface="Arial"/>
                <a:ea typeface="Arial"/>
                <a:cs typeface="Arial"/>
              </a:rPr>
              <a:t>B = Split</a:t>
            </a:r>
          </a:p>
        </p:txBody>
      </p:sp>
      <p:sp>
        <p:nvSpPr>
          <p:cNvPr id="9" name="Chat instruction">
            <a:extLst>
              <a:ext uri="{FF2B5EF4-FFF2-40B4-BE49-F238E27FC236}">
                <a16:creationId xmlns:a16="http://schemas.microsoft.com/office/drawing/2014/main" id="{4945D67C-3449-494B-BA24-FE1B3A7E4664}"/>
              </a:ext>
            </a:extLst>
          </p:cNvPr>
          <p:cNvSpPr>
            <a:spLocks noGrp="1"/>
          </p:cNvSpPr>
          <p:nvPr/>
        </p:nvSpPr>
        <p:spPr>
          <a:xfrm>
            <a:off x="9353550" y="5715000"/>
            <a:ext cx="2428875" cy="609600"/>
          </a:xfrm>
          <a:prstGeom prst="rect">
            <a:avLst/>
          </a:prstGeom>
          <a:noFill/>
          <a:ln w="0">
            <a:noFill/>
          </a:ln>
        </p:spPr>
        <p:txBody>
          <a:bodyPr wrap="square" lIns="0" tIns="0" rIns="0" bIns="0">
            <a:noAutofit/>
          </a:bodyPr>
          <a:lstStyle/>
          <a:p>
            <a:pPr>
              <a:defRPr sz="1500" b="0">
                <a:solidFill>
                  <a:srgbClr val="FFFFFF"/>
                </a:solidFill>
                <a:latin typeface="Arial"/>
                <a:ea typeface="Arial"/>
                <a:cs typeface="Arial"/>
              </a:defRPr>
            </a:pPr>
            <a:r>
              <a:rPr sz="1500" b="0">
                <a:solidFill>
                  <a:srgbClr val="FFFFFF"/>
                </a:solidFill>
                <a:latin typeface="Arial"/>
                <a:ea typeface="Arial"/>
                <a:cs typeface="Arial"/>
              </a:rPr>
              <a:t>Type one word</a:t>
            </a:r>
          </a:p>
          <a:p>
            <a:pPr>
              <a:defRPr sz="1500" b="0">
                <a:solidFill>
                  <a:srgbClr val="FFFFFF"/>
                </a:solidFill>
                <a:latin typeface="Arial"/>
                <a:ea typeface="Arial"/>
                <a:cs typeface="Arial"/>
              </a:defRPr>
            </a:pPr>
            <a:r>
              <a:rPr sz="1500" b="0">
                <a:solidFill>
                  <a:srgbClr val="FFFFFF"/>
                </a:solidFill>
                <a:latin typeface="Arial"/>
                <a:ea typeface="Arial"/>
                <a:cs typeface="Arial"/>
              </a:rPr>
              <a:t>or a letter in chat.</a:t>
            </a:r>
          </a:p>
        </p:txBody>
      </p:sp>
    </p:spTree>
    <p:extLst>
      <p:ext uri="{BB962C8B-B14F-4D97-AF65-F5344CB8AC3E}">
        <p14:creationId xmlns:p14="http://schemas.microsoft.com/office/powerpoint/2010/main" val="212274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1A8C1B-12B8-42C6-A7AD-B0167019C0D4}"/>
              </a:ext>
            </a:extLst>
          </p:cNvPr>
          <p:cNvSpPr>
            <a:spLocks noGrp="1"/>
          </p:cNvSpPr>
          <p:nvPr/>
        </p:nvSpPr>
        <p:spPr>
          <a:xfrm>
            <a:off x="9082735" y="0"/>
            <a:ext cx="3108960" cy="6858000"/>
          </a:xfrm>
          <a:prstGeom prst="rect">
            <a:avLst/>
          </a:prstGeom>
          <a:solidFill>
            <a:srgbClr val="CF3338"/>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TextBox 2">
            <a:extLst>
              <a:ext uri="{FF2B5EF4-FFF2-40B4-BE49-F238E27FC236}">
                <a16:creationId xmlns:a16="http://schemas.microsoft.com/office/drawing/2014/main" id="{04DA7E28-30E2-4E15-9AB8-561E9C1E2578}"/>
              </a:ext>
            </a:extLst>
          </p:cNvPr>
          <p:cNvSpPr>
            <a:spLocks noGrp="1"/>
          </p:cNvSpPr>
          <p:nvPr/>
        </p:nvSpPr>
        <p:spPr>
          <a:xfrm>
            <a:off x="9311335" y="640080"/>
            <a:ext cx="2468880" cy="1828800"/>
          </a:xfrm>
          <a:prstGeom prst="rect">
            <a:avLst/>
          </a:prstGeom>
          <a:noFill/>
        </p:spPr>
        <p:txBody>
          <a:bodyPr wrap="square" lIns="0" tIns="0" rIns="0" bIns="0">
            <a:spAutoFit/>
          </a:bodyPr>
          <a:lstStyle/>
          <a:p>
            <a:r>
              <a:rPr sz="2600" b="1" i="0">
                <a:solidFill>
                  <a:srgbClr val="FFFFFF"/>
                </a:solidFill>
                <a:latin typeface="Arial Black"/>
                <a:ea typeface="Arial Black"/>
                <a:cs typeface="Arial Black"/>
              </a:rPr>
              <a:t>LIVE</a:t>
            </a:r>
          </a:p>
          <a:p>
            <a:r>
              <a:rPr sz="2600" b="1" i="0">
                <a:solidFill>
                  <a:srgbClr val="FFFFFF"/>
                </a:solidFill>
                <a:latin typeface="Arial Black"/>
                <a:ea typeface="Arial Black"/>
                <a:cs typeface="Arial Black"/>
              </a:rPr>
              <a:t>DEMO</a:t>
            </a:r>
          </a:p>
        </p:txBody>
      </p:sp>
      <p:sp>
        <p:nvSpPr>
          <p:cNvPr id="4" name="TextBox 3">
            <a:extLst>
              <a:ext uri="{FF2B5EF4-FFF2-40B4-BE49-F238E27FC236}">
                <a16:creationId xmlns:a16="http://schemas.microsoft.com/office/drawing/2014/main" id="{7D830E3A-10ED-49B5-8DC8-F27548CF4BC6}"/>
              </a:ext>
            </a:extLst>
          </p:cNvPr>
          <p:cNvSpPr>
            <a:spLocks noGrp="1"/>
          </p:cNvSpPr>
          <p:nvPr/>
        </p:nvSpPr>
        <p:spPr>
          <a:xfrm>
            <a:off x="548640" y="411480"/>
            <a:ext cx="8229600" cy="1097280"/>
          </a:xfrm>
          <a:prstGeom prst="rect">
            <a:avLst/>
          </a:prstGeom>
          <a:noFill/>
        </p:spPr>
        <p:txBody>
          <a:bodyPr wrap="square" lIns="0" tIns="0" rIns="0" bIns="0">
            <a:spAutoFit/>
          </a:bodyPr>
          <a:lstStyle/>
          <a:p>
            <a:r>
              <a:rPr sz="2500" b="1" i="0">
                <a:solidFill>
                  <a:srgbClr val="CF3338"/>
                </a:solidFill>
                <a:latin typeface="Arial Black"/>
                <a:ea typeface="Arial Black"/>
                <a:cs typeface="Arial Black"/>
              </a:rPr>
              <a:t>Live demo: the Refresh moment</a:t>
            </a:r>
          </a:p>
          <a:p>
            <a:pPr>
              <a:spcBef>
                <a:spcPts val="300"/>
              </a:spcBef>
              <a:buNone/>
            </a:pPr>
            <a:r>
              <a:rPr sz="1450" b="0" i="1">
                <a:solidFill>
                  <a:srgbClr val="707070"/>
                </a:solidFill>
                <a:latin typeface="Arial"/>
                <a:ea typeface="Arial"/>
                <a:cs typeface="Arial"/>
              </a:rPr>
              <a:t>June just arrived. Watch what does not happen next.</a:t>
            </a:r>
          </a:p>
        </p:txBody>
      </p:sp>
      <p:sp>
        <p:nvSpPr>
          <p:cNvPr id="5" name="Rounded Rectangle 4">
            <a:extLst>
              <a:ext uri="{FF2B5EF4-FFF2-40B4-BE49-F238E27FC236}">
                <a16:creationId xmlns:a16="http://schemas.microsoft.com/office/drawing/2014/main" id="{197DD207-BECD-4D65-840E-F94446854D7C}"/>
              </a:ext>
            </a:extLst>
          </p:cNvPr>
          <p:cNvSpPr>
            <a:spLocks noGrp="1"/>
          </p:cNvSpPr>
          <p:nvPr/>
        </p:nvSpPr>
        <p:spPr>
          <a:xfrm>
            <a:off x="548640" y="1600200"/>
            <a:ext cx="8229600" cy="4023360"/>
          </a:xfrm>
          <a:prstGeom prst="round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wrap="square" lIns="256032" tIns="182880" rIns="182880" bIns="109728" anchor="t"/>
          <a:lstStyle/>
          <a:p>
            <a:pPr algn="l">
              <a:spcAft>
                <a:spcPts val="100"/>
              </a:spcAft>
              <a:buNone/>
            </a:pPr>
            <a:r>
              <a:rPr sz="1300" b="0" i="0">
                <a:solidFill>
                  <a:srgbClr val="9EC57A"/>
                </a:solidFill>
                <a:latin typeface="Consolas"/>
                <a:ea typeface="Consolas"/>
                <a:cs typeface="Consolas"/>
              </a:rPr>
              <a:t># Replay the saved cleanup</a:t>
            </a:r>
          </a:p>
          <a:p>
            <a:pPr algn="l">
              <a:spcAft>
                <a:spcPts val="100"/>
              </a:spcAft>
              <a:buNone/>
            </a:pPr>
            <a:r>
              <a:rPr sz="1300" b="0" i="0">
                <a:solidFill>
                  <a:srgbClr val="F5F5F5"/>
                </a:solidFill>
                <a:latin typeface="Consolas"/>
                <a:ea typeface="Consolas"/>
                <a:cs typeface="Consolas"/>
              </a:rPr>
              <a:t>1. Copy the June rows from the june-rows sheet</a:t>
            </a:r>
          </a:p>
          <a:p>
            <a:pPr algn="l">
              <a:spcAft>
                <a:spcPts val="100"/>
              </a:spcAft>
              <a:buNone/>
            </a:pPr>
            <a:r>
              <a:rPr sz="1300" b="0" i="0">
                <a:solidFill>
                  <a:srgbClr val="F5F5F5"/>
                </a:solidFill>
                <a:latin typeface="Consolas"/>
                <a:ea typeface="Consolas"/>
                <a:cs typeface="Consolas"/>
              </a:rPr>
              <a:t>2. Paste them at the bottom of RawExport</a:t>
            </a:r>
          </a:p>
          <a:p>
            <a:pPr algn="l">
              <a:spcAft>
                <a:spcPts val="100"/>
              </a:spcAft>
              <a:buNone/>
            </a:pPr>
            <a:r>
              <a:rPr sz="1300" b="0" i="0">
                <a:solidFill>
                  <a:srgbClr val="F5F5F5"/>
                </a:solidFill>
                <a:latin typeface="Consolas"/>
                <a:ea typeface="Consolas"/>
                <a:cs typeface="Consolas"/>
              </a:rPr>
              <a:t>3. Right-click the SalesClean table &gt; Refresh</a:t>
            </a:r>
          </a:p>
          <a:p>
            <a:pPr algn="l">
              <a:spcAft>
                <a:spcPts val="100"/>
              </a:spcAft>
              <a:buNone/>
            </a:pPr>
            <a:r>
              <a:rPr sz="1300" b="0" i="0">
                <a:solidFill>
                  <a:srgbClr val="F5F5F5"/>
                </a:solidFill>
                <a:latin typeface="Consolas"/>
                <a:ea typeface="Consolas"/>
                <a:cs typeface="Consolas"/>
              </a:rPr>
              <a:t>4. Every recorded step replays on the new data</a:t>
            </a:r>
          </a:p>
          <a:p>
            <a:pPr algn="l">
              <a:spcAft>
                <a:spcPts val="100"/>
              </a:spcAft>
              <a:buNone/>
            </a:pPr>
            <a:r>
              <a:rPr sz="1300" b="0" i="0">
                <a:solidFill>
                  <a:srgbClr val="F5F5F5"/>
                </a:solidFill>
                <a:latin typeface="Consolas"/>
                <a:ea typeface="Consolas"/>
                <a:cs typeface="Consolas"/>
              </a:rPr>
              <a:t>5. That recurring cleanup chore is now one click</a:t>
            </a:r>
          </a:p>
        </p:txBody>
      </p:sp>
      <p:sp>
        <p:nvSpPr>
          <p:cNvPr id="6" name="TextBox 5">
            <a:extLst>
              <a:ext uri="{FF2B5EF4-FFF2-40B4-BE49-F238E27FC236}">
                <a16:creationId xmlns:a16="http://schemas.microsoft.com/office/drawing/2014/main" id="{DA06A93C-CF98-4E10-BCE1-4DF799414F8A}"/>
              </a:ext>
            </a:extLst>
          </p:cNvPr>
          <p:cNvSpPr>
            <a:spLocks noGrp="1"/>
          </p:cNvSpPr>
          <p:nvPr/>
        </p:nvSpPr>
        <p:spPr>
          <a:xfrm>
            <a:off x="548640" y="5806440"/>
            <a:ext cx="8229600" cy="777240"/>
          </a:xfrm>
          <a:prstGeom prst="rect">
            <a:avLst/>
          </a:prstGeom>
          <a:noFill/>
        </p:spPr>
        <p:txBody>
          <a:bodyPr wrap="square" lIns="0" tIns="0" rIns="0" bIns="0">
            <a:spAutoFit/>
          </a:bodyPr>
          <a:lstStyle/>
          <a:p>
            <a:r>
              <a:rPr sz="1300" b="1" i="0">
                <a:solidFill>
                  <a:srgbClr val="CF3338"/>
                </a:solidFill>
                <a:latin typeface="Arial"/>
                <a:ea typeface="Arial"/>
                <a:cs typeface="Arial"/>
              </a:rPr>
              <a:t>• One hour of Power Query replaces a recurring chore forever</a:t>
            </a:r>
          </a:p>
        </p:txBody>
      </p:sp>
      <p:sp>
        <p:nvSpPr>
          <p:cNvPr id="7" name="Chat question">
            <a:extLst>
              <a:ext uri="{FF2B5EF4-FFF2-40B4-BE49-F238E27FC236}">
                <a16:creationId xmlns:a16="http://schemas.microsoft.com/office/drawing/2014/main" id="{BDD5C390-B66D-460C-911B-9F7C4A6D1D06}"/>
              </a:ext>
            </a:extLst>
          </p:cNvPr>
          <p:cNvSpPr>
            <a:spLocks noGrp="1"/>
          </p:cNvSpPr>
          <p:nvPr/>
        </p:nvSpPr>
        <p:spPr>
          <a:xfrm>
            <a:off x="9353550" y="2790825"/>
            <a:ext cx="2428875" cy="1362075"/>
          </a:xfrm>
          <a:prstGeom prst="rect">
            <a:avLst/>
          </a:prstGeom>
          <a:noFill/>
          <a:ln w="0">
            <a:noFill/>
          </a:ln>
        </p:spPr>
        <p:txBody>
          <a:bodyPr wrap="square" lIns="0" tIns="0" rIns="0" bIns="0">
            <a:noAutofit/>
          </a:bodyPr>
          <a:lstStyle/>
          <a:p>
            <a:pPr>
              <a:defRPr sz="2175" b="1">
                <a:solidFill>
                  <a:srgbClr val="FFFFFF"/>
                </a:solidFill>
                <a:latin typeface="Arial"/>
                <a:ea typeface="Arial"/>
                <a:cs typeface="Arial"/>
              </a:defRPr>
            </a:pPr>
            <a:r>
              <a:rPr sz="2175" b="1">
                <a:solidFill>
                  <a:srgbClr val="FFFFFF"/>
                </a:solidFill>
                <a:latin typeface="Arial"/>
                <a:ea typeface="Arial"/>
                <a:cs typeface="Arial"/>
              </a:rPr>
              <a:t>The next month arrives.</a:t>
            </a:r>
          </a:p>
          <a:p>
            <a:pPr>
              <a:defRPr sz="2175" b="1">
                <a:solidFill>
                  <a:srgbClr val="FFFFFF"/>
                </a:solidFill>
                <a:latin typeface="Arial"/>
                <a:ea typeface="Arial"/>
                <a:cs typeface="Arial"/>
              </a:defRPr>
            </a:pPr>
            <a:r>
              <a:rPr sz="2175" b="1">
                <a:solidFill>
                  <a:srgbClr val="FFFFFF"/>
                </a:solidFill>
                <a:latin typeface="Arial"/>
                <a:ea typeface="Arial"/>
                <a:cs typeface="Arial"/>
              </a:rPr>
              <a:t>What do we do?</a:t>
            </a:r>
          </a:p>
        </p:txBody>
      </p:sp>
      <p:sp>
        <p:nvSpPr>
          <p:cNvPr id="8" name="Chat choices">
            <a:extLst>
              <a:ext uri="{FF2B5EF4-FFF2-40B4-BE49-F238E27FC236}">
                <a16:creationId xmlns:a16="http://schemas.microsoft.com/office/drawing/2014/main" id="{6671A507-9523-4081-A866-1E5589A9088C}"/>
              </a:ext>
            </a:extLst>
          </p:cNvPr>
          <p:cNvSpPr>
            <a:spLocks noGrp="1"/>
          </p:cNvSpPr>
          <p:nvPr/>
        </p:nvSpPr>
        <p:spPr>
          <a:xfrm>
            <a:off x="9353550" y="4362450"/>
            <a:ext cx="2428875" cy="1009650"/>
          </a:xfrm>
          <a:prstGeom prst="rect">
            <a:avLst/>
          </a:prstGeom>
          <a:noFill/>
          <a:ln w="0">
            <a:noFill/>
          </a:ln>
        </p:spPr>
        <p:txBody>
          <a:bodyPr wrap="square" lIns="0" tIns="0" rIns="0" bIns="0">
            <a:noAutofit/>
          </a:bodyPr>
          <a:lstStyle/>
          <a:p>
            <a:pPr>
              <a:defRPr sz="1950" b="1">
                <a:solidFill>
                  <a:srgbClr val="FFFFFF"/>
                </a:solidFill>
                <a:latin typeface="Arial"/>
                <a:ea typeface="Arial"/>
                <a:cs typeface="Arial"/>
              </a:defRPr>
            </a:pPr>
            <a:r>
              <a:rPr sz="1950" b="1">
                <a:solidFill>
                  <a:srgbClr val="FFFFFF"/>
                </a:solidFill>
                <a:latin typeface="Arial"/>
                <a:ea typeface="Arial"/>
                <a:cs typeface="Arial"/>
              </a:rPr>
              <a:t>REDO / REFRESH</a:t>
            </a:r>
          </a:p>
        </p:txBody>
      </p:sp>
      <p:sp>
        <p:nvSpPr>
          <p:cNvPr id="9" name="Chat instruction">
            <a:extLst>
              <a:ext uri="{FF2B5EF4-FFF2-40B4-BE49-F238E27FC236}">
                <a16:creationId xmlns:a16="http://schemas.microsoft.com/office/drawing/2014/main" id="{8F895E34-FF85-4313-B00E-86C34AD70CCE}"/>
              </a:ext>
            </a:extLst>
          </p:cNvPr>
          <p:cNvSpPr>
            <a:spLocks noGrp="1"/>
          </p:cNvSpPr>
          <p:nvPr/>
        </p:nvSpPr>
        <p:spPr>
          <a:xfrm>
            <a:off x="9353550" y="5715000"/>
            <a:ext cx="2428875" cy="609600"/>
          </a:xfrm>
          <a:prstGeom prst="rect">
            <a:avLst/>
          </a:prstGeom>
          <a:noFill/>
          <a:ln w="0">
            <a:noFill/>
          </a:ln>
        </p:spPr>
        <p:txBody>
          <a:bodyPr wrap="square" lIns="0" tIns="0" rIns="0" bIns="0">
            <a:noAutofit/>
          </a:bodyPr>
          <a:lstStyle/>
          <a:p>
            <a:pPr>
              <a:defRPr sz="1500" b="0">
                <a:solidFill>
                  <a:srgbClr val="FFFFFF"/>
                </a:solidFill>
                <a:latin typeface="Arial"/>
                <a:ea typeface="Arial"/>
                <a:cs typeface="Arial"/>
              </a:defRPr>
            </a:pPr>
            <a:r>
              <a:rPr sz="1500" b="0">
                <a:solidFill>
                  <a:srgbClr val="FFFFFF"/>
                </a:solidFill>
                <a:latin typeface="Arial"/>
                <a:ea typeface="Arial"/>
                <a:cs typeface="Arial"/>
              </a:rPr>
              <a:t>Type one word</a:t>
            </a:r>
          </a:p>
          <a:p>
            <a:pPr>
              <a:defRPr sz="1500" b="0">
                <a:solidFill>
                  <a:srgbClr val="FFFFFF"/>
                </a:solidFill>
                <a:latin typeface="Arial"/>
                <a:ea typeface="Arial"/>
                <a:cs typeface="Arial"/>
              </a:defRPr>
            </a:pPr>
            <a:r>
              <a:rPr sz="1500" b="0">
                <a:solidFill>
                  <a:srgbClr val="FFFFFF"/>
                </a:solidFill>
                <a:latin typeface="Arial"/>
                <a:ea typeface="Arial"/>
                <a:cs typeface="Arial"/>
              </a:rPr>
              <a:t>or a letter in chat.</a:t>
            </a:r>
          </a:p>
        </p:txBody>
      </p:sp>
    </p:spTree>
    <p:extLst>
      <p:ext uri="{BB962C8B-B14F-4D97-AF65-F5344CB8AC3E}">
        <p14:creationId xmlns:p14="http://schemas.microsoft.com/office/powerpoint/2010/main" val="1991565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7E7DE8-0C85-4F6F-8C9E-C097752DFD15}"/>
              </a:ext>
            </a:extLst>
          </p:cNvPr>
          <p:cNvSpPr>
            <a:spLocks noGrp="1"/>
          </p:cNvSpPr>
          <p:nvPr/>
        </p:nvSpPr>
        <p:spPr>
          <a:xfrm>
            <a:off x="640080" y="457200"/>
            <a:ext cx="10881360" cy="1188720"/>
          </a:xfrm>
          <a:prstGeom prst="rect">
            <a:avLst/>
          </a:prstGeom>
          <a:noFill/>
        </p:spPr>
        <p:txBody>
          <a:bodyPr wrap="square" lIns="0" tIns="0" rIns="0" bIns="0">
            <a:spAutoFit/>
          </a:bodyPr>
          <a:lstStyle/>
          <a:p>
            <a:r>
              <a:rPr sz="3000" b="1" i="0">
                <a:solidFill>
                  <a:srgbClr val="1F2120"/>
                </a:solidFill>
                <a:latin typeface="Arial Black"/>
                <a:ea typeface="Arial Black"/>
                <a:cs typeface="Arial Black"/>
              </a:rPr>
              <a:t>Why this counts as AI</a:t>
            </a:r>
          </a:p>
          <a:p>
            <a:pPr>
              <a:spcBef>
                <a:spcPts val="400"/>
              </a:spcBef>
              <a:buNone/>
            </a:pPr>
            <a:r>
              <a:rPr sz="1500" b="0" i="1">
                <a:solidFill>
                  <a:srgbClr val="CF3338"/>
                </a:solidFill>
                <a:latin typeface="Arial"/>
                <a:ea typeface="Arial"/>
                <a:cs typeface="Arial"/>
              </a:rPr>
              <a:t>The guerrilla hook, day 3</a:t>
            </a:r>
          </a:p>
        </p:txBody>
      </p:sp>
      <p:sp>
        <p:nvSpPr>
          <p:cNvPr id="3" name="TextBox 2">
            <a:extLst>
              <a:ext uri="{FF2B5EF4-FFF2-40B4-BE49-F238E27FC236}">
                <a16:creationId xmlns:a16="http://schemas.microsoft.com/office/drawing/2014/main" id="{9F6DF208-B834-42EF-A6C3-D32A49612685}"/>
              </a:ext>
            </a:extLst>
          </p:cNvPr>
          <p:cNvSpPr>
            <a:spLocks noGrp="1"/>
          </p:cNvSpPr>
          <p:nvPr/>
        </p:nvSpPr>
        <p:spPr>
          <a:xfrm>
            <a:off x="640080" y="1783080"/>
            <a:ext cx="10881360" cy="1590179"/>
          </a:xfrm>
          <a:prstGeom prst="rect">
            <a:avLst/>
          </a:prstGeom>
          <a:noFill/>
        </p:spPr>
        <p:txBody>
          <a:bodyPr wrap="square" lIns="0" tIns="0" rIns="0" bIns="0">
            <a:spAutoFit/>
          </a:bodyPr>
          <a:lstStyle/>
          <a:p>
            <a:pPr>
              <a:spcAft>
                <a:spcPts val="700"/>
              </a:spcAft>
              <a:buNone/>
            </a:pPr>
            <a:r>
              <a:rPr sz="1200" b="1" i="0" dirty="0">
                <a:solidFill>
                  <a:srgbClr val="CF3338"/>
                </a:solidFill>
                <a:latin typeface="Arial"/>
                <a:ea typeface="Arial"/>
                <a:cs typeface="Arial"/>
              </a:rPr>
              <a:t>• </a:t>
            </a:r>
            <a:r>
              <a:rPr sz="1600" b="0" i="0" dirty="0">
                <a:solidFill>
                  <a:srgbClr val="1F2120"/>
                </a:solidFill>
                <a:latin typeface="Arial"/>
                <a:ea typeface="Arial"/>
                <a:cs typeface="Arial"/>
              </a:rPr>
              <a:t>Power Query delivers what people think they need AI for. Automated, repeatable, refreshable prep, zero AI inside.</a:t>
            </a:r>
          </a:p>
          <a:p>
            <a:pPr>
              <a:spcAft>
                <a:spcPts val="700"/>
              </a:spcAft>
              <a:buNone/>
            </a:pPr>
            <a:r>
              <a:rPr sz="1200" b="1" i="0" dirty="0">
                <a:solidFill>
                  <a:srgbClr val="CF3338"/>
                </a:solidFill>
                <a:latin typeface="Arial"/>
                <a:ea typeface="Arial"/>
                <a:cs typeface="Arial"/>
              </a:rPr>
              <a:t>• </a:t>
            </a:r>
            <a:r>
              <a:rPr sz="1600" b="0" i="0" dirty="0">
                <a:solidFill>
                  <a:srgbClr val="1F2120"/>
                </a:solidFill>
                <a:latin typeface="Arial"/>
                <a:ea typeface="Arial"/>
                <a:cs typeface="Arial"/>
              </a:rPr>
              <a:t>Recorded steps are automation without programming.</a:t>
            </a:r>
          </a:p>
          <a:p>
            <a:pPr>
              <a:spcAft>
                <a:spcPts val="700"/>
              </a:spcAft>
              <a:buNone/>
            </a:pPr>
            <a:r>
              <a:rPr sz="1200" b="1" i="0" dirty="0">
                <a:solidFill>
                  <a:srgbClr val="CF3338"/>
                </a:solidFill>
                <a:latin typeface="Arial"/>
                <a:ea typeface="Arial"/>
                <a:cs typeface="Arial"/>
              </a:rPr>
              <a:t>• </a:t>
            </a:r>
            <a:r>
              <a:rPr sz="1600" b="0" i="0" dirty="0">
                <a:solidFill>
                  <a:srgbClr val="1F2120"/>
                </a:solidFill>
                <a:latin typeface="Arial"/>
                <a:ea typeface="Arial"/>
                <a:cs typeface="Arial"/>
              </a:rPr>
              <a:t>Clean inputs remove avoidable errors. AI output still needs checking.</a:t>
            </a:r>
          </a:p>
          <a:p>
            <a:pPr>
              <a:spcAft>
                <a:spcPts val="700"/>
              </a:spcAft>
              <a:buNone/>
            </a:pPr>
            <a:r>
              <a:rPr sz="1200" b="1" i="0" dirty="0">
                <a:solidFill>
                  <a:srgbClr val="CF3338"/>
                </a:solidFill>
                <a:latin typeface="Arial"/>
                <a:ea typeface="Arial"/>
                <a:cs typeface="Arial"/>
              </a:rPr>
              <a:t>• </a:t>
            </a:r>
            <a:r>
              <a:rPr sz="1600" b="0" i="0" dirty="0">
                <a:solidFill>
                  <a:srgbClr val="1F2120"/>
                </a:solidFill>
                <a:latin typeface="Arial"/>
                <a:ea typeface="Arial"/>
                <a:cs typeface="Arial"/>
              </a:rPr>
              <a:t>Garbage in, confident-sounding garbage out.</a:t>
            </a:r>
          </a:p>
          <a:p>
            <a:pPr>
              <a:spcAft>
                <a:spcPts val="700"/>
              </a:spcAft>
              <a:buNone/>
            </a:pPr>
            <a:r>
              <a:rPr sz="1200" b="1" i="0" dirty="0">
                <a:solidFill>
                  <a:srgbClr val="CF3338"/>
                </a:solidFill>
                <a:latin typeface="Arial"/>
                <a:ea typeface="Arial"/>
                <a:cs typeface="Arial"/>
              </a:rPr>
              <a:t>• </a:t>
            </a:r>
            <a:r>
              <a:rPr sz="1600" b="0" i="0" dirty="0">
                <a:solidFill>
                  <a:srgbClr val="1F2120"/>
                </a:solidFill>
                <a:latin typeface="Arial"/>
                <a:ea typeface="Arial"/>
                <a:cs typeface="Arial"/>
              </a:rPr>
              <a:t>Bonus move: free chatbots write M code, and Power Query is where you paste it.</a:t>
            </a:r>
          </a:p>
        </p:txBody>
      </p:sp>
    </p:spTree>
    <p:extLst>
      <p:ext uri="{BB962C8B-B14F-4D97-AF65-F5344CB8AC3E}">
        <p14:creationId xmlns:p14="http://schemas.microsoft.com/office/powerpoint/2010/main" val="1405853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EECE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CE82E6-82C3-4B76-9491-08B8D1BD23FD}"/>
              </a:ext>
            </a:extLst>
          </p:cNvPr>
          <p:cNvSpPr>
            <a:spLocks noGrp="1"/>
          </p:cNvSpPr>
          <p:nvPr/>
        </p:nvSpPr>
        <p:spPr>
          <a:xfrm>
            <a:off x="640080" y="457200"/>
            <a:ext cx="10881360" cy="1188720"/>
          </a:xfrm>
          <a:prstGeom prst="rect">
            <a:avLst/>
          </a:prstGeom>
          <a:noFill/>
        </p:spPr>
        <p:txBody>
          <a:bodyPr wrap="square" lIns="0" tIns="0" rIns="0" bIns="0">
            <a:spAutoFit/>
          </a:bodyPr>
          <a:lstStyle/>
          <a:p>
            <a:r>
              <a:rPr sz="3000" b="1" i="0">
                <a:solidFill>
                  <a:srgbClr val="1F2120"/>
                </a:solidFill>
                <a:latin typeface="Arial Black"/>
                <a:ea typeface="Arial Black"/>
                <a:cs typeface="Arial Black"/>
              </a:rPr>
              <a:t>Do this at your desk today</a:t>
            </a:r>
          </a:p>
          <a:p>
            <a:pPr>
              <a:spcBef>
                <a:spcPts val="400"/>
              </a:spcBef>
              <a:buNone/>
            </a:pPr>
            <a:r>
              <a:rPr sz="1500" b="0" i="1">
                <a:solidFill>
                  <a:srgbClr val="CF3338"/>
                </a:solidFill>
                <a:latin typeface="Arial"/>
                <a:ea typeface="Arial"/>
                <a:cs typeface="Arial"/>
              </a:rPr>
              <a:t>Choose one small win</a:t>
            </a:r>
          </a:p>
        </p:txBody>
      </p:sp>
      <p:sp>
        <p:nvSpPr>
          <p:cNvPr id="3" name="TextBox 2">
            <a:extLst>
              <a:ext uri="{FF2B5EF4-FFF2-40B4-BE49-F238E27FC236}">
                <a16:creationId xmlns:a16="http://schemas.microsoft.com/office/drawing/2014/main" id="{2317FF43-F7F2-4ECD-AAF7-A45012D2E2A5}"/>
              </a:ext>
            </a:extLst>
          </p:cNvPr>
          <p:cNvSpPr>
            <a:spLocks noGrp="1"/>
          </p:cNvSpPr>
          <p:nvPr/>
        </p:nvSpPr>
        <p:spPr>
          <a:xfrm>
            <a:off x="640080" y="1783080"/>
            <a:ext cx="10881360" cy="2409825"/>
          </a:xfrm>
          <a:prstGeom prst="rect">
            <a:avLst/>
          </a:prstGeom>
          <a:noFill/>
        </p:spPr>
        <p:txBody>
          <a:bodyPr wrap="square" lIns="0" tIns="0" rIns="0" bIns="0">
            <a:spAutoFit/>
          </a:bodyPr>
          <a:lstStyle/>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Pick one recurring export and one cleanup step.</a:t>
            </a:r>
          </a:p>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Record that step in Power Query, then load the result.</a:t>
            </a:r>
          </a:p>
          <a:p>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Next time, refresh it and check that the new rows appear.</a:t>
            </a:r>
          </a:p>
        </p:txBody>
      </p:sp>
    </p:spTree>
    <p:extLst>
      <p:ext uri="{BB962C8B-B14F-4D97-AF65-F5344CB8AC3E}">
        <p14:creationId xmlns:p14="http://schemas.microsoft.com/office/powerpoint/2010/main" val="390310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EBEC6B-2E00-4D59-BCFE-14CAFEF4885B}"/>
              </a:ext>
            </a:extLst>
          </p:cNvPr>
          <p:cNvSpPr>
            <a:spLocks noGrp="1"/>
          </p:cNvSpPr>
          <p:nvPr/>
        </p:nvSpPr>
        <p:spPr>
          <a:xfrm>
            <a:off x="822960" y="2286000"/>
            <a:ext cx="10332720" cy="2743200"/>
          </a:xfrm>
          <a:prstGeom prst="rect">
            <a:avLst/>
          </a:prstGeom>
          <a:noFill/>
        </p:spPr>
        <p:txBody>
          <a:bodyPr wrap="square" lIns="0" tIns="0" rIns="0" bIns="0">
            <a:spAutoFit/>
          </a:bodyPr>
          <a:lstStyle/>
          <a:p>
            <a:r>
              <a:rPr sz="1600" b="1" i="0">
                <a:solidFill>
                  <a:srgbClr val="FFFFFF"/>
                </a:solidFill>
                <a:latin typeface="Arial Black"/>
                <a:ea typeface="Arial Black"/>
                <a:cs typeface="Arial Black"/>
              </a:rPr>
              <a:t>TOMORROW</a:t>
            </a:r>
          </a:p>
          <a:p>
            <a:pPr>
              <a:spcBef>
                <a:spcPts val="800"/>
              </a:spcBef>
              <a:buNone/>
            </a:pPr>
            <a:r>
              <a:rPr sz="3600" b="1" i="0">
                <a:solidFill>
                  <a:srgbClr val="FFFFFF"/>
                </a:solidFill>
                <a:latin typeface="Arial Black"/>
                <a:ea typeface="Arial Black"/>
                <a:cs typeface="Arial Black"/>
              </a:rPr>
              <a:t>A data science lab behind =PY()</a:t>
            </a:r>
          </a:p>
          <a:p>
            <a:pPr>
              <a:spcBef>
                <a:spcPts val="1400"/>
              </a:spcBef>
              <a:buNone/>
            </a:pPr>
            <a:r>
              <a:rPr sz="1800" b="0" i="0">
                <a:solidFill>
                  <a:srgbClr val="FFFFFF"/>
                </a:solidFill>
                <a:latin typeface="Arial"/>
                <a:ea typeface="Arial"/>
                <a:cs typeface="Arial"/>
              </a:rPr>
              <a:t>Python in Excel includes pandas and seaborn on supported Microsoft 365 setups.</a:t>
            </a:r>
          </a:p>
        </p:txBody>
      </p:sp>
    </p:spTree>
    <p:extLst>
      <p:ext uri="{BB962C8B-B14F-4D97-AF65-F5344CB8AC3E}">
        <p14:creationId xmlns:p14="http://schemas.microsoft.com/office/powerpoint/2010/main" val="679941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0FF6DB-B73D-47E8-AC48-FB1DC2608779}"/>
              </a:ext>
            </a:extLst>
          </p:cNvPr>
          <p:cNvSpPr>
            <a:spLocks noGrp="1"/>
          </p:cNvSpPr>
          <p:nvPr/>
        </p:nvSpPr>
        <p:spPr>
          <a:xfrm>
            <a:off x="822960" y="2103120"/>
            <a:ext cx="10515600" cy="2114550"/>
          </a:xfrm>
          <a:prstGeom prst="rect">
            <a:avLst/>
          </a:prstGeom>
          <a:noFill/>
        </p:spPr>
        <p:txBody>
          <a:bodyPr wrap="square" lIns="0" tIns="0" rIns="0" bIns="0">
            <a:spAutoFit/>
          </a:bodyPr>
          <a:lstStyle/>
          <a:p>
            <a:r>
              <a:rPr sz="1600" b="1" i="0">
                <a:solidFill>
                  <a:srgbClr val="FFFFFF"/>
                </a:solidFill>
                <a:latin typeface="Arial Black"/>
                <a:ea typeface="Arial Black"/>
                <a:cs typeface="Arial Black"/>
              </a:rPr>
              <a:t>THANK YOU</a:t>
            </a:r>
          </a:p>
          <a:p>
            <a:pPr>
              <a:spcBef>
                <a:spcPts val="800"/>
              </a:spcBef>
              <a:buNone/>
            </a:pPr>
            <a:r>
              <a:rPr sz="3600" b="1" i="0">
                <a:solidFill>
                  <a:srgbClr val="FFFFFF"/>
                </a:solidFill>
                <a:latin typeface="Arial Black"/>
                <a:ea typeface="Arial Black"/>
                <a:cs typeface="Arial Black"/>
              </a:rPr>
              <a:t>See you tomorrow at noon Eastern</a:t>
            </a:r>
          </a:p>
          <a:p>
            <a:pPr>
              <a:spcBef>
                <a:spcPts val="1400"/>
              </a:spcBef>
              <a:buNone/>
            </a:pPr>
            <a:r>
              <a:rPr sz="1800" b="0" i="0">
                <a:solidFill>
                  <a:srgbClr val="FFFFFF"/>
                </a:solidFill>
                <a:latin typeface="Arial"/>
                <a:ea typeface="Arial"/>
                <a:cs typeface="Arial"/>
              </a:rPr>
              <a:t>Replays live in the Stringfest membership vault.</a:t>
            </a:r>
          </a:p>
        </p:txBody>
      </p:sp>
    </p:spTree>
    <p:extLst>
      <p:ext uri="{BB962C8B-B14F-4D97-AF65-F5344CB8AC3E}">
        <p14:creationId xmlns:p14="http://schemas.microsoft.com/office/powerpoint/2010/main" val="3466276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2288</Words>
  <Application>Microsoft Office PowerPoint</Application>
  <DocSecurity>0</DocSecurity>
  <PresentationFormat>Widescreen</PresentationFormat>
  <Paragraphs>120</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Arial Black</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George Mount</cp:lastModifiedBy>
  <cp:revision>1</cp:revision>
  <dcterms:created xsi:type="dcterms:W3CDTF">2026-09-27T11:02:54Z</dcterms:created>
  <dcterms:modified xsi:type="dcterms:W3CDTF">2026-09-30T11:46:48Z</dcterms:modified>
</cp:coreProperties>
</file>
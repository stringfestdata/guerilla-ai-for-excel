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5e0e059f641a4373" /><Relationship Type="http://schemas.openxmlformats.org/officeDocument/2006/relationships/extended-properties" Target="/docProps/app.xml" Id="R92df550c3eba4307" /><Relationship Type="http://schemas.openxmlformats.org/officeDocument/2006/relationships/officeDocument" Target="/ppt/presentation.xml" Id="R2705e30434064a5d" /></Relationships>
</file>

<file path=ppt/presentation.xml><?xml version="1.0" encoding="utf-8"?>
<p:presentation xmlns:p="http://schemas.openxmlformats.org/presentationml/2006/main">
  <p:sldMasterIdLst>
    <p:sldMasterId xmlns:r="http://schemas.openxmlformats.org/officeDocument/2006/relationships" id="2147483648" r:id="R48ab34a450684667"/>
  </p:sldMasterIdLst>
  <p:notesMasterIdLst>
    <p:notesMasterId xmlns:r="http://schemas.openxmlformats.org/officeDocument/2006/relationships" r:id="R3e2b876308454703"/>
  </p:notesMasterIdLst>
  <p:sldIdLst>
    <p:sldId xmlns:r="http://schemas.openxmlformats.org/officeDocument/2006/relationships" id="256" r:id="R183b4edfc1664971"/>
    <p:sldId xmlns:r="http://schemas.openxmlformats.org/officeDocument/2006/relationships" id="257" r:id="R792557a2ea724868"/>
    <p:sldId xmlns:r="http://schemas.openxmlformats.org/officeDocument/2006/relationships" id="258" r:id="R01cdde5febdf4a5a"/>
    <p:sldId xmlns:r="http://schemas.openxmlformats.org/officeDocument/2006/relationships" id="259" r:id="R25d3556dcc4340a7"/>
    <p:sldId xmlns:r="http://schemas.openxmlformats.org/officeDocument/2006/relationships" id="260" r:id="Rc698a215650642e4"/>
    <p:sldId xmlns:r="http://schemas.openxmlformats.org/officeDocument/2006/relationships" id="261" r:id="R51877d1992d94fad"/>
    <p:sldId xmlns:r="http://schemas.openxmlformats.org/officeDocument/2006/relationships" id="262" r:id="Rf4e91b2eb09f4cc1"/>
    <p:sldId xmlns:r="http://schemas.openxmlformats.org/officeDocument/2006/relationships" id="263" r:id="R8b858562995546c7"/>
    <p:sldId xmlns:r="http://schemas.openxmlformats.org/officeDocument/2006/relationships" id="264" r:id="R1d99fcaccb044f53"/>
  </p:sldIdLst>
  <p:sldSz cx="12191695"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p:slideViewPr>
    <p:cSldViewPr snapToGrid="0" snapToObjects="1">
      <p:cViewPr>
        <p:scale>
          <a:sx xmlns:a="http://schemas.openxmlformats.org/drawingml/2006/main" n="1" d="1"/>
          <a:sy xmlns:a="http://schemas.openxmlformats.org/drawingml/2006/main" n="1" d="1"/>
        </p:scale>
        <p:origin x="0" y="0"/>
      </p:cViewPr>
      <p:guideLst/>
    </p:cSldViewPr>
  </p:slideViewPr>
  <p:gridSpacing cx="76200" cy="76200"/>
</p:viewPr>
</file>

<file path=ppt/_rels/presentation.xml.rels>&#65279;<?xml version="1.0" encoding="utf-8"?><Relationships xmlns="http://schemas.openxmlformats.org/package/2006/relationships"><Relationship Type="http://schemas.openxmlformats.org/officeDocument/2006/relationships/theme" Target="/ppt/theme/theme1.xml" Id="R052544d8bcdd4000" /><Relationship Type="http://schemas.openxmlformats.org/officeDocument/2006/relationships/slideMaster" Target="/ppt/slideMasters/slideMaster1.xml" Id="R48ab34a450684667" /><Relationship Type="http://schemas.openxmlformats.org/officeDocument/2006/relationships/notesMaster" Target="/ppt/notesMasters/notesMaster1.xml" Id="R3e2b876308454703" /><Relationship Type="http://schemas.openxmlformats.org/officeDocument/2006/relationships/presProps" Target="/ppt/presProps.xml" Id="R22e285443b5e42ed" /><Relationship Type="http://schemas.openxmlformats.org/officeDocument/2006/relationships/viewProps" Target="/ppt/viewProps.xml" Id="Reee236d80c214d1a" /><Relationship Type="http://schemas.openxmlformats.org/officeDocument/2006/relationships/tableStyles" Target="/ppt/tableStyles.xml" Id="R3b14f9d6c529438b" /><Relationship Type="http://schemas.openxmlformats.org/officeDocument/2006/relationships/slide" Target="/ppt/slides/slide1.xml" Id="R183b4edfc1664971" /><Relationship Type="http://schemas.openxmlformats.org/officeDocument/2006/relationships/slide" Target="/ppt/slides/slide2.xml" Id="R792557a2ea724868" /><Relationship Type="http://schemas.openxmlformats.org/officeDocument/2006/relationships/slide" Target="/ppt/slides/slide3.xml" Id="R01cdde5febdf4a5a" /><Relationship Type="http://schemas.openxmlformats.org/officeDocument/2006/relationships/slide" Target="/ppt/slides/slide4.xml" Id="R25d3556dcc4340a7" /><Relationship Type="http://schemas.openxmlformats.org/officeDocument/2006/relationships/slide" Target="/ppt/slides/slide5.xml" Id="Rc698a215650642e4" /><Relationship Type="http://schemas.openxmlformats.org/officeDocument/2006/relationships/slide" Target="/ppt/slides/slide6.xml" Id="R51877d1992d94fad" /><Relationship Type="http://schemas.openxmlformats.org/officeDocument/2006/relationships/slide" Target="/ppt/slides/slide7.xml" Id="Rf4e91b2eb09f4cc1" /><Relationship Type="http://schemas.openxmlformats.org/officeDocument/2006/relationships/slide" Target="/ppt/slides/slide8.xml" Id="R8b858562995546c7" /><Relationship Type="http://schemas.openxmlformats.org/officeDocument/2006/relationships/slide" Target="/ppt/slides/slide9.xml" Id="R1d99fcaccb044f53"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8ca2d0ee299e42cd"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1e1e89220fc64370" /><Relationship Type="http://schemas.openxmlformats.org/officeDocument/2006/relationships/notesMaster" Target="/ppt/notesMasters/notesMaster1.xml" Id="R21765ff90ddc4ae8" /></Relationships>
</file>

<file path=ppt/notesSlides/_rels/notesSlide2.xml.rels>&#65279;<?xml version="1.0" encoding="utf-8"?><Relationships xmlns="http://schemas.openxmlformats.org/package/2006/relationships"><Relationship Type="http://schemas.openxmlformats.org/officeDocument/2006/relationships/slide" Target="/ppt/slides/slide2.xml" Id="R4393c003360e4fc5" /><Relationship Type="http://schemas.openxmlformats.org/officeDocument/2006/relationships/notesMaster" Target="/ppt/notesMasters/notesMaster1.xml" Id="R921eff5328704972" /></Relationships>
</file>

<file path=ppt/notesSlides/_rels/notesSlide3.xml.rels>&#65279;<?xml version="1.0" encoding="utf-8"?><Relationships xmlns="http://schemas.openxmlformats.org/package/2006/relationships"><Relationship Type="http://schemas.openxmlformats.org/officeDocument/2006/relationships/slide" Target="/ppt/slides/slide3.xml" Id="Rbaeb2c25a35145ab" /><Relationship Type="http://schemas.openxmlformats.org/officeDocument/2006/relationships/notesMaster" Target="/ppt/notesMasters/notesMaster1.xml" Id="R42004a4fe867460c" /></Relationships>
</file>

<file path=ppt/notesSlides/_rels/notesSlide4.xml.rels>&#65279;<?xml version="1.0" encoding="utf-8"?><Relationships xmlns="http://schemas.openxmlformats.org/package/2006/relationships"><Relationship Type="http://schemas.openxmlformats.org/officeDocument/2006/relationships/slide" Target="/ppt/slides/slide4.xml" Id="Rb571e8a498984f8c" /><Relationship Type="http://schemas.openxmlformats.org/officeDocument/2006/relationships/notesMaster" Target="/ppt/notesMasters/notesMaster1.xml" Id="R3883e648744e4eb4" /></Relationships>
</file>

<file path=ppt/notesSlides/_rels/notesSlide5.xml.rels>&#65279;<?xml version="1.0" encoding="utf-8"?><Relationships xmlns="http://schemas.openxmlformats.org/package/2006/relationships"><Relationship Type="http://schemas.openxmlformats.org/officeDocument/2006/relationships/slide" Target="/ppt/slides/slide5.xml" Id="Rf63a3b83bb73471c" /><Relationship Type="http://schemas.openxmlformats.org/officeDocument/2006/relationships/notesMaster" Target="/ppt/notesMasters/notesMaster1.xml" Id="Rcd1ff74f69864c5e" /></Relationships>
</file>

<file path=ppt/notesSlides/_rels/notesSlide6.xml.rels>&#65279;<?xml version="1.0" encoding="utf-8"?><Relationships xmlns="http://schemas.openxmlformats.org/package/2006/relationships"><Relationship Type="http://schemas.openxmlformats.org/officeDocument/2006/relationships/slide" Target="/ppt/slides/slide6.xml" Id="R671b7858e7da4dc0" /><Relationship Type="http://schemas.openxmlformats.org/officeDocument/2006/relationships/notesMaster" Target="/ppt/notesMasters/notesMaster1.xml" Id="R137323f0aaa84c64" /></Relationships>
</file>

<file path=ppt/notesSlides/_rels/notesSlide7.xml.rels>&#65279;<?xml version="1.0" encoding="utf-8"?><Relationships xmlns="http://schemas.openxmlformats.org/package/2006/relationships"><Relationship Type="http://schemas.openxmlformats.org/officeDocument/2006/relationships/slide" Target="/ppt/slides/slide7.xml" Id="R783ecd7bdf014fa3" /><Relationship Type="http://schemas.openxmlformats.org/officeDocument/2006/relationships/notesMaster" Target="/ppt/notesMasters/notesMaster1.xml" Id="R88124d75c9ef4b36" /></Relationships>
</file>

<file path=ppt/notesSlides/_rels/notesSlide8.xml.rels>&#65279;<?xml version="1.0" encoding="utf-8"?><Relationships xmlns="http://schemas.openxmlformats.org/package/2006/relationships"><Relationship Type="http://schemas.openxmlformats.org/officeDocument/2006/relationships/slide" Target="/ppt/slides/slide8.xml" Id="Ra2f6be0b41f04fe4" /><Relationship Type="http://schemas.openxmlformats.org/officeDocument/2006/relationships/notesMaster" Target="/ppt/notesMasters/notesMaster1.xml" Id="R623d923f11794c0e" /></Relationships>
</file>

<file path=ppt/notesSlides/_rels/notesSlide9.xml.rels>&#65279;<?xml version="1.0" encoding="utf-8"?><Relationships xmlns="http://schemas.openxmlformats.org/package/2006/relationships"><Relationship Type="http://schemas.openxmlformats.org/officeDocument/2006/relationships/slide" Target="/ppt/slides/slide9.xml" Id="Re0a50d49d2dc4558" /><Relationship Type="http://schemas.openxmlformats.org/officeDocument/2006/relationships/notesMaster" Target="/ppt/notesMasters/notesMaster1.xml" Id="R9a8b961d0ed54f14"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Welcome to our final session. Today we make an AI request easier to read, then bring a small table back into Excel. Markdown means plain text with headings and simple formatting. You already know enough to make the choices in today's demo.</a:t>
            </a:r>
          </a:p>
          <a:p xmlns:a="http://schemas.openxmlformats.org/drawingml/2006/main">
            <a:r>
              <a:t/>
            </a:r>
          </a:p>
          <a:p xmlns:a="http://schemas.openxmlformats.org/drawingml/2006/main">
            <a:r>
              <a:t>CHAT CUE (about 0:30; budget 15 seconds total)</a:t>
            </a:r>
          </a:p>
          <a:p xmlns:a="http://schemas.openxmlformats.org/drawingml/2006/main">
            <a:r>
              <a:t>SAY: One word to start: is your usual AI prompt SHORT or DETAILED? Either is fine. Watching is welcome too.</a:t>
            </a:r>
          </a:p>
          <a:p xmlns:a="http://schemas.openxmlformats.org/drawingml/2006/main">
            <a:r>
              <a:t>PAUSE: Wait silently for 8 seconds. Do not repeat the request.</a:t>
            </a:r>
          </a:p>
          <a:p xmlns:a="http://schemas.openxmlformats.org/drawingml/2006/main">
            <a:r>
              <a:t>IF SOMEONE REPLIES: Acknowledge one actual answer. 'We will give the request a clear task and output format.'</a:t>
            </a:r>
          </a:p>
          <a:p xmlns:a="http://schemas.openxmlformats.org/drawingml/2006/main">
            <a:r>
              <a:t>IF CHAT IS QUIET: Say, "I'll start with a short request and make the task clearer." Then continue. Never imply that somebody replied.</a:t>
            </a:r>
          </a:p>
          <a:p xmlns:a="http://schemas.openxmlformats.org/drawingml/2006/main">
            <a:r>
              <a:t>FACILITATION: Acknowledge at most two actual replies, without calling on anyone by name. Accept a letter, a word, or a longer question. If a reply arrives later, acknowledge it at the next natural pause.</a:t>
            </a:r>
          </a:p>
          <a:p xmlns:a="http://schemas.openxmlformats.org/drawingml/2006/main">
            <a:r>
              <a:t/>
            </a:r>
          </a:p>
          <a:p xmlns:a="http://schemas.openxmlformats.org/drawingml/2006/main">
            <a:r>
              <a:t>Keep the opening to 60 seconds. Participation is optional. The learning continues even with no chat replies.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Last recap of the week. Monday, the machine learning already hiding in Excel. Tuesday, tables made the workbook machine-readable. Wednesday, Power Query recorded the cleanup and Refresh replayed it. Yesterday, real Python behind equals PY, with a chatbot writing the code. One thread ran through all of it: the better the machine can read your work, the better every tool performs. Today we apply that same idea to the words you send AI tools, because it turns out prompts have a structure too.</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final guerrilla hook. Behind almost every AI tool you touch is the same plain-text formatting language: Markdown. Hash marks for headings, dashes for bullets, pipes for tables. Chatbot answers are written in it. Copilot emits it. The instruction files that steer AI agents are plain Markdown documents. Which means twenty minutes of syntax buys you two powers. Steering: a prompt with headings and bullet structure is dramatically easier for a model to follow than a wall of text. And portability: tables written in Markdown move cleanly between Excel and any chatbot, in either direction, with no connectors and no licenses. Speaking the machine's language is the cheapest AI upgrade there is. Two demos and then we close out the week.</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CHAT CUE (about 6:00; budget 15 seconds total)</a:t>
            </a:r>
          </a:p>
          <a:p xmlns:a="http://schemas.openxmlformats.org/drawingml/2006/main">
            <a:r>
              <a:t>SAY: Which is easier for you to scan, A for the paragraph or B for headings? Just the letter.</a:t>
            </a:r>
          </a:p>
          <a:p xmlns:a="http://schemas.openxmlformats.org/drawingml/2006/main">
            <a:r>
              <a:t>PAUSE: Wait silently for 8 seconds. Do not repeat the request.</a:t>
            </a:r>
          </a:p>
          <a:p xmlns:a="http://schemas.openxmlformats.org/drawingml/2006/main">
            <a:r>
              <a:t>IF SOMEONE REPLIES: Acknowledge the choice without claiming a model result is guaranteed. Show the Task and Format sections. Compare the actual AI replies for requested content and errors.</a:t>
            </a:r>
          </a:p>
          <a:p xmlns:a="http://schemas.openxmlformats.org/drawingml/2006/main">
            <a:r>
              <a:t>IF CHAT IS QUIET: Say, "I'll use B, headings, so we can find the task and requested format quickly." Then continue. Never imply that somebody replied.</a:t>
            </a:r>
          </a:p>
          <a:p xmlns:a="http://schemas.openxmlformats.org/drawingml/2006/main">
            <a:r>
              <a:t>FACILITATION: Acknowledge at most two actual replies, without calling on anyone by name. Accept a letter, a word, or a longer question. If a reply arrives later, acknowledge it at the next natural pause.</a:t>
            </a:r>
          </a:p>
          <a:p xmlns:a="http://schemas.openxmlformats.org/drawingml/2006/main">
            <a:r>
              <a:t/>
            </a:r>
          </a:p>
          <a:p xmlns:a="http://schemas.openxmlformats.org/drawingml/2006/main">
            <a:r>
              <a:t>Use this cue at the indicated demo pause. Keep the Excel window visible when the prompt refers to its result.</a:t>
            </a:r>
          </a:p>
          <a:p xmlns:a="http://schemas.openxmlformats.org/drawingml/2006/main">
            <a:r>
              <a:t/>
            </a:r>
          </a:p>
          <a:p xmlns:a="http://schemas.openxmlformats.org/drawingml/2006/main">
            <a:r>
              <a:t>ORIGINAL TEACHING SCRIPT</a:t>
            </a:r>
          </a:p>
          <a:p xmlns:a="http://schemas.openxmlformats.org/drawingml/2006/main">
            <a:r>
              <a:t>Demo one. On screen are two prompts asking for the same thing. The first is the blob: summarize this sales data and tell me whats important, followed by a messy paste of the whole export. It is an easy request to start with. The second is structured Markdown. A heading names the job: quarterly regional sales review. A Role section says who to be, an FP&amp;A analyst. A Task section lists three bullets: summarize by region, flag the trailing region, suggest two follow-ups. A Data section carries our regional summary as a clean Markdown table, and a Format section dictates the shape of the answer. I send both to a free chatbot, live. Compare the replies we actually get. Did each answer the task and follow the requested format? Did it use the numbers correctly? These examples differ in detail and data presentation as well as formatting, so do not attribute every difference to Markdown.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CHAT CUE (about 12:00; budget 15 seconds total)</a:t>
            </a:r>
          </a:p>
          <a:p xmlns:a="http://schemas.openxmlformats.org/drawingml/2006/main">
            <a:r>
              <a:t>SAY: Look between the Markdown table columns: is the separator PIPE or COMMA? One word.</a:t>
            </a:r>
          </a:p>
          <a:p xmlns:a="http://schemas.openxmlformats.org/drawingml/2006/main">
            <a:r>
              <a:t>PAUSE: Wait silently for 8 seconds. Do not repeat the request.</a:t>
            </a:r>
          </a:p>
          <a:p xmlns:a="http://schemas.openxmlformats.org/drawingml/2006/main">
            <a:r>
              <a:t>IF SOMEONE REPLIES: PIPE. Show the | character. After splitting, remove the Markdown separator row and empty edge columns, and verify headers and numbers.</a:t>
            </a:r>
          </a:p>
          <a:p xmlns:a="http://schemas.openxmlformats.org/drawingml/2006/main">
            <a:r>
              <a:t>IF CHAT IS QUIET: Say, "It is PIPE, the vertical line between columns. I'll use it in Text to Columns." Then continue. Never imply that somebody replied.</a:t>
            </a:r>
          </a:p>
          <a:p xmlns:a="http://schemas.openxmlformats.org/drawingml/2006/main">
            <a:r>
              <a:t>FACILITATION: Acknowledge at most two actual replies, without calling on anyone by name. Accept a letter, a word, or a longer question. If a reply arrives later, acknowledge it at the next natural pause.</a:t>
            </a:r>
          </a:p>
          <a:p xmlns:a="http://schemas.openxmlformats.org/drawingml/2006/main">
            <a:r>
              <a:t/>
            </a:r>
          </a:p>
          <a:p xmlns:a="http://schemas.openxmlformats.org/drawingml/2006/main">
            <a:r>
              <a:t>Use this cue at the indicated demo pause. Keep the Excel window visible when the prompt refers to its result.</a:t>
            </a:r>
          </a:p>
          <a:p xmlns:a="http://schemas.openxmlformats.org/drawingml/2006/main">
            <a:r>
              <a:t/>
            </a:r>
          </a:p>
          <a:p xmlns:a="http://schemas.openxmlformats.org/drawingml/2006/main">
            <a:r>
              <a:t>ORIGINAL TEACHING SCRIPT</a:t>
            </a:r>
          </a:p>
          <a:p xmlns:a="http://schemas.openxmlformats.org/drawingml/2006/main">
            <a:r>
              <a:t>Demo two, the round-trip. Going out is easy: I copy the RegionSummary table in Excel and paste it straight into the chat. It lands as a table the model reads cleanly, and you saw it handle that table perfectly in demo one. Coming back is the part nobody shows you. I ask the chatbot for its results as a Markdown table, and it returns rows with pipe characters between the columns. I copy that, paste it into a blank area of the sheet, and it lands squashed into one column. Now: Data tab, Text to Columns, Delimited, and the delimiter is the pipe character. Finish, remove the separator row with the dashes and any empty edge columns, then check the headers and numeric values. Copy out, Markdown back, Text to Columns. That is a data pipeline between Excel and any AI tool on earth, built from features that predate all of them.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CHAT CUE (about 16:30; budget 15 seconds total)</a:t>
            </a:r>
          </a:p>
          <a:p xmlns:a="http://schemas.openxmlformats.org/drawingml/2006/main">
            <a:r>
              <a:t>SAY: Pick one improvement for your next prompt: TASK or FORMAT. Type either word.</a:t>
            </a:r>
          </a:p>
          <a:p xmlns:a="http://schemas.openxmlformats.org/drawingml/2006/main">
            <a:r>
              <a:t>PAUSE: Wait silently for 8 seconds. Do not repeat the request.</a:t>
            </a:r>
          </a:p>
          <a:p xmlns:a="http://schemas.openxmlformats.org/drawingml/2006/main">
            <a:r>
              <a:t>IF SOMEONE REPLIES: Acknowledge an actual choice. TASK: say exactly what to do. FORMAT: say how you want the answer returned. Try one change before adding more.</a:t>
            </a:r>
          </a:p>
          <a:p xmlns:a="http://schemas.openxmlformats.org/drawingml/2006/main">
            <a:r>
              <a:t>IF CHAT IS QUIET: Say, "I'll choose FORMAT, for example: return three bullets and a table." Then continue. Never imply that somebody replied.</a:t>
            </a:r>
          </a:p>
          <a:p xmlns:a="http://schemas.openxmlformats.org/drawingml/2006/main">
            <a:r>
              <a:t>FACILITATION: Acknowledge at most two actual replies, without calling on anyone by name. Accept a letter, a word, or a longer question. If a reply arrives later, acknowledge it at the next natural pause.</a:t>
            </a:r>
          </a:p>
          <a:p xmlns:a="http://schemas.openxmlformats.org/drawingml/2006/main">
            <a:r>
              <a:t/>
            </a:r>
          </a:p>
          <a:p xmlns:a="http://schemas.openxmlformats.org/drawingml/2006/main">
            <a:r>
              <a:t>Use this cue before reading the remaining notes.</a:t>
            </a:r>
          </a:p>
          <a:p xmlns:a="http://schemas.openxmlformats.org/drawingml/2006/main">
            <a:r>
              <a:t/>
            </a:r>
          </a:p>
          <a:p xmlns:a="http://schemas.openxmlformats.org/drawingml/2006/main">
            <a:r>
              <a:t>TEACHING SCRIPT
Pick one small next action. You do not need to complete every option. TASK: Add one clear sentence saying what you want the tool to do. FORMAT: Say how to return the answer, such as three bullets or a table. Choose one change, run the prompt, and check the answer.</a:t>
            </a:r>
          </a:p>
          <a:p xmlns:a="http://schemas.openxmlformats.org/drawingml/2006/main">
            <a:r>
              <a:t>Final desk actions of the series. One: take the next real prompt you were going to send anyway and rewrite it with a heading, a bulleted task list, and a Format section, then compare answers. That comparison converts people. Two: paste one small Excel table into a chatbot and ask for the reply as a Markdown table, then bring it home with Text to Columns. Three: save your best prompt as a dot md file. That file is reusable craft, and it is the seed of every agent instruction file you will ever write.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Here is the week in numbers. Five twenty-minute wins. No Copilot license needed for these demos. Feature availability still depends on your existing Excel setup. One genuinely ugly sales export, fully tamed. Monday you found the machine learning already in Excel. Tuesday you made your data machine-readable. Wednesday you recorded the cleanup once and refreshed it forever. Thursday you ran real Python behind equals PY. Today you learned the language that steers all of it. The aim was to get more from tools in your existing setup. Check feature availability with your account and version. So, where next?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Two ways to keep going, and they stack. First, the replays. All five sessions from this week live in the Stringfest Analytics membership vault, along with my full back catalog of recordings. Ten dollars a month, cancel anytime. If you want to rewatch Wednesday with the workbook open in front of you, that is the place. Second, the deeper version. This December I am running AI for Excel in a Week: five live sessions, sixty minutes each, that take everything you saw here further, hands-on, with time to actually build alongside me. If this week was the espresso shot, December is the full pour. The registration link will be in tomorrow's thank-you email, sent to the address you registered with. Membership today, December for depth, or both.</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CHAT CUE (about 18:30; budget 15 seconds total)</a:t>
            </a:r>
          </a:p>
          <a:p xmlns:a="http://schemas.openxmlformats.org/drawingml/2006/main">
            <a:r>
              <a:t>SAY: One last chance to steer the demo: type PROMPT or TABLE if you want that part again. Full questions are welcome too.</a:t>
            </a:r>
          </a:p>
          <a:p xmlns:a="http://schemas.openxmlformats.org/drawingml/2006/main">
            <a:r>
              <a:t>PAUSE: Wait silently for 8 seconds. Do not repeat the request.</a:t>
            </a:r>
          </a:p>
          <a:p xmlns:a="http://schemas.openxmlformats.org/drawingml/2006/main">
            <a:r>
              <a:t>IF SOMEONE REPLIES: Answer one actual request. PROMPT: show Task and Format. TABLE: point to the pipe delimiter and remove the separator row. Thank participants once, without commenting on how many replied.</a:t>
            </a:r>
          </a:p>
          <a:p xmlns:a="http://schemas.openxmlformats.org/drawingml/2006/main">
            <a:r>
              <a:t>IF CHAT IS QUIET: Say, "One useful final check: compare the returned table with the original before using its numbers." Then continue. Never imply that somebody replied.</a:t>
            </a:r>
          </a:p>
          <a:p xmlns:a="http://schemas.openxmlformats.org/drawingml/2006/main">
            <a:r>
              <a:t>FACILITATION: Acknowledge at most two actual replies, without calling on anyone by name. Accept a letter, a word, or a longer question. If a reply arrives later, acknowledge it at the next natural pause.</a:t>
            </a:r>
          </a:p>
          <a:p xmlns:a="http://schemas.openxmlformats.org/drawingml/2006/main">
            <a:r>
              <a:t/>
            </a:r>
          </a:p>
          <a:p xmlns:a="http://schemas.openxmlformats.org/drawingml/2006/main">
            <a:r>
              <a:t>Use this cue before reading the remaining notes.</a:t>
            </a:r>
          </a:p>
          <a:p xmlns:a="http://schemas.openxmlformats.org/drawingml/2006/main">
            <a:r>
              <a:t/>
            </a:r>
          </a:p>
          <a:p xmlns:a="http://schemas.openxmlformats.org/drawingml/2006/main">
            <a:r>
              <a:t>ORIGINAL TEACHING SCRIPT</a:t>
            </a:r>
          </a:p>
          <a:p xmlns:a="http://schemas.openxmlformats.org/drawingml/2006/main">
            <a:r>
              <a:t>That is the series. Thank you, sincerely, for giving me twenty minutes a day of your week. Everything lands in your inbox tomorrow: the files, the links, the membership, and December's cohort. My ask is simple: pick one of the five moves and use it on real work this afternoon, because the move you use within a day is the one you keep. If this week saved you time, tell one coworker who is still cleaning columns by hand. I'm George Mount from Stringfest Analytics. Go be crafty.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5078e7846e844de0"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c9a4d3c022f64ce6"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0b8a526938df4b36"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3fad78c074354a94"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b0459317dba64ef4"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a254eaf24417467d" /></Relationships>
</file>

<file path=ppt/slideLayouts/_rels/slideLayout7.xml.rels>&#65279;<?xml version="1.0" encoding="utf-8"?><Relationships xmlns="http://schemas.openxmlformats.org/package/2006/relationships"><Relationship Type="http://schemas.openxmlformats.org/officeDocument/2006/relationships/slideMaster" Target="/ppt/slideMasters/slideMaster1.xml" Id="R7ec466584c124d3e" /></Relationships>
</file>

<file path=ppt/slideLayouts/_rels/slideLayout8.xml.rels>&#65279;<?xml version="1.0" encoding="utf-8"?><Relationships xmlns="http://schemas.openxmlformats.org/package/2006/relationships"><Relationship Type="http://schemas.openxmlformats.org/officeDocument/2006/relationships/slideMaster" Target="/ppt/slideMasters/slideMaster1.xml" Id="R0c15c804198a410d" /></Relationships>
</file>

<file path=ppt/slideLayouts/_rels/slideLayout9.xml.rels>&#65279;<?xml version="1.0" encoding="utf-8"?><Relationships xmlns="http://schemas.openxmlformats.org/package/2006/relationships"><Relationship Type="http://schemas.openxmlformats.org/officeDocument/2006/relationships/slideMaster" Target="/ppt/slideMasters/slideMaster1.xml" Id="Rf63691991eb94020" /></Relationships>
</file>

<file path=ppt/slideLayouts/_rels/slideLayout10.xml.rels>&#65279;<?xml version="1.0" encoding="utf-8"?><Relationships xmlns="http://schemas.openxmlformats.org/package/2006/relationships"><Relationship Type="http://schemas.openxmlformats.org/officeDocument/2006/relationships/slideMaster" Target="/ppt/slideMasters/slideMaster1.xml" Id="R01f2cc2f24294cc7" /></Relationships>
</file>

<file path=ppt/slideLayouts/_rels/slideLayout11.xml.rels>&#65279;<?xml version="1.0" encoding="utf-8"?><Relationships xmlns="http://schemas.openxmlformats.org/package/2006/relationships"><Relationship Type="http://schemas.openxmlformats.org/officeDocument/2006/relationships/slideMaster" Target="/ppt/slideMasters/slideMaster1.xml" Id="R01d3e3a20d464c6c" /></Relationships>
</file>

<file path=ppt/slideLayouts/slideLayout1.xml><?xml version="1.0" encoding="utf-8"?>
<p:sldLayout xmlns:p="http://schemas.openxmlformats.org/presentationml/2006/main" type="title" preserve="1">
  <p:cSld name="Title Slide">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EB409EFA-843A-4CD9-9435-2F705192D125}"/>
              </a:ext>
            </a:extLst>
          </p:cNvPr>
          <p:cNvSpPr>
            <a:spLocks xmlns:a="http://schemas.openxmlformats.org/drawingml/2006/main" noGrp="1"/>
          </p:cNvSpPr>
          <p:nvPr>
            <p:ph type="ctrTitle" idx="0"/>
          </p:nvPr>
        </p:nvSpPr>
        <p:spPr>
          <a:xfrm xmlns:a="http://schemas.openxmlformats.org/drawingml/2006/main">
            <a:off x="685800" y="2130425"/>
            <a:ext cx="7772400" cy="1470025"/>
          </a:xfrm>
        </p:spPr>
        <p:txBody>
          <a:bodyPr xmlns:a="http://schemas.openxmlformats.org/drawingml/2006/main"/>
          <a:lstStyle xmlns:a="http://schemas.openxmlformats.org/drawingml/2006/main"/>
          <a:p xmlns:a="http://schemas.openxmlformats.org/drawingml/2006/main">
            <a:r>
              <a:t>Click to edit Master title style</a:t>
            </a:r>
            <a:endParaRPr/>
          </a:p>
        </p:txBody>
      </p:sp>
      <p:sp>
        <p:nvSpPr>
          <p:cNvPr id="3" name="Subtitle 2">
            <a:extLst xmlns:a="http://schemas.openxmlformats.org/drawingml/2006/main">
              <a:ext uri="{FF2B5EF4-FFF2-40B4-BE49-F238E27FC236}">
                <a16:creationId xmlns:a16="http://schemas.microsoft.com/office/drawing/2014/main" id="{88828987-BA29-4417-BFC0-24B257F66ED7}"/>
              </a:ext>
            </a:extLst>
          </p:cNvPr>
          <p:cNvSpPr>
            <a:spLocks xmlns:a="http://schemas.openxmlformats.org/drawingml/2006/main" noGrp="1"/>
          </p:cNvSpPr>
          <p:nvPr>
            <p:ph type="subTitle" idx="1"/>
          </p:nvPr>
        </p:nvSpPr>
        <p:spPr>
          <a:xfrm xmlns:a="http://schemas.openxmlformats.org/drawingml/2006/main">
            <a:off x="1371600" y="3886200"/>
            <a:ext cx="6400800" cy="1752600"/>
          </a:xfrm>
        </p:spPr>
        <p:txBody>
          <a:bodyPr xmlns:a="http://schemas.openxmlformats.org/drawingml/2006/main"/>
          <a:lstStyle xmlns:a="http://schemas.openxmlformats.org/drawingml/2006/main">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xmlns:a="http://schemas.openxmlformats.org/drawingml/2006/main">
            <a:r>
              <a:t>Click to edit Master subtitle style</a:t>
            </a:r>
            <a:endParaRPr/>
          </a:p>
        </p:txBody>
      </p:sp>
      <p:sp>
        <p:nvSpPr>
          <p:cNvPr id="4" name="Date Placeholder 3">
            <a:extLst xmlns:a="http://schemas.openxmlformats.org/drawingml/2006/main">
              <a:ext uri="{FF2B5EF4-FFF2-40B4-BE49-F238E27FC236}">
                <a16:creationId xmlns:a16="http://schemas.microsoft.com/office/drawing/2014/main" id="{085131C1-ACBF-47F2-91DF-74E44E1D3E50}"/>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5BCAD085-E8A6-8845-BD4E-CB4CCA059FC4}" type="datetimeFigureOut">
              <a:t>1/27/13</a:t>
            </a:fld>
            <a:endParaRPr/>
          </a:p>
        </p:txBody>
      </p:sp>
      <p:sp>
        <p:nvSpPr>
          <p:cNvPr id="5" name="Footer Placeholder 4">
            <a:extLst xmlns:a="http://schemas.openxmlformats.org/drawingml/2006/main">
              <a:ext uri="{FF2B5EF4-FFF2-40B4-BE49-F238E27FC236}">
                <a16:creationId xmlns:a16="http://schemas.microsoft.com/office/drawing/2014/main" id="{54777E38-A468-4D6A-9B05-480B3F60C990}"/>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6" name="Slide Number Placeholder 5">
            <a:extLst xmlns:a="http://schemas.openxmlformats.org/drawingml/2006/main">
              <a:ext uri="{FF2B5EF4-FFF2-40B4-BE49-F238E27FC236}">
                <a16:creationId xmlns:a16="http://schemas.microsoft.com/office/drawing/2014/main" id="{D4FEC2CA-8413-4061-8076-DB1AAB4ED228}"/>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C1FF6DA9-008F-8B48-92A6-B652298478BF}" type="slidenum">
              <a:t>‹#›</a:t>
            </a:fld>
            <a:endParaRPr/>
          </a:p>
        </p:txBody>
      </p:sp>
    </p:spTree>
  </p:cSld>
</p:sldLayout>
</file>

<file path=ppt/slideLayouts/slideLayout2.xml><?xml version="1.0" encoding="utf-8"?>
<p:sldLayout xmlns:p="http://schemas.openxmlformats.org/presentationml/2006/main" type="obj" preserve="1">
  <p:cSld name="Title and Content">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32FB9EE8-FCAC-404E-A5BC-67A80D86572F}"/>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Click to edit Master title style</a:t>
            </a:r>
            <a:endParaRPr/>
          </a:p>
        </p:txBody>
      </p:sp>
      <p:sp>
        <p:nvSpPr>
          <p:cNvPr id="3" name="Content Placeholder 2">
            <a:extLst xmlns:a="http://schemas.openxmlformats.org/drawingml/2006/main">
              <a:ext uri="{FF2B5EF4-FFF2-40B4-BE49-F238E27FC236}">
                <a16:creationId xmlns:a16="http://schemas.microsoft.com/office/drawing/2014/main" id="{2E8F3A60-202B-4207-8443-651DA65D026E}"/>
              </a:ext>
            </a:extLst>
          </p:cNvPr>
          <p:cNvSpPr>
            <a:spLocks xmlns:a="http://schemas.openxmlformats.org/drawingml/2006/main" noGrp="1"/>
          </p:cNvSpPr>
          <p:nvPr>
            <p:ph idx="1"/>
          </p:nvPr>
        </p:nvSpPr>
        <p:spPr/>
        <p:txBody>
          <a:bodyPr xmlns:a="http://schemas.openxmlformats.org/drawingml/2006/main"/>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4" name="Date Placeholder 3">
            <a:extLst xmlns:a="http://schemas.openxmlformats.org/drawingml/2006/main">
              <a:ext uri="{FF2B5EF4-FFF2-40B4-BE49-F238E27FC236}">
                <a16:creationId xmlns:a16="http://schemas.microsoft.com/office/drawing/2014/main" id="{2C50490D-47E5-44CB-9E86-1503876D4934}"/>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5BCAD085-E8A6-8845-BD4E-CB4CCA059FC4}" type="datetimeFigureOut">
              <a:t>1/27/13</a:t>
            </a:fld>
            <a:endParaRPr/>
          </a:p>
        </p:txBody>
      </p:sp>
      <p:sp>
        <p:nvSpPr>
          <p:cNvPr id="5" name="Footer Placeholder 4">
            <a:extLst xmlns:a="http://schemas.openxmlformats.org/drawingml/2006/main">
              <a:ext uri="{FF2B5EF4-FFF2-40B4-BE49-F238E27FC236}">
                <a16:creationId xmlns:a16="http://schemas.microsoft.com/office/drawing/2014/main" id="{A3A178FD-B7E1-44C4-A8B1-BDE27CF33D15}"/>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6" name="Slide Number Placeholder 5">
            <a:extLst xmlns:a="http://schemas.openxmlformats.org/drawingml/2006/main">
              <a:ext uri="{FF2B5EF4-FFF2-40B4-BE49-F238E27FC236}">
                <a16:creationId xmlns:a16="http://schemas.microsoft.com/office/drawing/2014/main" id="{677C3F77-A9B3-4296-8C2C-75141537A376}"/>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C1FF6DA9-008F-8B48-92A6-B652298478BF}" type="slidenum">
              <a:t>‹#›</a:t>
            </a:fld>
            <a:endParaRPr/>
          </a:p>
        </p:txBody>
      </p:sp>
    </p:spTree>
  </p:cSld>
</p:sldLayout>
</file>

<file path=ppt/slideLayouts/slideLayout3.xml><?xml version="1.0" encoding="utf-8"?>
<p:sldLayout xmlns:p="http://schemas.openxmlformats.org/presentationml/2006/main" type="secHead" preserve="1">
  <p:cSld name="Section Header">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4EBA5C43-9C39-49CA-984F-FE989378EB6F}"/>
              </a:ext>
            </a:extLst>
          </p:cNvPr>
          <p:cNvSpPr>
            <a:spLocks xmlns:a="http://schemas.openxmlformats.org/drawingml/2006/main" noGrp="1"/>
          </p:cNvSpPr>
          <p:nvPr>
            <p:ph type="title" idx="0"/>
          </p:nvPr>
        </p:nvSpPr>
        <p:spPr>
          <a:xfrm xmlns:a="http://schemas.openxmlformats.org/drawingml/2006/main">
            <a:off x="722313" y="4406900"/>
            <a:ext cx="7772400" cy="1362075"/>
          </a:xfrm>
        </p:spPr>
        <p:txBody>
          <a:bodyPr xmlns:a="http://schemas.openxmlformats.org/drawingml/2006/main" anchor="t"/>
          <a:lstStyle xmlns:a="http://schemas.openxmlformats.org/drawingml/2006/main">
            <a:lvl1pPr algn="l">
              <a:buNone/>
              <a:defRPr sz="4000" b="1" cap="all"/>
            </a:lvl1pPr>
          </a:lstStyle>
          <a:p xmlns:a="http://schemas.openxmlformats.org/drawingml/2006/main">
            <a:r>
              <a:t>Click to edit Master title style</a:t>
            </a:r>
            <a:endParaRPr/>
          </a:p>
        </p:txBody>
      </p:sp>
      <p:sp>
        <p:nvSpPr>
          <p:cNvPr id="3" name="Text Placeholder 2">
            <a:extLst xmlns:a="http://schemas.openxmlformats.org/drawingml/2006/main">
              <a:ext uri="{FF2B5EF4-FFF2-40B4-BE49-F238E27FC236}">
                <a16:creationId xmlns:a16="http://schemas.microsoft.com/office/drawing/2014/main" id="{44C72FCD-8127-4054-9E93-1A15953B7696}"/>
              </a:ext>
            </a:extLst>
          </p:cNvPr>
          <p:cNvSpPr>
            <a:spLocks xmlns:a="http://schemas.openxmlformats.org/drawingml/2006/main" noGrp="1"/>
          </p:cNvSpPr>
          <p:nvPr>
            <p:ph type="body" idx="1"/>
          </p:nvPr>
        </p:nvSpPr>
        <p:spPr>
          <a:xfrm xmlns:a="http://schemas.openxmlformats.org/drawingml/2006/main">
            <a:off x="722313" y="2906713"/>
            <a:ext cx="7772400" cy="1500187"/>
          </a:xfrm>
        </p:spPr>
        <p:txBody>
          <a:bodyPr xmlns:a="http://schemas.openxmlformats.org/drawingml/2006/main" anchor="b"/>
          <a:lstStyle xmlns:a="http://schemas.openxmlformats.org/drawingml/2006/main">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xmlns:a="http://schemas.openxmlformats.org/drawingml/2006/main">
            <a:pPr lvl="0">
              <a:buNone/>
            </a:pPr>
            <a:r>
              <a:t>Click to edit Master text styles</a:t>
            </a:r>
          </a:p>
        </p:txBody>
      </p:sp>
      <p:sp>
        <p:nvSpPr>
          <p:cNvPr id="4" name="Date Placeholder 3">
            <a:extLst xmlns:a="http://schemas.openxmlformats.org/drawingml/2006/main">
              <a:ext uri="{FF2B5EF4-FFF2-40B4-BE49-F238E27FC236}">
                <a16:creationId xmlns:a16="http://schemas.microsoft.com/office/drawing/2014/main" id="{C6E68B84-055C-4A6A-8A7E-CED51E9763E5}"/>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5BCAD085-E8A6-8845-BD4E-CB4CCA059FC4}" type="datetimeFigureOut">
              <a:t>1/27/13</a:t>
            </a:fld>
            <a:endParaRPr/>
          </a:p>
        </p:txBody>
      </p:sp>
      <p:sp>
        <p:nvSpPr>
          <p:cNvPr id="5" name="Footer Placeholder 4">
            <a:extLst xmlns:a="http://schemas.openxmlformats.org/drawingml/2006/main">
              <a:ext uri="{FF2B5EF4-FFF2-40B4-BE49-F238E27FC236}">
                <a16:creationId xmlns:a16="http://schemas.microsoft.com/office/drawing/2014/main" id="{907E7D56-F46F-4BF9-94D2-CF61C0058AF7}"/>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6" name="Slide Number Placeholder 5">
            <a:extLst xmlns:a="http://schemas.openxmlformats.org/drawingml/2006/main">
              <a:ext uri="{FF2B5EF4-FFF2-40B4-BE49-F238E27FC236}">
                <a16:creationId xmlns:a16="http://schemas.microsoft.com/office/drawing/2014/main" id="{B4879584-BB77-40B3-A389-6815BCA31640}"/>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C1FF6DA9-008F-8B48-92A6-B652298478BF}" type="slidenum">
              <a:t>‹#›</a:t>
            </a:fld>
            <a:endParaRPr/>
          </a:p>
        </p:txBody>
      </p:sp>
    </p:spTree>
  </p:cSld>
</p:sldLayout>
</file>

<file path=ppt/slideLayouts/slideLayout4.xml><?xml version="1.0" encoding="utf-8"?>
<p:sldLayout xmlns:p="http://schemas.openxmlformats.org/presentationml/2006/main" type="twoObj" preserve="1">
  <p:cSld name="Two Content">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0DE55062-3D25-4918-8ADD-484BDA79944B}"/>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Click to edit Master title style</a:t>
            </a:r>
            <a:endParaRPr/>
          </a:p>
        </p:txBody>
      </p:sp>
      <p:sp>
        <p:nvSpPr>
          <p:cNvPr id="3" name="Content Placeholder 2">
            <a:extLst xmlns:a="http://schemas.openxmlformats.org/drawingml/2006/main">
              <a:ext uri="{FF2B5EF4-FFF2-40B4-BE49-F238E27FC236}">
                <a16:creationId xmlns:a16="http://schemas.microsoft.com/office/drawing/2014/main" id="{7260FCC6-80F8-4770-B317-FAE6788EA719}"/>
              </a:ext>
            </a:extLst>
          </p:cNvPr>
          <p:cNvSpPr>
            <a:spLocks xmlns:a="http://schemas.openxmlformats.org/drawingml/2006/main" noGrp="1"/>
          </p:cNvSpPr>
          <p:nvPr>
            <p:ph idx="1"/>
          </p:nvPr>
        </p:nvSpPr>
        <p:spPr>
          <a:xfrm xmlns:a="http://schemas.openxmlformats.org/drawingml/2006/main">
            <a:off x="457200" y="1600200"/>
            <a:ext cx="4038600" cy="4525963"/>
          </a:xfrm>
        </p:spPr>
        <p:txBody>
          <a:bodyPr xmlns:a="http://schemas.openxmlformats.org/drawingml/2006/main"/>
          <a:lstStyle xmlns:a="http://schemas.openxmlformats.org/drawingml/2006/main">
            <a:lvl1pPr>
              <a:buNone/>
              <a:defRPr sz="2800"/>
            </a:lvl1pPr>
            <a:lvl2pPr>
              <a:buNone/>
              <a:defRPr sz="2400"/>
            </a:lvl2pPr>
            <a:lvl3pPr>
              <a:buNone/>
              <a:defRPr sz="2000"/>
            </a:lvl3pPr>
            <a:lvl4pPr>
              <a:buNone/>
              <a:defRPr sz="1800"/>
            </a:lvl4pPr>
            <a:lvl5pPr>
              <a:buNone/>
              <a:defRPr sz="1800"/>
            </a:lvl5pPr>
            <a:lvl6pPr>
              <a:buNone/>
              <a:defRPr sz="1800"/>
            </a:lvl6pPr>
            <a:lvl7pPr>
              <a:buNone/>
              <a:defRPr sz="1800"/>
            </a:lvl7pPr>
            <a:lvl8pPr>
              <a:buNone/>
              <a:defRPr sz="1800"/>
            </a:lvl8pPr>
            <a:lvl9pPr>
              <a:buNone/>
              <a:defRPr sz="1800"/>
            </a:lvl9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4" name="Content Placeholder 3">
            <a:extLst xmlns:a="http://schemas.openxmlformats.org/drawingml/2006/main">
              <a:ext uri="{FF2B5EF4-FFF2-40B4-BE49-F238E27FC236}">
                <a16:creationId xmlns:a16="http://schemas.microsoft.com/office/drawing/2014/main" id="{2580093B-4BB8-4DF6-A028-27C8EAACABBF}"/>
              </a:ext>
            </a:extLst>
          </p:cNvPr>
          <p:cNvSpPr>
            <a:spLocks xmlns:a="http://schemas.openxmlformats.org/drawingml/2006/main" noGrp="1"/>
          </p:cNvSpPr>
          <p:nvPr>
            <p:ph idx="2"/>
          </p:nvPr>
        </p:nvSpPr>
        <p:spPr>
          <a:xfrm xmlns:a="http://schemas.openxmlformats.org/drawingml/2006/main">
            <a:off x="4648200" y="1600200"/>
            <a:ext cx="4038600" cy="4525963"/>
          </a:xfrm>
        </p:spPr>
        <p:txBody>
          <a:bodyPr xmlns:a="http://schemas.openxmlformats.org/drawingml/2006/main"/>
          <a:lstStyle xmlns:a="http://schemas.openxmlformats.org/drawingml/2006/main">
            <a:lvl1pPr>
              <a:buNone/>
              <a:defRPr sz="2800"/>
            </a:lvl1pPr>
            <a:lvl2pPr>
              <a:buNone/>
              <a:defRPr sz="2400"/>
            </a:lvl2pPr>
            <a:lvl3pPr>
              <a:buNone/>
              <a:defRPr sz="2000"/>
            </a:lvl3pPr>
            <a:lvl4pPr>
              <a:buNone/>
              <a:defRPr sz="1800"/>
            </a:lvl4pPr>
            <a:lvl5pPr>
              <a:buNone/>
              <a:defRPr sz="1800"/>
            </a:lvl5pPr>
            <a:lvl6pPr>
              <a:buNone/>
              <a:defRPr sz="1800"/>
            </a:lvl6pPr>
            <a:lvl7pPr>
              <a:buNone/>
              <a:defRPr sz="1800"/>
            </a:lvl7pPr>
            <a:lvl8pPr>
              <a:buNone/>
              <a:defRPr sz="1800"/>
            </a:lvl8pPr>
            <a:lvl9pPr>
              <a:buNone/>
              <a:defRPr sz="1800"/>
            </a:lvl9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5" name="Date Placeholder 4">
            <a:extLst xmlns:a="http://schemas.openxmlformats.org/drawingml/2006/main">
              <a:ext uri="{FF2B5EF4-FFF2-40B4-BE49-F238E27FC236}">
                <a16:creationId xmlns:a16="http://schemas.microsoft.com/office/drawing/2014/main" id="{4374880C-7897-4BB6-B3BF-7A3539AFCF73}"/>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5BCAD085-E8A6-8845-BD4E-CB4CCA059FC4}" type="datetimeFigureOut">
              <a:t>1/27/13</a:t>
            </a:fld>
            <a:endParaRPr/>
          </a:p>
        </p:txBody>
      </p:sp>
      <p:sp>
        <p:nvSpPr>
          <p:cNvPr id="6" name="Footer Placeholder 5">
            <a:extLst xmlns:a="http://schemas.openxmlformats.org/drawingml/2006/main">
              <a:ext uri="{FF2B5EF4-FFF2-40B4-BE49-F238E27FC236}">
                <a16:creationId xmlns:a16="http://schemas.microsoft.com/office/drawing/2014/main" id="{B15915DB-4627-4677-9647-65DBC56E0404}"/>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7" name="Slide Number Placeholder 6">
            <a:extLst xmlns:a="http://schemas.openxmlformats.org/drawingml/2006/main">
              <a:ext uri="{FF2B5EF4-FFF2-40B4-BE49-F238E27FC236}">
                <a16:creationId xmlns:a16="http://schemas.microsoft.com/office/drawing/2014/main" id="{ABCA56A8-CCB6-47D3-966B-1D3971EDBA93}"/>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C1FF6DA9-008F-8B48-92A6-B652298478BF}" type="slidenum">
              <a:t>‹#›</a:t>
            </a:fld>
            <a:endParaRPr/>
          </a:p>
        </p:txBody>
      </p:sp>
    </p:spTree>
  </p:cSld>
</p:sldLayout>
</file>

<file path=ppt/slideLayouts/slideLayout5.xml><?xml version="1.0" encoding="utf-8"?>
<p:sldLayout xmlns:p="http://schemas.openxmlformats.org/presentationml/2006/main" type="twoTxTwoObj" preserve="1">
  <p:cSld name="Comparison">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C4F68CFE-A197-4E77-808D-D0102251AD7C}"/>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lvl1pPr>
              <a:buNone/>
              <a:defRPr/>
            </a:lvl1pPr>
          </a:lstStyle>
          <a:p xmlns:a="http://schemas.openxmlformats.org/drawingml/2006/main">
            <a:r>
              <a:t>Click to edit Master title style</a:t>
            </a:r>
            <a:endParaRPr/>
          </a:p>
        </p:txBody>
      </p:sp>
      <p:sp>
        <p:nvSpPr>
          <p:cNvPr id="3" name="Text Placeholder 2">
            <a:extLst xmlns:a="http://schemas.openxmlformats.org/drawingml/2006/main">
              <a:ext uri="{FF2B5EF4-FFF2-40B4-BE49-F238E27FC236}">
                <a16:creationId xmlns:a16="http://schemas.microsoft.com/office/drawing/2014/main" id="{1D4D4FD1-314D-4A84-A46D-9E847A9666C1}"/>
              </a:ext>
            </a:extLst>
          </p:cNvPr>
          <p:cNvSpPr>
            <a:spLocks xmlns:a="http://schemas.openxmlformats.org/drawingml/2006/main" noGrp="1"/>
          </p:cNvSpPr>
          <p:nvPr>
            <p:ph type="body" idx="1"/>
          </p:nvPr>
        </p:nvSpPr>
        <p:spPr>
          <a:xfrm xmlns:a="http://schemas.openxmlformats.org/drawingml/2006/main">
            <a:off x="457200" y="1535113"/>
            <a:ext cx="4040188" cy="639762"/>
          </a:xfrm>
        </p:spPr>
        <p:txBody>
          <a:bodyPr xmlns:a="http://schemas.openxmlformats.org/drawingml/2006/main" anchor="b"/>
          <a:lstStyle xmlns:a="http://schemas.openxmlformats.org/drawingml/2006/main">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xmlns:a="http://schemas.openxmlformats.org/drawingml/2006/main">
            <a:pPr lvl="0">
              <a:buNone/>
            </a:pPr>
            <a:r>
              <a:t>Click to edit Master text styles</a:t>
            </a:r>
          </a:p>
        </p:txBody>
      </p:sp>
      <p:sp>
        <p:nvSpPr>
          <p:cNvPr id="4" name="Content Placeholder 3">
            <a:extLst xmlns:a="http://schemas.openxmlformats.org/drawingml/2006/main">
              <a:ext uri="{FF2B5EF4-FFF2-40B4-BE49-F238E27FC236}">
                <a16:creationId xmlns:a16="http://schemas.microsoft.com/office/drawing/2014/main" id="{DBBDA8DE-F6F7-4546-B835-61B4778C38E4}"/>
              </a:ext>
            </a:extLst>
          </p:cNvPr>
          <p:cNvSpPr>
            <a:spLocks xmlns:a="http://schemas.openxmlformats.org/drawingml/2006/main" noGrp="1"/>
          </p:cNvSpPr>
          <p:nvPr>
            <p:ph idx="2"/>
          </p:nvPr>
        </p:nvSpPr>
        <p:spPr>
          <a:xfrm xmlns:a="http://schemas.openxmlformats.org/drawingml/2006/main">
            <a:off x="457200" y="2174875"/>
            <a:ext cx="4040188" cy="3951288"/>
          </a:xfrm>
        </p:spPr>
        <p:txBody>
          <a:bodyPr xmlns:a="http://schemas.openxmlformats.org/drawingml/2006/main"/>
          <a:lstStyle xmlns:a="http://schemas.openxmlformats.org/drawingml/2006/main">
            <a:lvl1pPr>
              <a:buNone/>
              <a:defRPr sz="2400"/>
            </a:lvl1pPr>
            <a:lvl2pPr>
              <a:buNone/>
              <a:defRPr sz="2000"/>
            </a:lvl2pPr>
            <a:lvl3pPr>
              <a:buNone/>
              <a:defRPr sz="1800"/>
            </a:lvl3pPr>
            <a:lvl4pPr>
              <a:buNone/>
              <a:defRPr sz="1600"/>
            </a:lvl4pPr>
            <a:lvl5pPr>
              <a:buNone/>
              <a:defRPr sz="1600"/>
            </a:lvl5pPr>
            <a:lvl6pPr>
              <a:buNone/>
              <a:defRPr sz="1600"/>
            </a:lvl6pPr>
            <a:lvl7pPr>
              <a:buNone/>
              <a:defRPr sz="1600"/>
            </a:lvl7pPr>
            <a:lvl8pPr>
              <a:buNone/>
              <a:defRPr sz="1600"/>
            </a:lvl8pPr>
            <a:lvl9pPr>
              <a:buNone/>
              <a:defRPr sz="1600"/>
            </a:lvl9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5" name="Text Placeholder 4">
            <a:extLst xmlns:a="http://schemas.openxmlformats.org/drawingml/2006/main">
              <a:ext uri="{FF2B5EF4-FFF2-40B4-BE49-F238E27FC236}">
                <a16:creationId xmlns:a16="http://schemas.microsoft.com/office/drawing/2014/main" id="{7138F431-A1B3-4E4F-BA89-EF9E068300D6}"/>
              </a:ext>
            </a:extLst>
          </p:cNvPr>
          <p:cNvSpPr>
            <a:spLocks xmlns:a="http://schemas.openxmlformats.org/drawingml/2006/main" noGrp="1"/>
          </p:cNvSpPr>
          <p:nvPr>
            <p:ph type="body" idx="3"/>
          </p:nvPr>
        </p:nvSpPr>
        <p:spPr>
          <a:xfrm xmlns:a="http://schemas.openxmlformats.org/drawingml/2006/main">
            <a:off x="4645025" y="1535113"/>
            <a:ext cx="4041775" cy="639762"/>
          </a:xfrm>
        </p:spPr>
        <p:txBody>
          <a:bodyPr xmlns:a="http://schemas.openxmlformats.org/drawingml/2006/main" anchor="b"/>
          <a:lstStyle xmlns:a="http://schemas.openxmlformats.org/drawingml/2006/main">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xmlns:a="http://schemas.openxmlformats.org/drawingml/2006/main">
            <a:pPr lvl="0">
              <a:buNone/>
            </a:pPr>
            <a:r>
              <a:t>Click to edit Master text styles</a:t>
            </a:r>
          </a:p>
        </p:txBody>
      </p:sp>
      <p:sp>
        <p:nvSpPr>
          <p:cNvPr id="6" name="Content Placeholder 5">
            <a:extLst xmlns:a="http://schemas.openxmlformats.org/drawingml/2006/main">
              <a:ext uri="{FF2B5EF4-FFF2-40B4-BE49-F238E27FC236}">
                <a16:creationId xmlns:a16="http://schemas.microsoft.com/office/drawing/2014/main" id="{014D6267-B39F-42E7-B57E-9FE14F79B983}"/>
              </a:ext>
            </a:extLst>
          </p:cNvPr>
          <p:cNvSpPr>
            <a:spLocks xmlns:a="http://schemas.openxmlformats.org/drawingml/2006/main" noGrp="1"/>
          </p:cNvSpPr>
          <p:nvPr>
            <p:ph idx="4"/>
          </p:nvPr>
        </p:nvSpPr>
        <p:spPr>
          <a:xfrm xmlns:a="http://schemas.openxmlformats.org/drawingml/2006/main">
            <a:off x="4645025" y="2174875"/>
            <a:ext cx="4041775" cy="3951288"/>
          </a:xfrm>
        </p:spPr>
        <p:txBody>
          <a:bodyPr xmlns:a="http://schemas.openxmlformats.org/drawingml/2006/main"/>
          <a:lstStyle xmlns:a="http://schemas.openxmlformats.org/drawingml/2006/main">
            <a:lvl1pPr>
              <a:buNone/>
              <a:defRPr sz="2400"/>
            </a:lvl1pPr>
            <a:lvl2pPr>
              <a:buNone/>
              <a:defRPr sz="2000"/>
            </a:lvl2pPr>
            <a:lvl3pPr>
              <a:buNone/>
              <a:defRPr sz="1800"/>
            </a:lvl3pPr>
            <a:lvl4pPr>
              <a:buNone/>
              <a:defRPr sz="1600"/>
            </a:lvl4pPr>
            <a:lvl5pPr>
              <a:buNone/>
              <a:defRPr sz="1600"/>
            </a:lvl5pPr>
            <a:lvl6pPr>
              <a:buNone/>
              <a:defRPr sz="1600"/>
            </a:lvl6pPr>
            <a:lvl7pPr>
              <a:buNone/>
              <a:defRPr sz="1600"/>
            </a:lvl7pPr>
            <a:lvl8pPr>
              <a:buNone/>
              <a:defRPr sz="1600"/>
            </a:lvl8pPr>
            <a:lvl9pPr>
              <a:buNone/>
              <a:defRPr sz="1600"/>
            </a:lvl9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7" name="Date Placeholder 6">
            <a:extLst xmlns:a="http://schemas.openxmlformats.org/drawingml/2006/main">
              <a:ext uri="{FF2B5EF4-FFF2-40B4-BE49-F238E27FC236}">
                <a16:creationId xmlns:a16="http://schemas.microsoft.com/office/drawing/2014/main" id="{92AFACC2-E8D1-4B0E-BC7F-219A582C59AF}"/>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5BCAD085-E8A6-8845-BD4E-CB4CCA059FC4}" type="datetimeFigureOut">
              <a:t>1/27/13</a:t>
            </a:fld>
            <a:endParaRPr/>
          </a:p>
        </p:txBody>
      </p:sp>
      <p:sp>
        <p:nvSpPr>
          <p:cNvPr id="8" name="Footer Placeholder 7">
            <a:extLst xmlns:a="http://schemas.openxmlformats.org/drawingml/2006/main">
              <a:ext uri="{FF2B5EF4-FFF2-40B4-BE49-F238E27FC236}">
                <a16:creationId xmlns:a16="http://schemas.microsoft.com/office/drawing/2014/main" id="{3C725241-9D97-41BE-A1F0-EAEE1F1B8EBC}"/>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9" name="Slide Number Placeholder 8">
            <a:extLst xmlns:a="http://schemas.openxmlformats.org/drawingml/2006/main">
              <a:ext uri="{FF2B5EF4-FFF2-40B4-BE49-F238E27FC236}">
                <a16:creationId xmlns:a16="http://schemas.microsoft.com/office/drawing/2014/main" id="{8D051176-C6E6-41B6-974F-C2FCC0B5F038}"/>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C1FF6DA9-008F-8B48-92A6-B652298478BF}" type="slidenum">
              <a:t>‹#›</a:t>
            </a:fld>
            <a:endParaRPr/>
          </a:p>
        </p:txBody>
      </p:sp>
    </p:spTree>
  </p:cSld>
</p:sldLayout>
</file>

<file path=ppt/slideLayouts/slideLayout6.xml><?xml version="1.0" encoding="utf-8"?>
<p:sldLayout xmlns:p="http://schemas.openxmlformats.org/presentationml/2006/main" type="titleOnly" preserve="1">
  <p:cSld name="Title Only">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3B5747C8-F68A-4588-B73A-BB799DAAF863}"/>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Click to edit Master title style</a:t>
            </a:r>
            <a:endParaRPr/>
          </a:p>
        </p:txBody>
      </p:sp>
      <p:sp>
        <p:nvSpPr>
          <p:cNvPr id="3" name="Date Placeholder 2">
            <a:extLst xmlns:a="http://schemas.openxmlformats.org/drawingml/2006/main">
              <a:ext uri="{FF2B5EF4-FFF2-40B4-BE49-F238E27FC236}">
                <a16:creationId xmlns:a16="http://schemas.microsoft.com/office/drawing/2014/main" id="{65A4E323-F46A-4FDA-8FBF-6C462E066C99}"/>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5BCAD085-E8A6-8845-BD4E-CB4CCA059FC4}" type="datetimeFigureOut">
              <a:t>1/27/13</a:t>
            </a:fld>
            <a:endParaRPr/>
          </a:p>
        </p:txBody>
      </p:sp>
      <p:sp>
        <p:nvSpPr>
          <p:cNvPr id="4" name="Footer Placeholder 3">
            <a:extLst xmlns:a="http://schemas.openxmlformats.org/drawingml/2006/main">
              <a:ext uri="{FF2B5EF4-FFF2-40B4-BE49-F238E27FC236}">
                <a16:creationId xmlns:a16="http://schemas.microsoft.com/office/drawing/2014/main" id="{154ECCA1-1603-4A47-B418-B97EC1DF9B06}"/>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5" name="Slide Number Placeholder 4">
            <a:extLst xmlns:a="http://schemas.openxmlformats.org/drawingml/2006/main">
              <a:ext uri="{FF2B5EF4-FFF2-40B4-BE49-F238E27FC236}">
                <a16:creationId xmlns:a16="http://schemas.microsoft.com/office/drawing/2014/main" id="{0C9A3D68-6B04-4154-B6C5-84557650DEB6}"/>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C1FF6DA9-008F-8B48-92A6-B652298478BF}" type="slidenum">
              <a:t>‹#›</a:t>
            </a:fld>
            <a:endParaRPr/>
          </a:p>
        </p:txBody>
      </p:sp>
    </p:spTree>
  </p:cSld>
</p:sldLayout>
</file>

<file path=ppt/slideLayouts/slideLayout7.xml><?xml version="1.0" encoding="utf-8"?>
<p:sldLayout xmlns:p="http://schemas.openxmlformats.org/presentationml/2006/main" type="blank" preserve="1">
  <p:cSld name="Blank">
    <p:spTree>
      <p:nvGrpSpPr>
        <p:cNvPr id="1" name=""/>
        <p:cNvGrpSpPr/>
        <p:nvPr/>
      </p:nvGrpSpPr>
      <p:grpSpPr>
        <a:xfrm xmlns:a="http://schemas.openxmlformats.org/drawingml/2006/main"/>
      </p:grpSpPr>
      <p:sp>
        <p:nvSpPr>
          <p:cNvPr id="2" name="Date Placeholder 1">
            <a:extLst xmlns:a="http://schemas.openxmlformats.org/drawingml/2006/main">
              <a:ext uri="{FF2B5EF4-FFF2-40B4-BE49-F238E27FC236}">
                <a16:creationId xmlns:a16="http://schemas.microsoft.com/office/drawing/2014/main" id="{A8D5FAF1-219E-4200-8AA6-6A721E616A0C}"/>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5BCAD085-E8A6-8845-BD4E-CB4CCA059FC4}" type="datetimeFigureOut">
              <a:t>1/27/13</a:t>
            </a:fld>
            <a:endParaRPr/>
          </a:p>
        </p:txBody>
      </p:sp>
      <p:sp>
        <p:nvSpPr>
          <p:cNvPr id="3" name="Footer Placeholder 2">
            <a:extLst xmlns:a="http://schemas.openxmlformats.org/drawingml/2006/main">
              <a:ext uri="{FF2B5EF4-FFF2-40B4-BE49-F238E27FC236}">
                <a16:creationId xmlns:a16="http://schemas.microsoft.com/office/drawing/2014/main" id="{EFD9D653-F201-411E-A86C-9ADAF9813C61}"/>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4" name="Slide Number Placeholder 3">
            <a:extLst xmlns:a="http://schemas.openxmlformats.org/drawingml/2006/main">
              <a:ext uri="{FF2B5EF4-FFF2-40B4-BE49-F238E27FC236}">
                <a16:creationId xmlns:a16="http://schemas.microsoft.com/office/drawing/2014/main" id="{AABCA08B-CE68-4D41-8A49-D8015BF2CD53}"/>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C1FF6DA9-008F-8B48-92A6-B652298478BF}" type="slidenum">
              <a:t>‹#›</a:t>
            </a:fld>
            <a:endParaRPr/>
          </a:p>
        </p:txBody>
      </p:sp>
    </p:spTree>
  </p:cSld>
</p:sldLayout>
</file>

<file path=ppt/slideLayouts/slideLayout8.xml><?xml version="1.0" encoding="utf-8"?>
<p:sldLayout xmlns:p="http://schemas.openxmlformats.org/presentationml/2006/main" type="objTx" preserve="1">
  <p:cSld name="Content with Caption">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D278E1A9-0D6E-4EFB-8CBC-B696B1F25E32}"/>
              </a:ext>
            </a:extLst>
          </p:cNvPr>
          <p:cNvSpPr>
            <a:spLocks xmlns:a="http://schemas.openxmlformats.org/drawingml/2006/main" noGrp="1"/>
          </p:cNvSpPr>
          <p:nvPr>
            <p:ph type="title" idx="0"/>
          </p:nvPr>
        </p:nvSpPr>
        <p:spPr>
          <a:xfrm xmlns:a="http://schemas.openxmlformats.org/drawingml/2006/main">
            <a:off x="457200" y="273050"/>
            <a:ext cx="3008313" cy="1162050"/>
          </a:xfrm>
        </p:spPr>
        <p:txBody>
          <a:bodyPr xmlns:a="http://schemas.openxmlformats.org/drawingml/2006/main" anchor="b"/>
          <a:lstStyle xmlns:a="http://schemas.openxmlformats.org/drawingml/2006/main">
            <a:lvl1pPr algn="l">
              <a:buNone/>
              <a:defRPr sz="2000" b="1"/>
            </a:lvl1pPr>
          </a:lstStyle>
          <a:p xmlns:a="http://schemas.openxmlformats.org/drawingml/2006/main">
            <a:r>
              <a:t>Click to edit Master title style</a:t>
            </a:r>
            <a:endParaRPr/>
          </a:p>
        </p:txBody>
      </p:sp>
      <p:sp>
        <p:nvSpPr>
          <p:cNvPr id="3" name="Content Placeholder 2">
            <a:extLst xmlns:a="http://schemas.openxmlformats.org/drawingml/2006/main">
              <a:ext uri="{FF2B5EF4-FFF2-40B4-BE49-F238E27FC236}">
                <a16:creationId xmlns:a16="http://schemas.microsoft.com/office/drawing/2014/main" id="{AC95C166-DB05-4437-B992-C241B2A2D5E7}"/>
              </a:ext>
            </a:extLst>
          </p:cNvPr>
          <p:cNvSpPr>
            <a:spLocks xmlns:a="http://schemas.openxmlformats.org/drawingml/2006/main" noGrp="1"/>
          </p:cNvSpPr>
          <p:nvPr>
            <p:ph idx="1"/>
          </p:nvPr>
        </p:nvSpPr>
        <p:spPr>
          <a:xfrm xmlns:a="http://schemas.openxmlformats.org/drawingml/2006/main">
            <a:off x="3575050" y="273050"/>
            <a:ext cx="5111750" cy="5853113"/>
          </a:xfrm>
        </p:spPr>
        <p:txBody>
          <a:bodyPr xmlns:a="http://schemas.openxmlformats.org/drawingml/2006/main"/>
          <a:lstStyle xmlns:a="http://schemas.openxmlformats.org/drawingml/2006/main">
            <a:lvl1pPr>
              <a:buNone/>
              <a:defRPr sz="3200"/>
            </a:lvl1pPr>
            <a:lvl2pPr>
              <a:buNone/>
              <a:defRPr sz="2800"/>
            </a:lvl2pPr>
            <a:lvl3pPr>
              <a:buNone/>
              <a:defRPr sz="2400"/>
            </a:lvl3pPr>
            <a:lvl4pPr>
              <a:buNone/>
              <a:defRPr sz="2000"/>
            </a:lvl4pPr>
            <a:lvl5pPr>
              <a:buNone/>
              <a:defRPr sz="2000"/>
            </a:lvl5pPr>
            <a:lvl6pPr>
              <a:buNone/>
              <a:defRPr sz="2000"/>
            </a:lvl6pPr>
            <a:lvl7pPr>
              <a:buNone/>
              <a:defRPr sz="2000"/>
            </a:lvl7pPr>
            <a:lvl8pPr>
              <a:buNone/>
              <a:defRPr sz="2000"/>
            </a:lvl8pPr>
            <a:lvl9pPr>
              <a:buNone/>
              <a:defRPr sz="2000"/>
            </a:lvl9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4" name="Text Placeholder 3">
            <a:extLst xmlns:a="http://schemas.openxmlformats.org/drawingml/2006/main">
              <a:ext uri="{FF2B5EF4-FFF2-40B4-BE49-F238E27FC236}">
                <a16:creationId xmlns:a16="http://schemas.microsoft.com/office/drawing/2014/main" id="{8AC33C5C-32ED-4819-81AA-ABDBFF5C9A80}"/>
              </a:ext>
            </a:extLst>
          </p:cNvPr>
          <p:cNvSpPr>
            <a:spLocks xmlns:a="http://schemas.openxmlformats.org/drawingml/2006/main" noGrp="1"/>
          </p:cNvSpPr>
          <p:nvPr>
            <p:ph type="body" idx="2"/>
          </p:nvPr>
        </p:nvSpPr>
        <p:spPr>
          <a:xfrm xmlns:a="http://schemas.openxmlformats.org/drawingml/2006/main">
            <a:off x="457200" y="1435100"/>
            <a:ext cx="3008313" cy="4691063"/>
          </a:xfrm>
        </p:spPr>
        <p:txBody>
          <a:bodyPr xmlns:a="http://schemas.openxmlformats.org/drawingml/2006/main"/>
          <a:lstStyle xmlns:a="http://schemas.openxmlformats.org/drawingml/2006/main">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xmlns:a="http://schemas.openxmlformats.org/drawingml/2006/main">
            <a:pPr lvl="0">
              <a:buNone/>
            </a:pPr>
            <a:r>
              <a:t>Click to edit Master text styles</a:t>
            </a:r>
          </a:p>
        </p:txBody>
      </p:sp>
      <p:sp>
        <p:nvSpPr>
          <p:cNvPr id="5" name="Date Placeholder 4">
            <a:extLst xmlns:a="http://schemas.openxmlformats.org/drawingml/2006/main">
              <a:ext uri="{FF2B5EF4-FFF2-40B4-BE49-F238E27FC236}">
                <a16:creationId xmlns:a16="http://schemas.microsoft.com/office/drawing/2014/main" id="{15DAC9BF-A972-4470-AEC7-688729C8E023}"/>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5BCAD085-E8A6-8845-BD4E-CB4CCA059FC4}" type="datetimeFigureOut">
              <a:t>1/27/13</a:t>
            </a:fld>
            <a:endParaRPr/>
          </a:p>
        </p:txBody>
      </p:sp>
      <p:sp>
        <p:nvSpPr>
          <p:cNvPr id="6" name="Footer Placeholder 5">
            <a:extLst xmlns:a="http://schemas.openxmlformats.org/drawingml/2006/main">
              <a:ext uri="{FF2B5EF4-FFF2-40B4-BE49-F238E27FC236}">
                <a16:creationId xmlns:a16="http://schemas.microsoft.com/office/drawing/2014/main" id="{90A03355-509D-448C-A54F-E3C413153597}"/>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7" name="Slide Number Placeholder 6">
            <a:extLst xmlns:a="http://schemas.openxmlformats.org/drawingml/2006/main">
              <a:ext uri="{FF2B5EF4-FFF2-40B4-BE49-F238E27FC236}">
                <a16:creationId xmlns:a16="http://schemas.microsoft.com/office/drawing/2014/main" id="{1C06BAE8-6717-46D4-93BD-8113B74055F0}"/>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C1FF6DA9-008F-8B48-92A6-B652298478BF}" type="slidenum">
              <a:t>‹#›</a:t>
            </a:fld>
            <a:endParaRPr/>
          </a:p>
        </p:txBody>
      </p:sp>
    </p:spTree>
  </p:cSld>
</p:sldLayout>
</file>

<file path=ppt/slideLayouts/slideLayout9.xml><?xml version="1.0" encoding="utf-8"?>
<p:sldLayout xmlns:p="http://schemas.openxmlformats.org/presentationml/2006/main" type="picTx" preserve="1">
  <p:cSld name="Picture with Caption">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6D4A3940-9793-4E17-982F-75DE809B5FC3}"/>
              </a:ext>
            </a:extLst>
          </p:cNvPr>
          <p:cNvSpPr>
            <a:spLocks xmlns:a="http://schemas.openxmlformats.org/drawingml/2006/main" noGrp="1"/>
          </p:cNvSpPr>
          <p:nvPr>
            <p:ph type="title" idx="0"/>
          </p:nvPr>
        </p:nvSpPr>
        <p:spPr>
          <a:xfrm xmlns:a="http://schemas.openxmlformats.org/drawingml/2006/main">
            <a:off x="1792288" y="4800600"/>
            <a:ext cx="5486400" cy="566738"/>
          </a:xfrm>
        </p:spPr>
        <p:txBody>
          <a:bodyPr xmlns:a="http://schemas.openxmlformats.org/drawingml/2006/main" anchor="b"/>
          <a:lstStyle xmlns:a="http://schemas.openxmlformats.org/drawingml/2006/main">
            <a:lvl1pPr algn="l">
              <a:buNone/>
              <a:defRPr sz="2000" b="1"/>
            </a:lvl1pPr>
          </a:lstStyle>
          <a:p xmlns:a="http://schemas.openxmlformats.org/drawingml/2006/main">
            <a:r>
              <a:t>Click to edit Master title style</a:t>
            </a:r>
            <a:endParaRPr/>
          </a:p>
        </p:txBody>
      </p:sp>
      <p:sp>
        <p:nvSpPr>
          <p:cNvPr id="3" name="Picture Placeholder 2">
            <a:extLst xmlns:a="http://schemas.openxmlformats.org/drawingml/2006/main">
              <a:ext uri="{FF2B5EF4-FFF2-40B4-BE49-F238E27FC236}">
                <a16:creationId xmlns:a16="http://schemas.microsoft.com/office/drawing/2014/main" id="{1B043B23-6C48-479F-814A-650CD03C97FF}"/>
              </a:ext>
            </a:extLst>
          </p:cNvPr>
          <p:cNvSpPr>
            <a:spLocks xmlns:a="http://schemas.openxmlformats.org/drawingml/2006/main" noGrp="1"/>
          </p:cNvSpPr>
          <p:nvPr>
            <p:ph type="pic" idx="1"/>
          </p:nvPr>
        </p:nvSpPr>
        <p:spPr>
          <a:xfrm xmlns:a="http://schemas.openxmlformats.org/drawingml/2006/main">
            <a:off x="1792288" y="612775"/>
            <a:ext cx="5486400" cy="4114800"/>
          </a:xfrm>
        </p:spPr>
        <p:txBody>
          <a:bodyPr xmlns:a="http://schemas.openxmlformats.org/drawingml/2006/main"/>
          <a:lstStyle xmlns:a="http://schemas.openxmlformats.org/drawingml/2006/main">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xmlns:a="http://schemas.openxmlformats.org/drawingml/2006/main">
            <a:endParaRPr/>
          </a:p>
        </p:txBody>
      </p:sp>
      <p:sp>
        <p:nvSpPr>
          <p:cNvPr id="4" name="Text Placeholder 3">
            <a:extLst xmlns:a="http://schemas.openxmlformats.org/drawingml/2006/main">
              <a:ext uri="{FF2B5EF4-FFF2-40B4-BE49-F238E27FC236}">
                <a16:creationId xmlns:a16="http://schemas.microsoft.com/office/drawing/2014/main" id="{3864957E-4073-4AB9-A6EE-B79DF88D9159}"/>
              </a:ext>
            </a:extLst>
          </p:cNvPr>
          <p:cNvSpPr>
            <a:spLocks xmlns:a="http://schemas.openxmlformats.org/drawingml/2006/main" noGrp="1"/>
          </p:cNvSpPr>
          <p:nvPr>
            <p:ph type="body" idx="2"/>
          </p:nvPr>
        </p:nvSpPr>
        <p:spPr>
          <a:xfrm xmlns:a="http://schemas.openxmlformats.org/drawingml/2006/main">
            <a:off x="1792288" y="5367338"/>
            <a:ext cx="5486400" cy="804862"/>
          </a:xfrm>
        </p:spPr>
        <p:txBody>
          <a:bodyPr xmlns:a="http://schemas.openxmlformats.org/drawingml/2006/main"/>
          <a:lstStyle xmlns:a="http://schemas.openxmlformats.org/drawingml/2006/main">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xmlns:a="http://schemas.openxmlformats.org/drawingml/2006/main">
            <a:pPr lvl="0">
              <a:buNone/>
            </a:pPr>
            <a:r>
              <a:t>Click to edit Master text styles</a:t>
            </a:r>
          </a:p>
        </p:txBody>
      </p:sp>
      <p:sp>
        <p:nvSpPr>
          <p:cNvPr id="5" name="Date Placeholder 4">
            <a:extLst xmlns:a="http://schemas.openxmlformats.org/drawingml/2006/main">
              <a:ext uri="{FF2B5EF4-FFF2-40B4-BE49-F238E27FC236}">
                <a16:creationId xmlns:a16="http://schemas.microsoft.com/office/drawing/2014/main" id="{0601747E-5349-4D45-8205-BA3AC7ADEE76}"/>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5BCAD085-E8A6-8845-BD4E-CB4CCA059FC4}" type="datetimeFigureOut">
              <a:t>1/27/13</a:t>
            </a:fld>
            <a:endParaRPr/>
          </a:p>
        </p:txBody>
      </p:sp>
      <p:sp>
        <p:nvSpPr>
          <p:cNvPr id="6" name="Footer Placeholder 5">
            <a:extLst xmlns:a="http://schemas.openxmlformats.org/drawingml/2006/main">
              <a:ext uri="{FF2B5EF4-FFF2-40B4-BE49-F238E27FC236}">
                <a16:creationId xmlns:a16="http://schemas.microsoft.com/office/drawing/2014/main" id="{03F2E286-296F-4558-BD8D-EFFAEEDD541D}"/>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7" name="Slide Number Placeholder 6">
            <a:extLst xmlns:a="http://schemas.openxmlformats.org/drawingml/2006/main">
              <a:ext uri="{FF2B5EF4-FFF2-40B4-BE49-F238E27FC236}">
                <a16:creationId xmlns:a16="http://schemas.microsoft.com/office/drawing/2014/main" id="{20F1515B-3B0D-44D2-97DF-6BAAAA7A5253}"/>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C1FF6DA9-008F-8B48-92A6-B652298478BF}" type="slidenum">
              <a:t>‹#›</a:t>
            </a:fld>
            <a:endParaRPr/>
          </a:p>
        </p:txBody>
      </p:sp>
    </p:spTree>
  </p:cSld>
</p:sldLayout>
</file>

<file path=ppt/slideLayouts/slideLayout10.xml><?xml version="1.0" encoding="utf-8"?>
<p:sldLayout xmlns:p="http://schemas.openxmlformats.org/presentationml/2006/main" type="vertTx" preserve="1">
  <p:cSld name="Title and Vertical Text">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00BED687-94E8-42D9-8BDA-40895D0FD898}"/>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Click to edit Master title style</a:t>
            </a:r>
            <a:endParaRPr/>
          </a:p>
        </p:txBody>
      </p:sp>
      <p:sp>
        <p:nvSpPr>
          <p:cNvPr id="3" name="Vertical Text Placeholder 2">
            <a:extLst xmlns:a="http://schemas.openxmlformats.org/drawingml/2006/main">
              <a:ext uri="{FF2B5EF4-FFF2-40B4-BE49-F238E27FC236}">
                <a16:creationId xmlns:a16="http://schemas.microsoft.com/office/drawing/2014/main" id="{B49468B5-B8F1-440E-91D7-61346AB665CC}"/>
              </a:ext>
            </a:extLst>
          </p:cNvPr>
          <p:cNvSpPr>
            <a:spLocks xmlns:a="http://schemas.openxmlformats.org/drawingml/2006/main" noGrp="1"/>
          </p:cNvSpPr>
          <p:nvPr>
            <p:ph type="body" idx="1"/>
          </p:nvPr>
        </p:nvSpPr>
        <p:spPr/>
        <p:txBody>
          <a:bodyPr xmlns:a="http://schemas.openxmlformats.org/drawingml/2006/main" vert="eaVert"/>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4" name="Date Placeholder 3">
            <a:extLst xmlns:a="http://schemas.openxmlformats.org/drawingml/2006/main">
              <a:ext uri="{FF2B5EF4-FFF2-40B4-BE49-F238E27FC236}">
                <a16:creationId xmlns:a16="http://schemas.microsoft.com/office/drawing/2014/main" id="{EFE73DD9-E44B-401F-BB6F-D6076AF6330F}"/>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5BCAD085-E8A6-8845-BD4E-CB4CCA059FC4}" type="datetimeFigureOut">
              <a:t>1/27/13</a:t>
            </a:fld>
            <a:endParaRPr/>
          </a:p>
        </p:txBody>
      </p:sp>
      <p:sp>
        <p:nvSpPr>
          <p:cNvPr id="5" name="Footer Placeholder 4">
            <a:extLst xmlns:a="http://schemas.openxmlformats.org/drawingml/2006/main">
              <a:ext uri="{FF2B5EF4-FFF2-40B4-BE49-F238E27FC236}">
                <a16:creationId xmlns:a16="http://schemas.microsoft.com/office/drawing/2014/main" id="{E69C189C-E350-482D-B946-EB32F13B31ED}"/>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6" name="Slide Number Placeholder 5">
            <a:extLst xmlns:a="http://schemas.openxmlformats.org/drawingml/2006/main">
              <a:ext uri="{FF2B5EF4-FFF2-40B4-BE49-F238E27FC236}">
                <a16:creationId xmlns:a16="http://schemas.microsoft.com/office/drawing/2014/main" id="{58F7F96B-7DF5-4F01-8034-DF6FBFD42403}"/>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C1FF6DA9-008F-8B48-92A6-B652298478BF}" type="slidenum">
              <a:t>‹#›</a:t>
            </a:fld>
            <a:endParaRPr/>
          </a:p>
        </p:txBody>
      </p:sp>
    </p:spTree>
  </p:cSld>
</p:sldLayout>
</file>

<file path=ppt/slideLayouts/slideLayout11.xml><?xml version="1.0" encoding="utf-8"?>
<p:sldLayout xmlns:p="http://schemas.openxmlformats.org/presentationml/2006/main" type="vertTitleAndTx" preserve="1">
  <p:cSld name="Vertical Title and Text">
    <p:spTree>
      <p:nvGrpSpPr>
        <p:cNvPr id="1" name=""/>
        <p:cNvGrpSpPr/>
        <p:nvPr/>
      </p:nvGrpSpPr>
      <p:grpSpPr>
        <a:xfrm xmlns:a="http://schemas.openxmlformats.org/drawingml/2006/main"/>
      </p:grpSpPr>
      <p:sp>
        <p:nvSpPr>
          <p:cNvPr id="2" name="Vertical Title 1">
            <a:extLst xmlns:a="http://schemas.openxmlformats.org/drawingml/2006/main">
              <a:ext uri="{FF2B5EF4-FFF2-40B4-BE49-F238E27FC236}">
                <a16:creationId xmlns:a16="http://schemas.microsoft.com/office/drawing/2014/main" id="{F04263F3-EF13-4100-966A-1E0FDB882A09}"/>
              </a:ext>
            </a:extLst>
          </p:cNvPr>
          <p:cNvSpPr>
            <a:spLocks xmlns:a="http://schemas.openxmlformats.org/drawingml/2006/main" noGrp="1"/>
          </p:cNvSpPr>
          <p:nvPr>
            <p:ph type="title" idx="0"/>
          </p:nvPr>
        </p:nvSpPr>
        <p:spPr>
          <a:xfrm xmlns:a="http://schemas.openxmlformats.org/drawingml/2006/main">
            <a:off x="6629400" y="274638"/>
            <a:ext cx="2057400" cy="5851525"/>
          </a:xfrm>
        </p:spPr>
        <p:txBody>
          <a:bodyPr xmlns:a="http://schemas.openxmlformats.org/drawingml/2006/main" vert="eaVert"/>
          <a:lstStyle xmlns:a="http://schemas.openxmlformats.org/drawingml/2006/main"/>
          <a:p xmlns:a="http://schemas.openxmlformats.org/drawingml/2006/main">
            <a:r>
              <a:t>Click to edit Master title style</a:t>
            </a:r>
            <a:endParaRPr/>
          </a:p>
        </p:txBody>
      </p:sp>
      <p:sp>
        <p:nvSpPr>
          <p:cNvPr id="3" name="Vertical Text Placeholder 2">
            <a:extLst xmlns:a="http://schemas.openxmlformats.org/drawingml/2006/main">
              <a:ext uri="{FF2B5EF4-FFF2-40B4-BE49-F238E27FC236}">
                <a16:creationId xmlns:a16="http://schemas.microsoft.com/office/drawing/2014/main" id="{23D95FFE-52AE-468D-950C-EDE98ECAB3BA}"/>
              </a:ext>
            </a:extLst>
          </p:cNvPr>
          <p:cNvSpPr>
            <a:spLocks xmlns:a="http://schemas.openxmlformats.org/drawingml/2006/main" noGrp="1"/>
          </p:cNvSpPr>
          <p:nvPr>
            <p:ph type="body" idx="1"/>
          </p:nvPr>
        </p:nvSpPr>
        <p:spPr>
          <a:xfrm xmlns:a="http://schemas.openxmlformats.org/drawingml/2006/main">
            <a:off x="457200" y="274638"/>
            <a:ext cx="6019800" cy="5851525"/>
          </a:xfrm>
        </p:spPr>
        <p:txBody>
          <a:bodyPr xmlns:a="http://schemas.openxmlformats.org/drawingml/2006/main" vert="eaVert"/>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4" name="Date Placeholder 3">
            <a:extLst xmlns:a="http://schemas.openxmlformats.org/drawingml/2006/main">
              <a:ext uri="{FF2B5EF4-FFF2-40B4-BE49-F238E27FC236}">
                <a16:creationId xmlns:a16="http://schemas.microsoft.com/office/drawing/2014/main" id="{35FE95C0-1A3A-40DA-A90B-92C4C29AA129}"/>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5BCAD085-E8A6-8845-BD4E-CB4CCA059FC4}" type="datetimeFigureOut">
              <a:t>1/27/13</a:t>
            </a:fld>
            <a:endParaRPr/>
          </a:p>
        </p:txBody>
      </p:sp>
      <p:sp>
        <p:nvSpPr>
          <p:cNvPr id="5" name="Footer Placeholder 4">
            <a:extLst xmlns:a="http://schemas.openxmlformats.org/drawingml/2006/main">
              <a:ext uri="{FF2B5EF4-FFF2-40B4-BE49-F238E27FC236}">
                <a16:creationId xmlns:a16="http://schemas.microsoft.com/office/drawing/2014/main" id="{52B331E1-543D-437F-916F-D26F2F098FD6}"/>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6" name="Slide Number Placeholder 5">
            <a:extLst xmlns:a="http://schemas.openxmlformats.org/drawingml/2006/main">
              <a:ext uri="{FF2B5EF4-FFF2-40B4-BE49-F238E27FC236}">
                <a16:creationId xmlns:a16="http://schemas.microsoft.com/office/drawing/2014/main" id="{17424D32-4CF7-4A33-B9BC-1F97F238579B}"/>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C1FF6DA9-008F-8B48-92A6-B652298478BF}" type="slidenum">
              <a:t>‹#›</a:t>
            </a:fld>
            <a:endParaRPr/>
          </a:p>
        </p:txBody>
      </p:sp>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dc5eb37e4f794e70" /><Relationship Type="http://schemas.openxmlformats.org/officeDocument/2006/relationships/slideLayout" Target="/ppt/slideLayouts/slideLayout1.xml" Id="Ra73a00216d4a4836" /><Relationship Type="http://schemas.openxmlformats.org/officeDocument/2006/relationships/slideLayout" Target="/ppt/slideLayouts/slideLayout2.xml" Id="Rc49db4a8e726453c" /><Relationship Type="http://schemas.openxmlformats.org/officeDocument/2006/relationships/slideLayout" Target="/ppt/slideLayouts/slideLayout3.xml" Id="R4b47c1a539c0470a" /><Relationship Type="http://schemas.openxmlformats.org/officeDocument/2006/relationships/slideLayout" Target="/ppt/slideLayouts/slideLayout4.xml" Id="Rd4a15f6844f942c3" /><Relationship Type="http://schemas.openxmlformats.org/officeDocument/2006/relationships/slideLayout" Target="/ppt/slideLayouts/slideLayout5.xml" Id="R5f9a27fe39da44d1" /><Relationship Type="http://schemas.openxmlformats.org/officeDocument/2006/relationships/slideLayout" Target="/ppt/slideLayouts/slideLayout6.xml" Id="Rd61c27c4e5994bd2" /><Relationship Type="http://schemas.openxmlformats.org/officeDocument/2006/relationships/slideLayout" Target="/ppt/slideLayouts/slideLayout7.xml" Id="R7f40049726754c23" /><Relationship Type="http://schemas.openxmlformats.org/officeDocument/2006/relationships/slideLayout" Target="/ppt/slideLayouts/slideLayout8.xml" Id="R5a43829887674985" /><Relationship Type="http://schemas.openxmlformats.org/officeDocument/2006/relationships/slideLayout" Target="/ppt/slideLayouts/slideLayout9.xml" Id="R128dd493fa3545b7" /><Relationship Type="http://schemas.openxmlformats.org/officeDocument/2006/relationships/slideLayout" Target="/ppt/slideLayouts/slideLayout10.xml" Id="Re4dfd616fe6d4cd6" /><Relationship Type="http://schemas.openxmlformats.org/officeDocument/2006/relationships/slideLayout" Target="/ppt/slideLayouts/slideLayout11.xml" Id="R716afc370d6c40f3" /></Relationships>
</file>

<file path=ppt/slideMasters/slideMaster1.xml><?xml version="1.0" encoding="utf-8"?>
<p:sld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Title Placeholder 1">
            <a:extLst xmlns:a="http://schemas.openxmlformats.org/drawingml/2006/main">
              <a:ext uri="{FF2B5EF4-FFF2-40B4-BE49-F238E27FC236}">
                <a16:creationId xmlns:a16="http://schemas.microsoft.com/office/drawing/2014/main" id="{403EF7AA-6FC6-4CA3-984A-DB1DA491160B}"/>
              </a:ext>
            </a:extLst>
          </p:cNvPr>
          <p:cNvSpPr>
            <a:spLocks xmlns:a="http://schemas.openxmlformats.org/drawingml/2006/main" noGrp="1"/>
          </p:cNvSpPr>
          <p:nvPr>
            <p:ph type="title" idx="0"/>
          </p:nvPr>
        </p:nvSpPr>
        <p:spPr>
          <a:xfrm xmlns:a="http://schemas.openxmlformats.org/drawingml/2006/main">
            <a:off x="457200" y="274638"/>
            <a:ext cx="8229600" cy="1143000"/>
          </a:xfrm>
          <a:prstGeom xmlns:a="http://schemas.openxmlformats.org/drawingml/2006/main" prst="rect">
            <a:avLst/>
          </a:prstGeom>
        </p:spPr>
        <p:txBody>
          <a:bodyPr xmlns:a="http://schemas.openxmlformats.org/drawingml/2006/main" vert="horz" lIns="91440" tIns="45720" rIns="91440" bIns="45720" anchor="ctr">
            <a:normAutofit/>
          </a:bodyPr>
          <a:lstStyle xmlns:a="http://schemas.openxmlformats.org/drawingml/2006/main"/>
          <a:p xmlns:a="http://schemas.openxmlformats.org/drawingml/2006/main">
            <a:r>
              <a:t>Click to edit Master title style</a:t>
            </a:r>
            <a:endParaRPr/>
          </a:p>
        </p:txBody>
      </p:sp>
      <p:sp>
        <p:nvSpPr>
          <p:cNvPr id="3" name="Text Placeholder 2">
            <a:extLst xmlns:a="http://schemas.openxmlformats.org/drawingml/2006/main">
              <a:ext uri="{FF2B5EF4-FFF2-40B4-BE49-F238E27FC236}">
                <a16:creationId xmlns:a16="http://schemas.microsoft.com/office/drawing/2014/main" id="{A515DF36-7A0F-4C0B-B807-FF9A3B9F9AEE}"/>
              </a:ext>
            </a:extLst>
          </p:cNvPr>
          <p:cNvSpPr>
            <a:spLocks xmlns:a="http://schemas.openxmlformats.org/drawingml/2006/main" noGrp="1"/>
          </p:cNvSpPr>
          <p:nvPr>
            <p:ph type="body" idx="1"/>
          </p:nvPr>
        </p:nvSpPr>
        <p:spPr>
          <a:xfrm xmlns:a="http://schemas.openxmlformats.org/drawingml/2006/main">
            <a:off x="457200" y="1600200"/>
            <a:ext cx="8229600" cy="4525963"/>
          </a:xfrm>
          <a:prstGeom xmlns:a="http://schemas.openxmlformats.org/drawingml/2006/main" prst="rect">
            <a:avLst/>
          </a:prstGeom>
        </p:spPr>
        <p:txBody>
          <a:bodyPr xmlns:a="http://schemas.openxmlformats.org/drawingml/2006/main" vert="horz" lIns="91440" tIns="45720" rIns="91440" bIns="45720">
            <a:normAutofit/>
          </a:bodyPr>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4" name="Date Placeholder 3">
            <a:extLst xmlns:a="http://schemas.openxmlformats.org/drawingml/2006/main">
              <a:ext uri="{FF2B5EF4-FFF2-40B4-BE49-F238E27FC236}">
                <a16:creationId xmlns:a16="http://schemas.microsoft.com/office/drawing/2014/main" id="{DBF5A033-DFB6-4C9A-8ACC-440104DA8A82}"/>
              </a:ext>
            </a:extLst>
          </p:cNvPr>
          <p:cNvSpPr>
            <a:spLocks xmlns:a="http://schemas.openxmlformats.org/drawingml/2006/main" noGrp="1"/>
          </p:cNvSpPr>
          <p:nvPr>
            <p:ph type="dt" idx="2"/>
          </p:nvPr>
        </p:nvSpPr>
        <p:spPr>
          <a:xfrm xmlns:a="http://schemas.openxmlformats.org/drawingml/2006/main">
            <a:off x="457200" y="6356350"/>
            <a:ext cx="2133600" cy="365125"/>
          </a:xfrm>
          <a:prstGeom xmlns:a="http://schemas.openxmlformats.org/drawingml/2006/main" prst="rect">
            <a:avLst/>
          </a:prstGeom>
        </p:spPr>
        <p:txBody>
          <a:bodyPr xmlns:a="http://schemas.openxmlformats.org/drawingml/2006/main" vert="horz" lIns="91440" tIns="45720" rIns="91440" bIns="45720" anchor="ctr"/>
          <a:lstStyle xmlns:a="http://schemas.openxmlformats.org/drawingml/2006/main">
            <a:lvl1pPr algn="l">
              <a:buNone/>
              <a:defRPr sz="1200">
                <a:solidFill>
                  <a:schemeClr val="tx1">
                    <a:tint val="75000"/>
                  </a:schemeClr>
                </a:solidFill>
              </a:defRPr>
            </a:lvl1pPr>
          </a:lstStyle>
          <a:p xmlns:a="http://schemas.openxmlformats.org/drawingml/2006/main">
            <a:fld id="{5BCAD085-E8A6-8845-BD4E-CB4CCA059FC4}" type="datetimeFigureOut">
              <a:t>1/27/13</a:t>
            </a:fld>
            <a:endParaRPr/>
          </a:p>
        </p:txBody>
      </p:sp>
      <p:sp>
        <p:nvSpPr>
          <p:cNvPr id="5" name="Footer Placeholder 4">
            <a:extLst xmlns:a="http://schemas.openxmlformats.org/drawingml/2006/main">
              <a:ext uri="{FF2B5EF4-FFF2-40B4-BE49-F238E27FC236}">
                <a16:creationId xmlns:a16="http://schemas.microsoft.com/office/drawing/2014/main" id="{7B7D062B-8856-4526-A0BF-80F4019CEC08}"/>
              </a:ext>
            </a:extLst>
          </p:cNvPr>
          <p:cNvSpPr>
            <a:spLocks xmlns:a="http://schemas.openxmlformats.org/drawingml/2006/main" noGrp="1"/>
          </p:cNvSpPr>
          <p:nvPr>
            <p:ph type="ftr" idx="3"/>
          </p:nvPr>
        </p:nvSpPr>
        <p:spPr>
          <a:xfrm xmlns:a="http://schemas.openxmlformats.org/drawingml/2006/main">
            <a:off x="3124200" y="6356350"/>
            <a:ext cx="2895600" cy="365125"/>
          </a:xfrm>
          <a:prstGeom xmlns:a="http://schemas.openxmlformats.org/drawingml/2006/main" prst="rect">
            <a:avLst/>
          </a:prstGeom>
        </p:spPr>
        <p:txBody>
          <a:bodyPr xmlns:a="http://schemas.openxmlformats.org/drawingml/2006/main" vert="horz" lIns="91440" tIns="45720" rIns="91440" bIns="45720" anchor="ctr"/>
          <a:lstStyle xmlns:a="http://schemas.openxmlformats.org/drawingml/2006/main">
            <a:lvl1pPr algn="ctr">
              <a:buNone/>
              <a:defRPr sz="1200">
                <a:solidFill>
                  <a:schemeClr val="tx1">
                    <a:tint val="75000"/>
                  </a:schemeClr>
                </a:solidFill>
              </a:defRPr>
            </a:lvl1pPr>
          </a:lstStyle>
          <a:p xmlns:a="http://schemas.openxmlformats.org/drawingml/2006/main">
            <a:endParaRPr/>
          </a:p>
        </p:txBody>
      </p:sp>
      <p:sp>
        <p:nvSpPr>
          <p:cNvPr id="6" name="Slide Number Placeholder 5">
            <a:extLst xmlns:a="http://schemas.openxmlformats.org/drawingml/2006/main">
              <a:ext uri="{FF2B5EF4-FFF2-40B4-BE49-F238E27FC236}">
                <a16:creationId xmlns:a16="http://schemas.microsoft.com/office/drawing/2014/main" id="{E45E59F1-5C22-495A-A0FD-FF84CBDC3AA4}"/>
              </a:ext>
            </a:extLst>
          </p:cNvPr>
          <p:cNvSpPr>
            <a:spLocks xmlns:a="http://schemas.openxmlformats.org/drawingml/2006/main" noGrp="1"/>
          </p:cNvSpPr>
          <p:nvPr>
            <p:ph type="sldNum" idx="4"/>
          </p:nvPr>
        </p:nvSpPr>
        <p:spPr>
          <a:xfrm xmlns:a="http://schemas.openxmlformats.org/drawingml/2006/main">
            <a:off x="6553200" y="6356350"/>
            <a:ext cx="2133600" cy="365125"/>
          </a:xfrm>
          <a:prstGeom xmlns:a="http://schemas.openxmlformats.org/drawingml/2006/main" prst="rect">
            <a:avLst/>
          </a:prstGeom>
        </p:spPr>
        <p:txBody>
          <a:bodyPr xmlns:a="http://schemas.openxmlformats.org/drawingml/2006/main" vert="horz" lIns="91440" tIns="45720" rIns="91440" bIns="45720" anchor="ctr"/>
          <a:lstStyle xmlns:a="http://schemas.openxmlformats.org/drawingml/2006/main">
            <a:lvl1pPr algn="r">
              <a:buNone/>
              <a:defRPr sz="1200">
                <a:solidFill>
                  <a:schemeClr val="tx1">
                    <a:tint val="75000"/>
                  </a:schemeClr>
                </a:solidFill>
              </a:defRPr>
            </a:lvl1pPr>
          </a:lstStyle>
          <a:p xmlns:a="http://schemas.openxmlformats.org/drawingml/2006/main">
            <a:fld id="{C1FF6DA9-008F-8B48-92A6-B652298478BF}" type="slidenum">
              <a:t>‹#›</a:t>
            </a:fld>
            <a:endParaRPr/>
          </a:p>
        </p:txBody>
      </p:sp>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a73a00216d4a4836"/>
    <p:sldLayoutId xmlns:r="http://schemas.openxmlformats.org/officeDocument/2006/relationships" id="2147483650" r:id="Rc49db4a8e726453c"/>
    <p:sldLayoutId xmlns:r="http://schemas.openxmlformats.org/officeDocument/2006/relationships" id="2147483651" r:id="R4b47c1a539c0470a"/>
    <p:sldLayoutId xmlns:r="http://schemas.openxmlformats.org/officeDocument/2006/relationships" id="2147483652" r:id="Rd4a15f6844f942c3"/>
    <p:sldLayoutId xmlns:r="http://schemas.openxmlformats.org/officeDocument/2006/relationships" id="2147483653" r:id="R5f9a27fe39da44d1"/>
    <p:sldLayoutId xmlns:r="http://schemas.openxmlformats.org/officeDocument/2006/relationships" id="2147483654" r:id="Rd61c27c4e5994bd2"/>
    <p:sldLayoutId xmlns:r="http://schemas.openxmlformats.org/officeDocument/2006/relationships" id="2147483655" r:id="R7f40049726754c23"/>
    <p:sldLayoutId xmlns:r="http://schemas.openxmlformats.org/officeDocument/2006/relationships" id="2147483656" r:id="R5a43829887674985"/>
    <p:sldLayoutId xmlns:r="http://schemas.openxmlformats.org/officeDocument/2006/relationships" id="2147483657" r:id="R128dd493fa3545b7"/>
    <p:sldLayoutId xmlns:r="http://schemas.openxmlformats.org/officeDocument/2006/relationships" id="2147483658" r:id="Re4dfd616fe6d4cd6"/>
    <p:sldLayoutId xmlns:r="http://schemas.openxmlformats.org/officeDocument/2006/relationships" id="2147483659" r:id="R716afc370d6c40f3"/>
  </p:sldLayoutIdLst>
  <p:txStyles>
    <p:titleStyle>
      <a:lvl1pPr xmlns:a="http://schemas.openxmlformats.org/drawingml/2006/main" algn="ctr" defTabSz="457200">
        <a:spcBef>
          <a:spcPct val="0"/>
        </a:spcBef>
        <a:buNone/>
        <a:defRPr sz="4400" kern="1200">
          <a:solidFill>
            <a:schemeClr val="tx1"/>
          </a:solidFill>
          <a:latin typeface="+mj-lt"/>
          <a:ea typeface="+mj-lt"/>
          <a:cs typeface="+mj-lt"/>
        </a:defRPr>
      </a:lvl1pPr>
    </p:titleStyle>
    <p:bodyStyle>
      <a:lvl1pPr xmlns:a="http://schemas.openxmlformats.org/drawingml/2006/main" marL="342900" indent="-342900" algn="l" defTabSz="457200">
        <a:spcBef>
          <a:spcPct val="20000"/>
        </a:spcBef>
        <a:buFont typeface="Arial"/>
        <a:buChar char="•"/>
        <a:defRPr sz="3200" kern="1200">
          <a:solidFill>
            <a:schemeClr val="tx1"/>
          </a:solidFill>
          <a:latin typeface="+mn-lt"/>
          <a:ea typeface="+mn-lt"/>
          <a:cs typeface="+mn-lt"/>
        </a:defRPr>
      </a:lvl1pPr>
      <a:lvl2pPr xmlns:a="http://schemas.openxmlformats.org/drawingml/2006/main" marL="742950" indent="-285750" algn="l" defTabSz="457200">
        <a:spcBef>
          <a:spcPct val="20000"/>
        </a:spcBef>
        <a:buFont typeface="Arial"/>
        <a:buChar char="–"/>
        <a:defRPr sz="2800" kern="1200">
          <a:solidFill>
            <a:schemeClr val="tx1"/>
          </a:solidFill>
          <a:latin typeface="+mn-lt"/>
          <a:ea typeface="+mn-lt"/>
          <a:cs typeface="+mn-lt"/>
        </a:defRPr>
      </a:lvl2pPr>
      <a:lvl3pPr xmlns:a="http://schemas.openxmlformats.org/drawingml/2006/main" marL="1143000" indent="-228600" algn="l" defTabSz="457200">
        <a:spcBef>
          <a:spcPct val="20000"/>
        </a:spcBef>
        <a:buFont typeface="Arial"/>
        <a:buChar char="•"/>
        <a:defRPr sz="2400" kern="1200">
          <a:solidFill>
            <a:schemeClr val="tx1"/>
          </a:solidFill>
          <a:latin typeface="+mn-lt"/>
          <a:ea typeface="+mn-lt"/>
          <a:cs typeface="+mn-lt"/>
        </a:defRPr>
      </a:lvl3pPr>
      <a:lvl4pPr xmlns:a="http://schemas.openxmlformats.org/drawingml/2006/main" marL="1600200" indent="-228600" algn="l" defTabSz="457200">
        <a:spcBef>
          <a:spcPct val="20000"/>
        </a:spcBef>
        <a:buFont typeface="Arial"/>
        <a:buChar char="–"/>
        <a:defRPr sz="2000" kern="1200">
          <a:solidFill>
            <a:schemeClr val="tx1"/>
          </a:solidFill>
          <a:latin typeface="+mn-lt"/>
          <a:ea typeface="+mn-lt"/>
          <a:cs typeface="+mn-lt"/>
        </a:defRPr>
      </a:lvl4pPr>
      <a:lvl5pPr xmlns:a="http://schemas.openxmlformats.org/drawingml/2006/main" marL="2057400" indent="-228600" algn="l" defTabSz="457200">
        <a:spcBef>
          <a:spcPct val="20000"/>
        </a:spcBef>
        <a:buFont typeface="Arial"/>
        <a:buChar char="»"/>
        <a:defRPr sz="2000" kern="1200">
          <a:solidFill>
            <a:schemeClr val="tx1"/>
          </a:solidFill>
          <a:latin typeface="+mn-lt"/>
          <a:ea typeface="+mn-lt"/>
          <a:cs typeface="+mn-lt"/>
        </a:defRPr>
      </a:lvl5pPr>
      <a:lvl6pPr xmlns:a="http://schemas.openxmlformats.org/drawingml/2006/main" marL="2514600" indent="-228600" algn="l" defTabSz="457200">
        <a:spcBef>
          <a:spcPct val="20000"/>
        </a:spcBef>
        <a:buFont typeface="Arial"/>
        <a:buChar char="•"/>
        <a:defRPr sz="2000" kern="1200">
          <a:solidFill>
            <a:schemeClr val="tx1"/>
          </a:solidFill>
          <a:latin typeface="+mn-lt"/>
          <a:ea typeface="+mn-lt"/>
          <a:cs typeface="+mn-lt"/>
        </a:defRPr>
      </a:lvl6pPr>
      <a:lvl7pPr xmlns:a="http://schemas.openxmlformats.org/drawingml/2006/main" marL="2971800" indent="-228600" algn="l" defTabSz="457200">
        <a:spcBef>
          <a:spcPct val="20000"/>
        </a:spcBef>
        <a:buFont typeface="Arial"/>
        <a:buChar char="•"/>
        <a:defRPr sz="2000" kern="1200">
          <a:solidFill>
            <a:schemeClr val="tx1"/>
          </a:solidFill>
          <a:latin typeface="+mn-lt"/>
          <a:ea typeface="+mn-lt"/>
          <a:cs typeface="+mn-lt"/>
        </a:defRPr>
      </a:lvl7pPr>
      <a:lvl8pPr xmlns:a="http://schemas.openxmlformats.org/drawingml/2006/main" marL="3429000" indent="-228600" algn="l" defTabSz="457200">
        <a:spcBef>
          <a:spcPct val="20000"/>
        </a:spcBef>
        <a:buFont typeface="Arial"/>
        <a:buChar char="•"/>
        <a:defRPr sz="2000" kern="1200">
          <a:solidFill>
            <a:schemeClr val="tx1"/>
          </a:solidFill>
          <a:latin typeface="+mn-lt"/>
          <a:ea typeface="+mn-lt"/>
          <a:cs typeface="+mn-lt"/>
        </a:defRPr>
      </a:lvl8pPr>
      <a:lvl9pPr xmlns:a="http://schemas.openxmlformats.org/drawingml/2006/main" marL="3886200" indent="-228600" algn="l" defTabSz="457200">
        <a:spcBef>
          <a:spcPct val="20000"/>
        </a:spcBef>
        <a:buFont typeface="Arial"/>
        <a:buChar char="•"/>
        <a:defRPr sz="2000" kern="1200">
          <a:solidFill>
            <a:schemeClr val="tx1"/>
          </a:solidFill>
          <a:latin typeface="+mn-lt"/>
          <a:ea typeface="+mn-lt"/>
          <a:cs typeface="+mn-lt"/>
        </a:defRPr>
      </a:lvl9pPr>
    </p:bodyStyle>
    <p:otherStyle>
      <a:lvl1pPr xmlns:a="http://schemas.openxmlformats.org/drawingml/2006/main" marL="0" algn="l" defTabSz="457200">
        <a:buNone/>
        <a:defRPr sz="1800" kern="1200">
          <a:solidFill>
            <a:schemeClr val="tx1"/>
          </a:solidFill>
          <a:latin typeface="+mn-lt"/>
          <a:ea typeface="+mn-lt"/>
          <a:cs typeface="+mn-lt"/>
        </a:defRPr>
      </a:lvl1pPr>
      <a:lvl2pPr xmlns:a="http://schemas.openxmlformats.org/drawingml/2006/main" marL="457200" algn="l" defTabSz="457200">
        <a:buNone/>
        <a:defRPr sz="1800" kern="1200">
          <a:solidFill>
            <a:schemeClr val="tx1"/>
          </a:solidFill>
          <a:latin typeface="+mn-lt"/>
          <a:ea typeface="+mn-lt"/>
          <a:cs typeface="+mn-lt"/>
        </a:defRPr>
      </a:lvl2pPr>
      <a:lvl3pPr xmlns:a="http://schemas.openxmlformats.org/drawingml/2006/main" marL="914400" algn="l" defTabSz="457200">
        <a:buNone/>
        <a:defRPr sz="1800" kern="1200">
          <a:solidFill>
            <a:schemeClr val="tx1"/>
          </a:solidFill>
          <a:latin typeface="+mn-lt"/>
          <a:ea typeface="+mn-lt"/>
          <a:cs typeface="+mn-lt"/>
        </a:defRPr>
      </a:lvl3pPr>
      <a:lvl4pPr xmlns:a="http://schemas.openxmlformats.org/drawingml/2006/main" marL="1371600" algn="l" defTabSz="457200">
        <a:buNone/>
        <a:defRPr sz="1800" kern="1200">
          <a:solidFill>
            <a:schemeClr val="tx1"/>
          </a:solidFill>
          <a:latin typeface="+mn-lt"/>
          <a:ea typeface="+mn-lt"/>
          <a:cs typeface="+mn-lt"/>
        </a:defRPr>
      </a:lvl4pPr>
      <a:lvl5pPr xmlns:a="http://schemas.openxmlformats.org/drawingml/2006/main" marL="1828800" algn="l" defTabSz="457200">
        <a:buNone/>
        <a:defRPr sz="1800" kern="1200">
          <a:solidFill>
            <a:schemeClr val="tx1"/>
          </a:solidFill>
          <a:latin typeface="+mn-lt"/>
          <a:ea typeface="+mn-lt"/>
          <a:cs typeface="+mn-lt"/>
        </a:defRPr>
      </a:lvl5pPr>
      <a:lvl6pPr xmlns:a="http://schemas.openxmlformats.org/drawingml/2006/main" marL="2286000" algn="l" defTabSz="457200">
        <a:buNone/>
        <a:defRPr sz="1800" kern="1200">
          <a:solidFill>
            <a:schemeClr val="tx1"/>
          </a:solidFill>
          <a:latin typeface="+mn-lt"/>
          <a:ea typeface="+mn-lt"/>
          <a:cs typeface="+mn-lt"/>
        </a:defRPr>
      </a:lvl6pPr>
      <a:lvl7pPr xmlns:a="http://schemas.openxmlformats.org/drawingml/2006/main" marL="2743200" algn="l" defTabSz="457200">
        <a:buNone/>
        <a:defRPr sz="1800" kern="1200">
          <a:solidFill>
            <a:schemeClr val="tx1"/>
          </a:solidFill>
          <a:latin typeface="+mn-lt"/>
          <a:ea typeface="+mn-lt"/>
          <a:cs typeface="+mn-lt"/>
        </a:defRPr>
      </a:lvl7pPr>
      <a:lvl8pPr xmlns:a="http://schemas.openxmlformats.org/drawingml/2006/main" marL="3200400" algn="l" defTabSz="457200">
        <a:buNone/>
        <a:defRPr sz="1800" kern="1200">
          <a:solidFill>
            <a:schemeClr val="tx1"/>
          </a:solidFill>
          <a:latin typeface="+mn-lt"/>
          <a:ea typeface="+mn-lt"/>
          <a:cs typeface="+mn-lt"/>
        </a:defRPr>
      </a:lvl8pPr>
      <a:lvl9pPr xmlns:a="http://schemas.openxmlformats.org/drawingml/2006/main" marL="3657600" algn="l" defTabSz="457200">
        <a:buNone/>
        <a:defRPr sz="1800" kern="12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7.xml" Id="R6b0159f42772446e" /><Relationship Type="http://schemas.openxmlformats.org/officeDocument/2006/relationships/notesSlide" Target="/ppt/notesSlides/notesSlide1.xml" Id="R83db47ac2b0c465b" /></Relationships>
</file>

<file path=ppt/slides/_rels/slide2.xml.rels>&#65279;<?xml version="1.0" encoding="utf-8"?><Relationships xmlns="http://schemas.openxmlformats.org/package/2006/relationships"><Relationship Type="http://schemas.openxmlformats.org/officeDocument/2006/relationships/slideLayout" Target="/ppt/slideLayouts/slideLayout7.xml" Id="Rc3562bb4bd604a15" /><Relationship Type="http://schemas.openxmlformats.org/officeDocument/2006/relationships/notesSlide" Target="/ppt/notesSlides/notesSlide2.xml" Id="R59b0578b7e144f15" /></Relationships>
</file>

<file path=ppt/slides/_rels/slide3.xml.rels>&#65279;<?xml version="1.0" encoding="utf-8"?><Relationships xmlns="http://schemas.openxmlformats.org/package/2006/relationships"><Relationship Type="http://schemas.openxmlformats.org/officeDocument/2006/relationships/slideLayout" Target="/ppt/slideLayouts/slideLayout7.xml" Id="Ref6d041d364e448b" /><Relationship Type="http://schemas.openxmlformats.org/officeDocument/2006/relationships/notesSlide" Target="/ppt/notesSlides/notesSlide3.xml" Id="Rb6e11a777da6420a" /></Relationships>
</file>

<file path=ppt/slides/_rels/slide4.xml.rels>&#65279;<?xml version="1.0" encoding="utf-8"?><Relationships xmlns="http://schemas.openxmlformats.org/package/2006/relationships"><Relationship Type="http://schemas.openxmlformats.org/officeDocument/2006/relationships/slideLayout" Target="/ppt/slideLayouts/slideLayout7.xml" Id="Rc6d55800a3654e31" /><Relationship Type="http://schemas.openxmlformats.org/officeDocument/2006/relationships/notesSlide" Target="/ppt/notesSlides/notesSlide4.xml" Id="Rc80cb0aa56d345b2" /></Relationships>
</file>

<file path=ppt/slides/_rels/slide5.xml.rels>&#65279;<?xml version="1.0" encoding="utf-8"?><Relationships xmlns="http://schemas.openxmlformats.org/package/2006/relationships"><Relationship Type="http://schemas.openxmlformats.org/officeDocument/2006/relationships/slideLayout" Target="/ppt/slideLayouts/slideLayout7.xml" Id="R76a47e3ee21e4049" /><Relationship Type="http://schemas.openxmlformats.org/officeDocument/2006/relationships/notesSlide" Target="/ppt/notesSlides/notesSlide5.xml" Id="R0a68541e997f4924" /></Relationships>
</file>

<file path=ppt/slides/_rels/slide6.xml.rels>&#65279;<?xml version="1.0" encoding="utf-8"?><Relationships xmlns="http://schemas.openxmlformats.org/package/2006/relationships"><Relationship Type="http://schemas.openxmlformats.org/officeDocument/2006/relationships/slideLayout" Target="/ppt/slideLayouts/slideLayout7.xml" Id="R92626ec176994aa6" /><Relationship Type="http://schemas.openxmlformats.org/officeDocument/2006/relationships/notesSlide" Target="/ppt/notesSlides/notesSlide6.xml" Id="Rcb8a7006514c4bc4" /></Relationships>
</file>

<file path=ppt/slides/_rels/slide7.xml.rels>&#65279;<?xml version="1.0" encoding="utf-8"?><Relationships xmlns="http://schemas.openxmlformats.org/package/2006/relationships"><Relationship Type="http://schemas.openxmlformats.org/officeDocument/2006/relationships/slideLayout" Target="/ppt/slideLayouts/slideLayout7.xml" Id="Rc5e3cb781e614ee0" /><Relationship Type="http://schemas.openxmlformats.org/officeDocument/2006/relationships/notesSlide" Target="/ppt/notesSlides/notesSlide7.xml" Id="R67dbf4bcaebd4fb5" /></Relationships>
</file>

<file path=ppt/slides/_rels/slide8.xml.rels>&#65279;<?xml version="1.0" encoding="utf-8"?><Relationships xmlns="http://schemas.openxmlformats.org/package/2006/relationships"><Relationship Type="http://schemas.openxmlformats.org/officeDocument/2006/relationships/slideLayout" Target="/ppt/slideLayouts/slideLayout7.xml" Id="Re5ba3ecb38c745ec" /><Relationship Type="http://schemas.openxmlformats.org/officeDocument/2006/relationships/notesSlide" Target="/ppt/notesSlides/notesSlide8.xml" Id="Ra1bc02504c47460a" /></Relationships>
</file>

<file path=ppt/slides/_rels/slide9.xml.rels>&#65279;<?xml version="1.0" encoding="utf-8"?><Relationships xmlns="http://schemas.openxmlformats.org/package/2006/relationships"><Relationship Type="http://schemas.openxmlformats.org/officeDocument/2006/relationships/slideLayout" Target="/ppt/slideLayouts/slideLayout7.xml" Id="Rd939d2a84d624c09" /><Relationship Type="http://schemas.openxmlformats.org/officeDocument/2006/relationships/notesSlide" Target="/ppt/notesSlides/notesSlide9.xml" Id="R88580d5c9b9e402c" /></Relationships>
</file>

<file path=ppt/slides/slide1.xml><?xml version="1.0" encoding="utf-8"?>
<p:sld xmlns:p="http://schemas.openxmlformats.org/presentationml/2006/main">
  <p:cSld>
    <p:bg>
      <p:bgPr>
        <a:solidFill xmlns:a="http://schemas.openxmlformats.org/drawingml/2006/main">
          <a:srgbClr val="EEECE1"/>
        </a:solidFill>
      </p:bgPr>
    </p:bg>
    <p:spTree>
      <p:nvGrpSpPr>
        <p:cNvPr id="1" name=""/>
        <p:cNvGrpSpPr/>
        <p:nvPr/>
      </p:nvGrpSpPr>
      <p:grpSpPr>
        <a:xfrm xmlns:a="http://schemas.openxmlformats.org/drawingml/2006/main"/>
      </p:grpSpPr>
      <p:sp>
        <p:nvSpPr>
          <p:cNvPr id="2" name="TextBox 1">
            <a:extLst xmlns:a="http://schemas.openxmlformats.org/drawingml/2006/main">
              <a:ext uri="{FF2B5EF4-FFF2-40B4-BE49-F238E27FC236}">
                <a16:creationId xmlns:a16="http://schemas.microsoft.com/office/drawing/2014/main" id="{E2D1AF41-89EC-4BAF-9B88-EB527E2629A2}"/>
              </a:ext>
            </a:extLst>
          </p:cNvPr>
          <p:cNvSpPr>
            <a:spLocks xmlns:a="http://schemas.openxmlformats.org/drawingml/2006/main" noGrp="1"/>
          </p:cNvSpPr>
          <p:nvPr/>
        </p:nvSpPr>
        <p:spPr>
          <a:xfrm xmlns:a="http://schemas.openxmlformats.org/drawingml/2006/main">
            <a:off x="640080" y="2103120"/>
            <a:ext cx="10607040" cy="2076450"/>
          </a:xfrm>
          <a:prstGeom xmlns:a="http://schemas.openxmlformats.org/drawingml/2006/main" prst="rect">
            <a:avLst/>
          </a:prstGeom>
          <a:noFill xmlns:a="http://schemas.openxmlformats.org/drawingml/2006/main"/>
        </p:spPr>
        <p:txBody>
          <a:bodyPr xmlns:a="http://schemas.openxmlformats.org/drawingml/2006/main" wrap="square" lIns="0" tIns="0" rIns="0" bIns="0">
            <a:spAutoFit/>
          </a:bodyPr>
          <a:lstStyle xmlns:a="http://schemas.openxmlformats.org/drawingml/2006/main"/>
          <a:p xmlns:a="http://schemas.openxmlformats.org/drawingml/2006/main">
            <a:r>
              <a:rPr sz="1500" b="1" i="0">
                <a:solidFill>
                  <a:srgbClr val="CF3338"/>
                </a:solidFill>
                <a:latin typeface="Arial Black"/>
                <a:ea typeface="Arial Black"/>
                <a:cs typeface="Arial Black"/>
              </a:rPr>
              <a:t>GUERRILLA AI FOR EXCEL. A LIVE SERIES, DAY 5 OF 5</a:t>
            </a:r>
          </a:p>
          <a:p xmlns:a="http://schemas.openxmlformats.org/drawingml/2006/main">
            <a:pPr>
              <a:spcBef>
                <a:spcPts val="1000"/>
              </a:spcBef>
              <a:buNone/>
            </a:pPr>
            <a:r>
              <a:rPr sz="4200" b="1" i="0">
                <a:solidFill>
                  <a:srgbClr val="1F2120"/>
                </a:solidFill>
                <a:latin typeface="Arial Black"/>
                <a:ea typeface="Arial Black"/>
                <a:cs typeface="Arial Black"/>
              </a:rPr>
              <a:t>Markdown: the language AI speaks</a:t>
            </a:r>
          </a:p>
          <a:p xmlns:a="http://schemas.openxmlformats.org/drawingml/2006/main">
            <a:pPr>
              <a:spcBef>
                <a:spcPts val="1400"/>
              </a:spcBef>
              <a:buNone/>
            </a:pPr>
            <a:r>
              <a:rPr sz="2000" b="0" i="0">
                <a:solidFill>
                  <a:srgbClr val="707070"/>
                </a:solidFill>
                <a:latin typeface="Arial"/>
                <a:ea typeface="Arial"/>
                <a:cs typeface="Arial"/>
              </a:rPr>
              <a:t>Structured prompts, round-trip tables, and the close of the week.</a:t>
            </a:r>
          </a:p>
        </p:txBody>
      </p:sp>
      <p:sp>
        <p:nvSpPr>
          <p:cNvPr id="3" name="TextBox 2">
            <a:extLst xmlns:a="http://schemas.openxmlformats.org/drawingml/2006/main">
              <a:ext uri="{FF2B5EF4-FFF2-40B4-BE49-F238E27FC236}">
                <a16:creationId xmlns:a16="http://schemas.microsoft.com/office/drawing/2014/main" id="{FB8C1566-70C3-48B7-AD08-EC0093C659F2}"/>
              </a:ext>
            </a:extLst>
          </p:cNvPr>
          <p:cNvSpPr>
            <a:spLocks xmlns:a="http://schemas.openxmlformats.org/drawingml/2006/main" noGrp="1"/>
          </p:cNvSpPr>
          <p:nvPr/>
        </p:nvSpPr>
        <p:spPr>
          <a:xfrm xmlns:a="http://schemas.openxmlformats.org/drawingml/2006/main">
            <a:off x="640080" y="6080760"/>
            <a:ext cx="10972800" cy="457200"/>
          </a:xfrm>
          <a:prstGeom xmlns:a="http://schemas.openxmlformats.org/drawingml/2006/main" prst="rect">
            <a:avLst/>
          </a:prstGeom>
          <a:noFill xmlns:a="http://schemas.openxmlformats.org/drawingml/2006/main"/>
        </p:spPr>
        <p:txBody>
          <a:bodyPr xmlns:a="http://schemas.openxmlformats.org/drawingml/2006/main" wrap="square" lIns="0" tIns="0" rIns="0" bIns="0">
            <a:spAutoFit/>
          </a:bodyPr>
          <a:lstStyle xmlns:a="http://schemas.openxmlformats.org/drawingml/2006/main"/>
          <a:p xmlns:a="http://schemas.openxmlformats.org/drawingml/2006/main">
            <a:r>
              <a:rPr sz="1300" b="0" i="1">
                <a:solidFill>
                  <a:srgbClr val="707070"/>
                </a:solidFill>
                <a:latin typeface="Arial"/>
                <a:ea typeface="Arial"/>
                <a:cs typeface="Arial"/>
              </a:rPr>
              <a:t>Live Mon Sep 28 to Fri Oct 2, 12:00 to 12:20 PM ET. Sessions are recorded.</a:t>
            </a:r>
          </a:p>
        </p:txBody>
      </p:sp>
      <p:sp>
        <p:nvSpPr>
          <p:cNvPr id="4" name="TextBox 3">
            <a:extLst xmlns:a="http://schemas.openxmlformats.org/drawingml/2006/main">
              <a:ext uri="{FF2B5EF4-FFF2-40B4-BE49-F238E27FC236}">
                <a16:creationId xmlns:a16="http://schemas.microsoft.com/office/drawing/2014/main" id="{149F9233-9D34-4C44-B98F-1FBCDFDC589E}"/>
              </a:ext>
            </a:extLst>
          </p:cNvPr>
          <p:cNvSpPr>
            <a:spLocks xmlns:a="http://schemas.openxmlformats.org/drawingml/2006/main" noGrp="1"/>
          </p:cNvSpPr>
          <p:nvPr/>
        </p:nvSpPr>
        <p:spPr>
          <a:xfrm xmlns:a="http://schemas.openxmlformats.org/drawingml/2006/main">
            <a:off x="457200" y="384048"/>
            <a:ext cx="4114800" cy="365760"/>
          </a:xfrm>
          <a:prstGeom xmlns:a="http://schemas.openxmlformats.org/drawingml/2006/main" prst="rect">
            <a:avLst/>
          </a:prstGeom>
          <a:noFill xmlns:a="http://schemas.openxmlformats.org/drawingml/2006/main"/>
        </p:spPr>
        <p:txBody>
          <a:bodyPr xmlns:a="http://schemas.openxmlformats.org/drawingml/2006/main" wrap="square" lIns="0" tIns="0" rIns="0" bIns="0">
            <a:spAutoFit/>
          </a:bodyPr>
          <a:lstStyle xmlns:a="http://schemas.openxmlformats.org/drawingml/2006/main"/>
          <a:p xmlns:a="http://schemas.openxmlformats.org/drawingml/2006/main">
            <a:r>
              <a:rPr sz="1300" b="1" i="0">
                <a:solidFill>
                  <a:srgbClr val="CF3338"/>
                </a:solidFill>
                <a:latin typeface="Arial Black"/>
                <a:ea typeface="Arial Black"/>
                <a:cs typeface="Arial Black"/>
              </a:rPr>
              <a:t>STRINGFEST ANALYTICS</a:t>
            </a:r>
          </a:p>
        </p:txBody>
      </p:sp>
      <p:sp>
        <p:nvSpPr>
          <p:cNvPr id="5" name="Chat prompt panel">
            <a:extLst xmlns:a="http://schemas.openxmlformats.org/drawingml/2006/main">
              <a:ext uri="{FF2B5EF4-FFF2-40B4-BE49-F238E27FC236}">
                <a16:creationId xmlns:a16="http://schemas.microsoft.com/office/drawing/2014/main" id="{70196ADC-061A-4D3F-8570-FED7DFBF6858}"/>
              </a:ext>
            </a:extLst>
          </p:cNvPr>
          <p:cNvSpPr>
            <a:spLocks xmlns:a="http://schemas.openxmlformats.org/drawingml/2006/main" noGrp="1"/>
          </p:cNvSpPr>
          <p:nvPr/>
        </p:nvSpPr>
        <p:spPr>
          <a:xfrm xmlns:a="http://schemas.openxmlformats.org/drawingml/2006/main">
            <a:off x="638175" y="4352925"/>
            <a:ext cx="10896600" cy="1352550"/>
          </a:xfrm>
          <a:prstGeom xmlns:a="http://schemas.openxmlformats.org/drawingml/2006/main" prst="rect">
            <a:avLst/>
          </a:prstGeom>
          <a:solidFill xmlns:a="http://schemas.openxmlformats.org/drawingml/2006/main">
            <a:srgbClr val="1F2120"/>
          </a:solidFill>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r>
              <a:t/>
            </a:r>
          </a:p>
        </p:txBody>
      </p:sp>
      <p:sp>
        <p:nvSpPr>
          <p:cNvPr id="6" name="Chat question">
            <a:extLst xmlns:a="http://schemas.openxmlformats.org/drawingml/2006/main">
              <a:ext uri="{FF2B5EF4-FFF2-40B4-BE49-F238E27FC236}">
                <a16:creationId xmlns:a16="http://schemas.microsoft.com/office/drawing/2014/main" id="{A91C3EDA-4E3C-4B6F-A0B8-8F1A6B866A6C}"/>
              </a:ext>
            </a:extLst>
          </p:cNvPr>
          <p:cNvSpPr>
            <a:spLocks xmlns:a="http://schemas.openxmlformats.org/drawingml/2006/main" noGrp="1"/>
          </p:cNvSpPr>
          <p:nvPr/>
        </p:nvSpPr>
        <p:spPr>
          <a:xfrm xmlns:a="http://schemas.openxmlformats.org/drawingml/2006/main">
            <a:off x="857250" y="4495800"/>
            <a:ext cx="104298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100" b="1">
                <a:solidFill>
                  <a:srgbClr val="FFFFFF"/>
                </a:solidFill>
                <a:latin typeface="Arial"/>
                <a:ea typeface="Arial"/>
                <a:cs typeface="Arial"/>
              </a:defRPr>
            </a:pPr>
            <a:r>
              <a:rPr sz="2100" b="1">
                <a:solidFill>
                  <a:srgbClr val="FFFFFF"/>
                </a:solidFill>
                <a:latin typeface="Arial"/>
                <a:ea typeface="Arial"/>
                <a:cs typeface="Arial"/>
              </a:rPr>
              <a:t>Your usual AI prompt?</a:t>
            </a:r>
          </a:p>
        </p:txBody>
      </p:sp>
      <p:sp>
        <p:nvSpPr>
          <p:cNvPr id="7" name="Chat choices">
            <a:extLst xmlns:a="http://schemas.openxmlformats.org/drawingml/2006/main">
              <a:ext uri="{FF2B5EF4-FFF2-40B4-BE49-F238E27FC236}">
                <a16:creationId xmlns:a16="http://schemas.microsoft.com/office/drawing/2014/main" id="{BD29C22E-122D-476F-8CE4-E850E0F23080}"/>
              </a:ext>
            </a:extLst>
          </p:cNvPr>
          <p:cNvSpPr>
            <a:spLocks xmlns:a="http://schemas.openxmlformats.org/drawingml/2006/main" noGrp="1"/>
          </p:cNvSpPr>
          <p:nvPr/>
        </p:nvSpPr>
        <p:spPr>
          <a:xfrm xmlns:a="http://schemas.openxmlformats.org/drawingml/2006/main">
            <a:off x="857250" y="4962525"/>
            <a:ext cx="6858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400" b="1">
                <a:solidFill>
                  <a:srgbClr val="FFFFFF"/>
                </a:solidFill>
                <a:latin typeface="Arial"/>
                <a:ea typeface="Arial"/>
                <a:cs typeface="Arial"/>
              </a:defRPr>
            </a:pPr>
            <a:r>
              <a:rPr sz="2400" b="1">
                <a:solidFill>
                  <a:srgbClr val="FFFFFF"/>
                </a:solidFill>
                <a:latin typeface="Arial"/>
                <a:ea typeface="Arial"/>
                <a:cs typeface="Arial"/>
              </a:rPr>
              <a:t>SHORT / DETAILED</a:t>
            </a:r>
          </a:p>
        </p:txBody>
      </p:sp>
      <p:sp>
        <p:nvSpPr>
          <p:cNvPr id="8" name="Chat instruction">
            <a:extLst xmlns:a="http://schemas.openxmlformats.org/drawingml/2006/main">
              <a:ext uri="{FF2B5EF4-FFF2-40B4-BE49-F238E27FC236}">
                <a16:creationId xmlns:a16="http://schemas.microsoft.com/office/drawing/2014/main" id="{D0A2B355-E242-46A9-840B-693419A72105}"/>
              </a:ext>
            </a:extLst>
          </p:cNvPr>
          <p:cNvSpPr>
            <a:spLocks xmlns:a="http://schemas.openxmlformats.org/drawingml/2006/main" noGrp="1"/>
          </p:cNvSpPr>
          <p:nvPr/>
        </p:nvSpPr>
        <p:spPr>
          <a:xfrm xmlns:a="http://schemas.openxmlformats.org/drawingml/2006/main">
            <a:off x="8143875" y="5095875"/>
            <a:ext cx="3048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425" b="0">
                <a:solidFill>
                  <a:srgbClr val="FFFFFF"/>
                </a:solidFill>
                <a:latin typeface="Arial"/>
                <a:ea typeface="Arial"/>
                <a:cs typeface="Arial"/>
              </a:defRPr>
            </a:pPr>
            <a:r>
              <a:rPr sz="1425" b="0">
                <a:solidFill>
                  <a:srgbClr val="FFFFFF"/>
                </a:solidFill>
                <a:latin typeface="Arial"/>
                <a:ea typeface="Arial"/>
                <a:cs typeface="Arial"/>
              </a:rPr>
              <a:t>Type one word in chat.</a:t>
            </a:r>
          </a:p>
        </p:txBody>
      </p:sp>
    </p:spTree>
    <p:extLst>
      <p:ext uri="{BB962C8B-B14F-4D97-AF65-F5344CB8AC3E}">
        <p14:creationId xmlns:p14="http://schemas.microsoft.com/office/powerpoint/2010/main" val="252544297"/>
      </p:ext>
    </p:extLst>
  </p:cSld>
</p:sld>
</file>

<file path=ppt/slides/slide2.xml><?xml version="1.0" encoding="utf-8"?>
<p:sld xmlns:p="http://schemas.openxmlformats.org/presentationml/2006/main">
  <p:cSld>
    <p:bg>
      <p:bgPr>
        <a:solidFill xmlns:a="http://schemas.openxmlformats.org/drawingml/2006/main">
          <a:srgbClr val="EEECE1"/>
        </a:solidFill>
      </p:bgPr>
    </p:bg>
    <p:spTree>
      <p:nvGrpSpPr>
        <p:cNvPr id="1" name=""/>
        <p:cNvGrpSpPr/>
        <p:nvPr/>
      </p:nvGrpSpPr>
      <p:grpSpPr>
        <a:xfrm xmlns:a="http://schemas.openxmlformats.org/drawingml/2006/main"/>
      </p:grpSpPr>
      <p:sp>
        <p:nvSpPr>
          <p:cNvPr id="2" name="TextBox 1">
            <a:extLst xmlns:a="http://schemas.openxmlformats.org/drawingml/2006/main">
              <a:ext uri="{FF2B5EF4-FFF2-40B4-BE49-F238E27FC236}">
                <a16:creationId xmlns:a16="http://schemas.microsoft.com/office/drawing/2014/main" id="{025C5574-5457-4AC3-85E3-9A469F4010CB}"/>
              </a:ext>
            </a:extLst>
          </p:cNvPr>
          <p:cNvSpPr>
            <a:spLocks xmlns:a="http://schemas.openxmlformats.org/drawingml/2006/main" noGrp="1"/>
          </p:cNvSpPr>
          <p:nvPr/>
        </p:nvSpPr>
        <p:spPr>
          <a:xfrm xmlns:a="http://schemas.openxmlformats.org/drawingml/2006/main">
            <a:off x="640080" y="457200"/>
            <a:ext cx="10881360" cy="1188720"/>
          </a:xfrm>
          <a:prstGeom xmlns:a="http://schemas.openxmlformats.org/drawingml/2006/main" prst="rect">
            <a:avLst/>
          </a:prstGeom>
          <a:noFill xmlns:a="http://schemas.openxmlformats.org/drawingml/2006/main"/>
        </p:spPr>
        <p:txBody>
          <a:bodyPr xmlns:a="http://schemas.openxmlformats.org/drawingml/2006/main" wrap="square" lIns="0" tIns="0" rIns="0" bIns="0">
            <a:spAutoFit/>
          </a:bodyPr>
          <a:lstStyle xmlns:a="http://schemas.openxmlformats.org/drawingml/2006/main"/>
          <a:p xmlns:a="http://schemas.openxmlformats.org/drawingml/2006/main">
            <a:r>
              <a:rPr sz="3000" b="1" i="0">
                <a:solidFill>
                  <a:srgbClr val="1F2120"/>
                </a:solidFill>
                <a:latin typeface="Arial Black"/>
                <a:ea typeface="Arial Black"/>
                <a:cs typeface="Arial Black"/>
              </a:rPr>
              <a:t>Yesterday in 30 seconds</a:t>
            </a:r>
          </a:p>
          <a:p xmlns:a="http://schemas.openxmlformats.org/drawingml/2006/main">
            <a:pPr>
              <a:spcBef>
                <a:spcPts val="400"/>
              </a:spcBef>
              <a:buNone/>
            </a:pPr>
            <a:r>
              <a:rPr sz="1500" b="0" i="1">
                <a:solidFill>
                  <a:srgbClr val="CF3338"/>
                </a:solidFill>
                <a:latin typeface="Arial"/>
                <a:ea typeface="Arial"/>
                <a:cs typeface="Arial"/>
              </a:rPr>
              <a:t>One dataset, five practical wins</a:t>
            </a:r>
          </a:p>
        </p:txBody>
      </p:sp>
      <p:sp>
        <p:nvSpPr>
          <p:cNvPr id="3" name="TextBox 2">
            <a:extLst xmlns:a="http://schemas.openxmlformats.org/drawingml/2006/main">
              <a:ext uri="{FF2B5EF4-FFF2-40B4-BE49-F238E27FC236}">
                <a16:creationId xmlns:a16="http://schemas.microsoft.com/office/drawing/2014/main" id="{B775A5BD-A004-4E43-8973-CB0494677270}"/>
              </a:ext>
            </a:extLst>
          </p:cNvPr>
          <p:cNvSpPr>
            <a:spLocks xmlns:a="http://schemas.openxmlformats.org/drawingml/2006/main" noGrp="1"/>
          </p:cNvSpPr>
          <p:nvPr/>
        </p:nvSpPr>
        <p:spPr>
          <a:xfrm xmlns:a="http://schemas.openxmlformats.org/drawingml/2006/main">
            <a:off x="640080" y="1783080"/>
            <a:ext cx="10881360" cy="4846320"/>
          </a:xfrm>
          <a:prstGeom xmlns:a="http://schemas.openxmlformats.org/drawingml/2006/main" prst="rect">
            <a:avLst/>
          </a:prstGeom>
          <a:noFill xmlns:a="http://schemas.openxmlformats.org/drawingml/2006/main"/>
        </p:spPr>
        <p:txBody>
          <a:bodyPr xmlns:a="http://schemas.openxmlformats.org/drawingml/2006/main" wrap="square" lIns="0" tIns="0" rIns="0" bIns="0">
            <a:spAutoFit/>
          </a:bodyPr>
          <a:lstStyle xmlns:a="http://schemas.openxmlformats.org/drawingml/2006/main"/>
          <a:p xmlns:a="http://schemas.openxmlformats.org/drawingml/2006/main">
            <a:pPr>
              <a:spcAft>
                <a:spcPts val="700"/>
              </a:spcAft>
              <a:buNone/>
            </a:pPr>
            <a:r>
              <a:rPr sz="1200" b="1" i="0">
                <a:solidFill>
                  <a:srgbClr val="CF3338"/>
                </a:solidFill>
                <a:latin typeface="Arial"/>
                <a:ea typeface="Arial"/>
                <a:cs typeface="Arial"/>
              </a:rPr>
              <a:t>• </a:t>
            </a:r>
            <a:r>
              <a:rPr sz="1600" b="0" i="0">
                <a:solidFill>
                  <a:srgbClr val="1F2120"/>
                </a:solidFill>
                <a:latin typeface="Arial"/>
                <a:ea typeface="Arial"/>
                <a:cs typeface="Arial"/>
              </a:rPr>
              <a:t>Day 4 was A data science lab behind =PY().</a:t>
            </a:r>
          </a:p>
          <a:p xmlns:a="http://schemas.openxmlformats.org/drawingml/2006/main">
            <a:pPr>
              <a:spcAft>
                <a:spcPts val="700"/>
              </a:spcAft>
              <a:buNone/>
            </a:pPr>
            <a:r>
              <a:rPr sz="1200" b="1" i="0">
                <a:solidFill>
                  <a:srgbClr val="CF3338"/>
                </a:solidFill>
                <a:latin typeface="Arial"/>
                <a:ea typeface="Arial"/>
                <a:cs typeface="Arial"/>
              </a:rPr>
              <a:t>• </a:t>
            </a:r>
            <a:r>
              <a:rPr sz="1600" b="0" i="0">
                <a:solidFill>
                  <a:srgbClr val="1F2120"/>
                </a:solidFill>
                <a:latin typeface="Arial"/>
                <a:ea typeface="Arial"/>
                <a:cs typeface="Arial"/>
              </a:rPr>
              <a:t>If Python is available in your Excel, start by describing the result you need.</a:t>
            </a:r>
          </a:p>
          <a:p xmlns:a="http://schemas.openxmlformats.org/drawingml/2006/main">
            <a:pPr>
              <a:spcAft>
                <a:spcPts val="700"/>
              </a:spcAft>
              <a:buNone/>
            </a:pPr>
            <a:r>
              <a:rPr sz="1200" b="1" i="0">
                <a:solidFill>
                  <a:srgbClr val="CF3338"/>
                </a:solidFill>
                <a:latin typeface="Arial"/>
                <a:ea typeface="Arial"/>
                <a:cs typeface="Arial"/>
              </a:rPr>
              <a:t>• </a:t>
            </a:r>
            <a:r>
              <a:rPr sz="1600" b="0" i="0">
                <a:solidFill>
                  <a:srgbClr val="1F2120"/>
                </a:solidFill>
                <a:latin typeface="Arial"/>
                <a:ea typeface="Arial"/>
                <a:cs typeface="Arial"/>
              </a:rPr>
              <a:t>Same dataset today. Every day builds on the last.</a:t>
            </a:r>
          </a:p>
        </p:txBody>
      </p:sp>
    </p:spTree>
    <p:extLst>
      <p:ext uri="{BB962C8B-B14F-4D97-AF65-F5344CB8AC3E}">
        <p14:creationId xmlns:p14="http://schemas.microsoft.com/office/powerpoint/2010/main" val="108459743"/>
      </p:ext>
    </p:extLst>
  </p:cSld>
</p:sld>
</file>

<file path=ppt/slides/slide3.xml><?xml version="1.0" encoding="utf-8"?>
<p:sld xmlns:p="http://schemas.openxmlformats.org/presentationml/2006/main">
  <p:cSld>
    <p:bg>
      <p:bgPr>
        <a:solidFill xmlns:a="http://schemas.openxmlformats.org/drawingml/2006/main">
          <a:srgbClr val="EEECE1"/>
        </a:solidFill>
      </p:bgPr>
    </p:bg>
    <p:spTree>
      <p:nvGrpSpPr>
        <p:cNvPr id="1" name=""/>
        <p:cNvGrpSpPr/>
        <p:nvPr/>
      </p:nvGrpSpPr>
      <p:grpSpPr>
        <a:xfrm xmlns:a="http://schemas.openxmlformats.org/drawingml/2006/main"/>
      </p:grpSpPr>
      <p:sp>
        <p:nvSpPr>
          <p:cNvPr id="2" name="TextBox 1">
            <a:extLst xmlns:a="http://schemas.openxmlformats.org/drawingml/2006/main">
              <a:ext uri="{FF2B5EF4-FFF2-40B4-BE49-F238E27FC236}">
                <a16:creationId xmlns:a16="http://schemas.microsoft.com/office/drawing/2014/main" id="{E7071D42-8958-435F-8EC6-B3C1AFB93959}"/>
              </a:ext>
            </a:extLst>
          </p:cNvPr>
          <p:cNvSpPr>
            <a:spLocks xmlns:a="http://schemas.openxmlformats.org/drawingml/2006/main" noGrp="1"/>
          </p:cNvSpPr>
          <p:nvPr/>
        </p:nvSpPr>
        <p:spPr>
          <a:xfrm xmlns:a="http://schemas.openxmlformats.org/drawingml/2006/main">
            <a:off x="640080" y="457200"/>
            <a:ext cx="10881360" cy="1188720"/>
          </a:xfrm>
          <a:prstGeom xmlns:a="http://schemas.openxmlformats.org/drawingml/2006/main" prst="rect">
            <a:avLst/>
          </a:prstGeom>
          <a:noFill xmlns:a="http://schemas.openxmlformats.org/drawingml/2006/main"/>
        </p:spPr>
        <p:txBody>
          <a:bodyPr xmlns:a="http://schemas.openxmlformats.org/drawingml/2006/main" wrap="square" lIns="0" tIns="0" rIns="0" bIns="0">
            <a:spAutoFit/>
          </a:bodyPr>
          <a:lstStyle xmlns:a="http://schemas.openxmlformats.org/drawingml/2006/main"/>
          <a:p xmlns:a="http://schemas.openxmlformats.org/drawingml/2006/main">
            <a:r>
              <a:rPr sz="3000" b="1" i="0">
                <a:solidFill>
                  <a:srgbClr val="1F2120"/>
                </a:solidFill>
                <a:latin typeface="Arial Black"/>
                <a:ea typeface="Arial Black"/>
                <a:cs typeface="Arial Black"/>
              </a:rPr>
              <a:t>Why this counts as AI</a:t>
            </a:r>
          </a:p>
          <a:p xmlns:a="http://schemas.openxmlformats.org/drawingml/2006/main">
            <a:pPr>
              <a:spcBef>
                <a:spcPts val="400"/>
              </a:spcBef>
              <a:buNone/>
            </a:pPr>
            <a:r>
              <a:rPr sz="1500" b="0" i="1">
                <a:solidFill>
                  <a:srgbClr val="CF3338"/>
                </a:solidFill>
                <a:latin typeface="Arial"/>
                <a:ea typeface="Arial"/>
                <a:cs typeface="Arial"/>
              </a:rPr>
              <a:t>The guerrilla hook, day 5</a:t>
            </a:r>
          </a:p>
        </p:txBody>
      </p:sp>
      <p:sp>
        <p:nvSpPr>
          <p:cNvPr id="3" name="TextBox 2">
            <a:extLst xmlns:a="http://schemas.openxmlformats.org/drawingml/2006/main">
              <a:ext uri="{FF2B5EF4-FFF2-40B4-BE49-F238E27FC236}">
                <a16:creationId xmlns:a16="http://schemas.microsoft.com/office/drawing/2014/main" id="{5EDA4F27-F550-474D-8C55-BB8B91C2FEA3}"/>
              </a:ext>
            </a:extLst>
          </p:cNvPr>
          <p:cNvSpPr>
            <a:spLocks xmlns:a="http://schemas.openxmlformats.org/drawingml/2006/main" noGrp="1"/>
          </p:cNvSpPr>
          <p:nvPr/>
        </p:nvSpPr>
        <p:spPr>
          <a:xfrm xmlns:a="http://schemas.openxmlformats.org/drawingml/2006/main">
            <a:off x="640080" y="1783080"/>
            <a:ext cx="10881360" cy="4846320"/>
          </a:xfrm>
          <a:prstGeom xmlns:a="http://schemas.openxmlformats.org/drawingml/2006/main" prst="rect">
            <a:avLst/>
          </a:prstGeom>
          <a:noFill xmlns:a="http://schemas.openxmlformats.org/drawingml/2006/main"/>
        </p:spPr>
        <p:txBody>
          <a:bodyPr xmlns:a="http://schemas.openxmlformats.org/drawingml/2006/main" wrap="square" lIns="0" tIns="0" rIns="0" bIns="0">
            <a:spAutoFit/>
          </a:bodyPr>
          <a:lstStyle xmlns:a="http://schemas.openxmlformats.org/drawingml/2006/main"/>
          <a:p xmlns:a="http://schemas.openxmlformats.org/drawingml/2006/main">
            <a:pPr>
              <a:spcAft>
                <a:spcPts val="700"/>
              </a:spcAft>
              <a:buNone/>
            </a:pPr>
            <a:r>
              <a:rPr sz="1200" b="1" i="0">
                <a:solidFill>
                  <a:srgbClr val="CF3338"/>
                </a:solidFill>
                <a:latin typeface="Arial"/>
                <a:ea typeface="Arial"/>
                <a:cs typeface="Arial"/>
              </a:rPr>
              <a:t>• </a:t>
            </a:r>
            <a:r>
              <a:rPr sz="1600" b="0" i="0">
                <a:solidFill>
                  <a:srgbClr val="1F2120"/>
                </a:solidFill>
                <a:latin typeface="Arial"/>
                <a:ea typeface="Arial"/>
                <a:cs typeface="Arial"/>
              </a:rPr>
              <a:t>Many AI tools accept Markdown headings, lists, and tables.</a:t>
            </a:r>
          </a:p>
          <a:p xmlns:a="http://schemas.openxmlformats.org/drawingml/2006/main">
            <a:pPr>
              <a:spcAft>
                <a:spcPts val="700"/>
              </a:spcAft>
              <a:buNone/>
            </a:pPr>
            <a:r>
              <a:rPr sz="1200" b="1" i="0">
                <a:solidFill>
                  <a:srgbClr val="CF3338"/>
                </a:solidFill>
                <a:latin typeface="Arial"/>
                <a:ea typeface="Arial"/>
                <a:cs typeface="Arial"/>
              </a:rPr>
              <a:t>• </a:t>
            </a:r>
            <a:r>
              <a:rPr sz="1600" b="0" i="0">
                <a:solidFill>
                  <a:srgbClr val="1F2120"/>
                </a:solidFill>
                <a:latin typeface="Arial"/>
                <a:ea typeface="Arial"/>
                <a:cs typeface="Arial"/>
              </a:rPr>
              <a:t>Twenty minutes of syntax makes every AI tool easier to steer and its output easier to reuse.</a:t>
            </a:r>
          </a:p>
          <a:p xmlns:a="http://schemas.openxmlformats.org/drawingml/2006/main">
            <a:pPr>
              <a:spcAft>
                <a:spcPts val="700"/>
              </a:spcAft>
              <a:buNone/>
            </a:pPr>
            <a:r>
              <a:rPr sz="1200" b="1" i="0">
                <a:solidFill>
                  <a:srgbClr val="CF3338"/>
                </a:solidFill>
                <a:latin typeface="Arial"/>
                <a:ea typeface="Arial"/>
                <a:cs typeface="Arial"/>
              </a:rPr>
              <a:t>• </a:t>
            </a:r>
            <a:r>
              <a:rPr sz="1600" b="0" i="0">
                <a:solidFill>
                  <a:srgbClr val="1F2120"/>
                </a:solidFill>
                <a:latin typeface="Arial"/>
                <a:ea typeface="Arial"/>
                <a:cs typeface="Arial"/>
              </a:rPr>
              <a:t>Small tables can move as Markdown. Check the rows and columns after pasting.</a:t>
            </a:r>
          </a:p>
          <a:p xmlns:a="http://schemas.openxmlformats.org/drawingml/2006/main">
            <a:pPr>
              <a:spcAft>
                <a:spcPts val="700"/>
              </a:spcAft>
              <a:buNone/>
            </a:pPr>
            <a:r>
              <a:rPr sz="1200" b="1" i="0">
                <a:solidFill>
                  <a:srgbClr val="CF3338"/>
                </a:solidFill>
                <a:latin typeface="Arial"/>
                <a:ea typeface="Arial"/>
                <a:cs typeface="Arial"/>
              </a:rPr>
              <a:t>• </a:t>
            </a:r>
            <a:r>
              <a:rPr sz="1600" b="0" i="0">
                <a:solidFill>
                  <a:srgbClr val="1F2120"/>
                </a:solidFill>
                <a:latin typeface="Arial"/>
                <a:ea typeface="Arial"/>
                <a:cs typeface="Arial"/>
              </a:rPr>
              <a:t>No connectors, no licenses, no IT ticket. Just structure.</a:t>
            </a:r>
          </a:p>
          <a:p xmlns:a="http://schemas.openxmlformats.org/drawingml/2006/main">
            <a:pPr>
              <a:spcAft>
                <a:spcPts val="700"/>
              </a:spcAft>
              <a:buNone/>
            </a:pPr>
            <a:r>
              <a:rPr sz="1200" b="1" i="0">
                <a:solidFill>
                  <a:srgbClr val="CF3338"/>
                </a:solidFill>
                <a:latin typeface="Arial"/>
                <a:ea typeface="Arial"/>
                <a:cs typeface="Arial"/>
              </a:rPr>
              <a:t>• </a:t>
            </a:r>
            <a:r>
              <a:rPr sz="1600" b="0" i="0">
                <a:solidFill>
                  <a:srgbClr val="1F2120"/>
                </a:solidFill>
                <a:latin typeface="Arial"/>
                <a:ea typeface="Arial"/>
                <a:cs typeface="Arial"/>
              </a:rPr>
              <a:t>Speaking the machine's language is the cheapest AI upgrade there is.</a:t>
            </a:r>
          </a:p>
        </p:txBody>
      </p:sp>
    </p:spTree>
    <p:extLst>
      <p:ext uri="{BB962C8B-B14F-4D97-AF65-F5344CB8AC3E}">
        <p14:creationId xmlns:p14="http://schemas.microsoft.com/office/powerpoint/2010/main" val="478192939"/>
      </p:ext>
    </p:extLst>
  </p:cSld>
</p:sld>
</file>

<file path=ppt/slides/slide4.xml><?xml version="1.0" encoding="utf-8"?>
<p:sld xmlns:p="http://schemas.openxmlformats.org/presentationml/2006/main">
  <p:cSld>
    <p:bg>
      <p:bgPr>
        <a:solidFill xmlns:a="http://schemas.openxmlformats.org/drawingml/2006/main">
          <a:srgbClr val="EEECE1"/>
        </a:solidFill>
      </p:bgPr>
    </p:bg>
    <p:spTree>
      <p:nvGrpSpPr>
        <p:cNvPr id="1" name=""/>
        <p:cNvGrpSpPr/>
        <p:nvPr/>
      </p:nvGrpSpPr>
      <p:grpSpPr>
        <a:xfrm xmlns:a="http://schemas.openxmlformats.org/drawingml/2006/main"/>
      </p:grpSpPr>
      <p:sp>
        <p:nvSpPr>
          <p:cNvPr id="2" name="Rectangle 1">
            <a:extLst xmlns:a="http://schemas.openxmlformats.org/drawingml/2006/main">
              <a:ext uri="{FF2B5EF4-FFF2-40B4-BE49-F238E27FC236}">
                <a16:creationId xmlns:a16="http://schemas.microsoft.com/office/drawing/2014/main" id="{05F8DD33-EF88-4D55-97B8-F5FF33FF49E9}"/>
              </a:ext>
            </a:extLst>
          </p:cNvPr>
          <p:cNvSpPr>
            <a:spLocks xmlns:a="http://schemas.openxmlformats.org/drawingml/2006/main" noGrp="1"/>
          </p:cNvSpPr>
          <p:nvPr/>
        </p:nvSpPr>
        <p:spPr>
          <a:xfrm xmlns:a="http://schemas.openxmlformats.org/drawingml/2006/main">
            <a:off x="9082735" y="0"/>
            <a:ext cx="3108960" cy="6858000"/>
          </a:xfrm>
          <a:prstGeom xmlns:a="http://schemas.openxmlformats.org/drawingml/2006/main" prst="rect">
            <a:avLst/>
          </a:prstGeom>
          <a:solidFill xmlns:a="http://schemas.openxmlformats.org/drawingml/2006/main">
            <a:srgbClr val="CF3338"/>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 name="TextBox 2">
            <a:extLst xmlns:a="http://schemas.openxmlformats.org/drawingml/2006/main">
              <a:ext uri="{FF2B5EF4-FFF2-40B4-BE49-F238E27FC236}">
                <a16:creationId xmlns:a16="http://schemas.microsoft.com/office/drawing/2014/main" id="{898B9BD5-44DF-4538-B931-330E4742D33C}"/>
              </a:ext>
            </a:extLst>
          </p:cNvPr>
          <p:cNvSpPr>
            <a:spLocks xmlns:a="http://schemas.openxmlformats.org/drawingml/2006/main" noGrp="1"/>
          </p:cNvSpPr>
          <p:nvPr/>
        </p:nvSpPr>
        <p:spPr>
          <a:xfrm xmlns:a="http://schemas.openxmlformats.org/drawingml/2006/main">
            <a:off x="9311335" y="640080"/>
            <a:ext cx="2468880" cy="1828800"/>
          </a:xfrm>
          <a:prstGeom xmlns:a="http://schemas.openxmlformats.org/drawingml/2006/main" prst="rect">
            <a:avLst/>
          </a:prstGeom>
          <a:noFill xmlns:a="http://schemas.openxmlformats.org/drawingml/2006/main"/>
        </p:spPr>
        <p:txBody>
          <a:bodyPr xmlns:a="http://schemas.openxmlformats.org/drawingml/2006/main" wrap="square" lIns="0" tIns="0" rIns="0" bIns="0">
            <a:spAutoFit/>
          </a:bodyPr>
          <a:lstStyle xmlns:a="http://schemas.openxmlformats.org/drawingml/2006/main"/>
          <a:p xmlns:a="http://schemas.openxmlformats.org/drawingml/2006/main">
            <a:r>
              <a:rPr sz="2600" b="1" i="0">
                <a:solidFill>
                  <a:srgbClr val="FFFFFF"/>
                </a:solidFill>
                <a:latin typeface="Arial Black"/>
                <a:ea typeface="Arial Black"/>
                <a:cs typeface="Arial Black"/>
              </a:rPr>
              <a:t>LIVE</a:t>
            </a:r>
          </a:p>
          <a:p xmlns:a="http://schemas.openxmlformats.org/drawingml/2006/main">
            <a:r>
              <a:rPr sz="2600" b="1" i="0">
                <a:solidFill>
                  <a:srgbClr val="FFFFFF"/>
                </a:solidFill>
                <a:latin typeface="Arial Black"/>
                <a:ea typeface="Arial Black"/>
                <a:cs typeface="Arial Black"/>
              </a:rPr>
              <a:t>DEMO</a:t>
            </a:r>
          </a:p>
        </p:txBody>
      </p:sp>
      <p:sp>
        <p:nvSpPr>
          <p:cNvPr id="4" name="TextBox 3">
            <a:extLst xmlns:a="http://schemas.openxmlformats.org/drawingml/2006/main">
              <a:ext uri="{FF2B5EF4-FFF2-40B4-BE49-F238E27FC236}">
                <a16:creationId xmlns:a16="http://schemas.microsoft.com/office/drawing/2014/main" id="{6D672F27-83C4-4394-BFA6-00E777B23174}"/>
              </a:ext>
            </a:extLst>
          </p:cNvPr>
          <p:cNvSpPr>
            <a:spLocks xmlns:a="http://schemas.openxmlformats.org/drawingml/2006/main" noGrp="1"/>
          </p:cNvSpPr>
          <p:nvPr/>
        </p:nvSpPr>
        <p:spPr>
          <a:xfrm xmlns:a="http://schemas.openxmlformats.org/drawingml/2006/main">
            <a:off x="548640" y="411480"/>
            <a:ext cx="8229600" cy="1097280"/>
          </a:xfrm>
          <a:prstGeom xmlns:a="http://schemas.openxmlformats.org/drawingml/2006/main" prst="rect">
            <a:avLst/>
          </a:prstGeom>
          <a:noFill xmlns:a="http://schemas.openxmlformats.org/drawingml/2006/main"/>
        </p:spPr>
        <p:txBody>
          <a:bodyPr xmlns:a="http://schemas.openxmlformats.org/drawingml/2006/main" wrap="square" lIns="0" tIns="0" rIns="0" bIns="0">
            <a:spAutoFit/>
          </a:bodyPr>
          <a:lstStyle xmlns:a="http://schemas.openxmlformats.org/drawingml/2006/main"/>
          <a:p xmlns:a="http://schemas.openxmlformats.org/drawingml/2006/main">
            <a:r>
              <a:rPr sz="2500" b="1" i="0">
                <a:solidFill>
                  <a:srgbClr val="CF3338"/>
                </a:solidFill>
                <a:latin typeface="Arial Black"/>
                <a:ea typeface="Arial Black"/>
                <a:cs typeface="Arial Black"/>
              </a:rPr>
              <a:t>Live demo: structure beats the blob</a:t>
            </a:r>
          </a:p>
          <a:p xmlns:a="http://schemas.openxmlformats.org/drawingml/2006/main">
            <a:pPr>
              <a:spcBef>
                <a:spcPts val="300"/>
              </a:spcBef>
              <a:buNone/>
            </a:pPr>
            <a:r>
              <a:rPr sz="1450" b="0" i="1">
                <a:solidFill>
                  <a:srgbClr val="707070"/>
                </a:solidFill>
                <a:latin typeface="Arial"/>
                <a:ea typeface="Arial"/>
                <a:cs typeface="Arial"/>
              </a:rPr>
              <a:t>Two ways to write the request. Compare what each answer gets right.</a:t>
            </a:r>
          </a:p>
        </p:txBody>
      </p:sp>
      <p:sp>
        <p:nvSpPr>
          <p:cNvPr id="5" name="Rounded Rectangle 4">
            <a:extLst xmlns:a="http://schemas.openxmlformats.org/drawingml/2006/main">
              <a:ext uri="{FF2B5EF4-FFF2-40B4-BE49-F238E27FC236}">
                <a16:creationId xmlns:a16="http://schemas.microsoft.com/office/drawing/2014/main" id="{364B04F7-C5AD-477E-B89B-DD92372445A4}"/>
              </a:ext>
            </a:extLst>
          </p:cNvPr>
          <p:cNvSpPr>
            <a:spLocks xmlns:a="http://schemas.openxmlformats.org/drawingml/2006/main" noGrp="1"/>
          </p:cNvSpPr>
          <p:nvPr/>
        </p:nvSpPr>
        <p:spPr>
          <a:xfrm xmlns:a="http://schemas.openxmlformats.org/drawingml/2006/main">
            <a:off x="548640" y="1600200"/>
            <a:ext cx="8229600" cy="4023360"/>
          </a:xfrm>
          <a:prstGeom xmlns:a="http://schemas.openxmlformats.org/drawingml/2006/main" prst="roundRect">
            <a:avLst/>
          </a:prstGeom>
          <a:solidFill xmlns:a="http://schemas.openxmlformats.org/drawingml/2006/main">
            <a:srgbClr val="2B2B2B"/>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wrap="square" lIns="256032" tIns="182880" rIns="182880" bIns="109728" anchor="t"/>
          <a:lstStyle xmlns:a="http://schemas.openxmlformats.org/drawingml/2006/main"/>
          <a:p xmlns:a="http://schemas.openxmlformats.org/drawingml/2006/main">
            <a:pPr algn="l">
              <a:spcAft>
                <a:spcPts val="100"/>
              </a:spcAft>
              <a:buNone/>
            </a:pPr>
            <a:r>
              <a:rPr sz="1300" b="0" i="0">
                <a:solidFill>
                  <a:srgbClr val="9EC57A"/>
                </a:solidFill>
                <a:latin typeface="Consolas"/>
                <a:ea typeface="Consolas"/>
                <a:cs typeface="Consolas"/>
              </a:rPr>
              <a:t># The blob prompt (what most people send)</a:t>
            </a:r>
          </a:p>
          <a:p xmlns:a="http://schemas.openxmlformats.org/drawingml/2006/main">
            <a:pPr algn="l">
              <a:spcAft>
                <a:spcPts val="100"/>
              </a:spcAft>
              <a:buNone/>
            </a:pPr>
            <a:r>
              <a:rPr sz="1300" b="0" i="0">
                <a:solidFill>
                  <a:srgbClr val="F5F5F5"/>
                </a:solidFill>
                <a:latin typeface="Consolas"/>
                <a:ea typeface="Consolas"/>
                <a:cs typeface="Consolas"/>
              </a:rPr>
              <a:t>summarize this sales data and tell me whats important</a:t>
            </a:r>
          </a:p>
          <a:p xmlns:a="http://schemas.openxmlformats.org/drawingml/2006/main">
            <a:pPr algn="l">
              <a:spcAft>
                <a:spcPts val="100"/>
              </a:spcAft>
              <a:buNone/>
            </a:pPr>
            <a:r>
              <a:rPr sz="1300" b="0" i="0">
                <a:solidFill>
                  <a:srgbClr val="F5F5F5"/>
                </a:solidFill>
                <a:latin typeface="Consolas"/>
                <a:ea typeface="Consolas"/>
                <a:cs typeface="Consolas"/>
              </a:rPr>
              <a:t>[messy paste of the whole export]</a:t>
            </a:r>
          </a:p>
          <a:p xmlns:a="http://schemas.openxmlformats.org/drawingml/2006/main">
            <a:pPr algn="l">
              <a:spcAft>
                <a:spcPts val="100"/>
              </a:spcAft>
              <a:buNone/>
            </a:pPr>
            <a:r>
              <a:rPr sz="1300" b="0" i="0">
                <a:solidFill>
                  <a:srgbClr val="F5F5F5"/>
                </a:solidFill>
                <a:latin typeface="Consolas"/>
                <a:ea typeface="Consolas"/>
                <a:cs typeface="Consolas"/>
              </a:rPr>
              <a:t> </a:t>
            </a:r>
          </a:p>
          <a:p xmlns:a="http://schemas.openxmlformats.org/drawingml/2006/main">
            <a:pPr algn="l">
              <a:spcAft>
                <a:spcPts val="100"/>
              </a:spcAft>
              <a:buNone/>
            </a:pPr>
            <a:r>
              <a:rPr sz="1300" b="0" i="0">
                <a:solidFill>
                  <a:srgbClr val="9EC57A"/>
                </a:solidFill>
                <a:latin typeface="Consolas"/>
                <a:ea typeface="Consolas"/>
                <a:cs typeface="Consolas"/>
              </a:rPr>
              <a:t># Quarterly regional sales review</a:t>
            </a:r>
          </a:p>
          <a:p xmlns:a="http://schemas.openxmlformats.org/drawingml/2006/main">
            <a:pPr algn="l">
              <a:spcAft>
                <a:spcPts val="100"/>
              </a:spcAft>
              <a:buNone/>
            </a:pPr>
            <a:r>
              <a:rPr sz="1300" b="0" i="0">
                <a:solidFill>
                  <a:srgbClr val="9EC57A"/>
                </a:solidFill>
                <a:latin typeface="Consolas"/>
                <a:ea typeface="Consolas"/>
                <a:cs typeface="Consolas"/>
              </a:rPr>
              <a:t>## Role</a:t>
            </a:r>
          </a:p>
          <a:p xmlns:a="http://schemas.openxmlformats.org/drawingml/2006/main">
            <a:pPr algn="l">
              <a:spcAft>
                <a:spcPts val="100"/>
              </a:spcAft>
              <a:buNone/>
            </a:pPr>
            <a:r>
              <a:rPr sz="1300" b="0" i="0">
                <a:solidFill>
                  <a:srgbClr val="F5F5F5"/>
                </a:solidFill>
                <a:latin typeface="Consolas"/>
                <a:ea typeface="Consolas"/>
                <a:cs typeface="Consolas"/>
              </a:rPr>
              <a:t>You are an FP&amp;A analyst reviewing regional sales.</a:t>
            </a:r>
          </a:p>
          <a:p xmlns:a="http://schemas.openxmlformats.org/drawingml/2006/main">
            <a:pPr algn="l">
              <a:spcAft>
                <a:spcPts val="100"/>
              </a:spcAft>
              <a:buNone/>
            </a:pPr>
            <a:r>
              <a:rPr sz="1300" b="0" i="0">
                <a:solidFill>
                  <a:srgbClr val="9EC57A"/>
                </a:solidFill>
                <a:latin typeface="Consolas"/>
                <a:ea typeface="Consolas"/>
                <a:cs typeface="Consolas"/>
              </a:rPr>
              <a:t>## Task</a:t>
            </a:r>
          </a:p>
          <a:p xmlns:a="http://schemas.openxmlformats.org/drawingml/2006/main">
            <a:pPr algn="l">
              <a:spcAft>
                <a:spcPts val="100"/>
              </a:spcAft>
              <a:buNone/>
            </a:pPr>
            <a:r>
              <a:rPr sz="1300" b="0" i="0">
                <a:solidFill>
                  <a:srgbClr val="F5F5F5"/>
                </a:solidFill>
                <a:latin typeface="Consolas"/>
                <a:ea typeface="Consolas"/>
                <a:cs typeface="Consolas"/>
              </a:rPr>
              <a:t>- Summarize performance by region</a:t>
            </a:r>
          </a:p>
          <a:p xmlns:a="http://schemas.openxmlformats.org/drawingml/2006/main">
            <a:pPr algn="l">
              <a:spcAft>
                <a:spcPts val="100"/>
              </a:spcAft>
              <a:buNone/>
            </a:pPr>
            <a:r>
              <a:rPr sz="1300" b="0" i="0">
                <a:solidFill>
                  <a:srgbClr val="F5F5F5"/>
                </a:solidFill>
                <a:latin typeface="Consolas"/>
                <a:ea typeface="Consolas"/>
                <a:cs typeface="Consolas"/>
              </a:rPr>
              <a:t>- Flag any region trailing the others</a:t>
            </a:r>
          </a:p>
          <a:p xmlns:a="http://schemas.openxmlformats.org/drawingml/2006/main">
            <a:pPr algn="l">
              <a:spcAft>
                <a:spcPts val="100"/>
              </a:spcAft>
              <a:buNone/>
            </a:pPr>
            <a:r>
              <a:rPr sz="1300" b="0" i="0">
                <a:solidFill>
                  <a:srgbClr val="F5F5F5"/>
                </a:solidFill>
                <a:latin typeface="Consolas"/>
                <a:ea typeface="Consolas"/>
                <a:cs typeface="Consolas"/>
              </a:rPr>
              <a:t>- Suggest two follow-up questions</a:t>
            </a:r>
          </a:p>
          <a:p xmlns:a="http://schemas.openxmlformats.org/drawingml/2006/main">
            <a:pPr algn="l">
              <a:spcAft>
                <a:spcPts val="100"/>
              </a:spcAft>
              <a:buNone/>
            </a:pPr>
            <a:r>
              <a:rPr sz="1300" b="0" i="0">
                <a:solidFill>
                  <a:srgbClr val="9EC57A"/>
                </a:solidFill>
                <a:latin typeface="Consolas"/>
                <a:ea typeface="Consolas"/>
                <a:cs typeface="Consolas"/>
              </a:rPr>
              <a:t>## Data</a:t>
            </a:r>
          </a:p>
          <a:p xmlns:a="http://schemas.openxmlformats.org/drawingml/2006/main">
            <a:pPr algn="l">
              <a:spcAft>
                <a:spcPts val="100"/>
              </a:spcAft>
              <a:buNone/>
            </a:pPr>
            <a:r>
              <a:rPr sz="1300" b="0" i="0">
                <a:solidFill>
                  <a:srgbClr val="F5F5F5"/>
                </a:solidFill>
                <a:latin typeface="Consolas"/>
                <a:ea typeface="Consolas"/>
                <a:cs typeface="Consolas"/>
              </a:rPr>
              <a:t>... (full prompt in today's demo file)</a:t>
            </a:r>
          </a:p>
        </p:txBody>
      </p:sp>
      <p:sp>
        <p:nvSpPr>
          <p:cNvPr id="6" name="TextBox 5">
            <a:extLst xmlns:a="http://schemas.openxmlformats.org/drawingml/2006/main">
              <a:ext uri="{FF2B5EF4-FFF2-40B4-BE49-F238E27FC236}">
                <a16:creationId xmlns:a16="http://schemas.microsoft.com/office/drawing/2014/main" id="{68EB9ED0-F121-4E81-A32A-9A7D6EBF677E}"/>
              </a:ext>
            </a:extLst>
          </p:cNvPr>
          <p:cNvSpPr>
            <a:spLocks xmlns:a="http://schemas.openxmlformats.org/drawingml/2006/main" noGrp="1"/>
          </p:cNvSpPr>
          <p:nvPr/>
        </p:nvSpPr>
        <p:spPr>
          <a:xfrm xmlns:a="http://schemas.openxmlformats.org/drawingml/2006/main">
            <a:off x="548640" y="5806440"/>
            <a:ext cx="8229600" cy="777240"/>
          </a:xfrm>
          <a:prstGeom xmlns:a="http://schemas.openxmlformats.org/drawingml/2006/main" prst="rect">
            <a:avLst/>
          </a:prstGeom>
          <a:noFill xmlns:a="http://schemas.openxmlformats.org/drawingml/2006/main"/>
        </p:spPr>
        <p:txBody>
          <a:bodyPr xmlns:a="http://schemas.openxmlformats.org/drawingml/2006/main" wrap="square" lIns="0" tIns="0" rIns="0" bIns="0">
            <a:spAutoFit/>
          </a:bodyPr>
          <a:lstStyle xmlns:a="http://schemas.openxmlformats.org/drawingml/2006/main"/>
          <a:p xmlns:a="http://schemas.openxmlformats.org/drawingml/2006/main">
            <a:r>
              <a:rPr sz="1300" b="1" i="0">
                <a:solidFill>
                  <a:srgbClr val="CF3338"/>
                </a:solidFill>
                <a:latin typeface="Arial"/>
                <a:ea typeface="Arial"/>
                <a:cs typeface="Arial"/>
              </a:rPr>
              <a:t>• </a:t>
            </a:r>
            <a:r>
              <a:rPr sz="1300" b="1" i="0">
                <a:solidFill>
                  <a:srgbClr val="CF3338"/>
                </a:solidFill>
                <a:latin typeface="Arial"/>
                <a:ea typeface="Arial"/>
                <a:cs typeface="Arial"/>
              </a:rPr>
              <a:t>Headings and bullets are steering, and steering is free</a:t>
            </a:r>
          </a:p>
        </p:txBody>
      </p:sp>
      <p:sp>
        <p:nvSpPr>
          <p:cNvPr id="7" name="Chat question">
            <a:extLst xmlns:a="http://schemas.openxmlformats.org/drawingml/2006/main">
              <a:ext uri="{FF2B5EF4-FFF2-40B4-BE49-F238E27FC236}">
                <a16:creationId xmlns:a16="http://schemas.microsoft.com/office/drawing/2014/main" id="{A1AD58D4-A98D-4309-B52E-CC7BC3C53564}"/>
              </a:ext>
            </a:extLst>
          </p:cNvPr>
          <p:cNvSpPr>
            <a:spLocks xmlns:a="http://schemas.openxmlformats.org/drawingml/2006/main" noGrp="1"/>
          </p:cNvSpPr>
          <p:nvPr/>
        </p:nvSpPr>
        <p:spPr>
          <a:xfrm xmlns:a="http://schemas.openxmlformats.org/drawingml/2006/main">
            <a:off x="9353550" y="2790825"/>
            <a:ext cx="2428875" cy="1362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175" b="1">
                <a:solidFill>
                  <a:srgbClr val="FFFFFF"/>
                </a:solidFill>
                <a:latin typeface="Arial"/>
                <a:ea typeface="Arial"/>
                <a:cs typeface="Arial"/>
              </a:defRPr>
            </a:pPr>
            <a:r>
              <a:rPr sz="2175" b="1">
                <a:solidFill>
                  <a:srgbClr val="FFFFFF"/>
                </a:solidFill>
                <a:latin typeface="Arial"/>
                <a:ea typeface="Arial"/>
                <a:cs typeface="Arial"/>
              </a:rPr>
              <a:t>Easier for you to scan?</a:t>
            </a:r>
          </a:p>
        </p:txBody>
      </p:sp>
      <p:sp>
        <p:nvSpPr>
          <p:cNvPr id="8" name="Chat choices">
            <a:extLst xmlns:a="http://schemas.openxmlformats.org/drawingml/2006/main">
              <a:ext uri="{FF2B5EF4-FFF2-40B4-BE49-F238E27FC236}">
                <a16:creationId xmlns:a16="http://schemas.microsoft.com/office/drawing/2014/main" id="{C5EA68D6-4E5E-42BD-8F72-D1B6830AD576}"/>
              </a:ext>
            </a:extLst>
          </p:cNvPr>
          <p:cNvSpPr>
            <a:spLocks xmlns:a="http://schemas.openxmlformats.org/drawingml/2006/main" noGrp="1"/>
          </p:cNvSpPr>
          <p:nvPr/>
        </p:nvSpPr>
        <p:spPr>
          <a:xfrm xmlns:a="http://schemas.openxmlformats.org/drawingml/2006/main">
            <a:off x="9353550" y="4362450"/>
            <a:ext cx="2428875"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950" b="1">
                <a:solidFill>
                  <a:srgbClr val="FFFFFF"/>
                </a:solidFill>
                <a:latin typeface="Arial"/>
                <a:ea typeface="Arial"/>
                <a:cs typeface="Arial"/>
              </a:defRPr>
            </a:pPr>
            <a:r>
              <a:rPr sz="1950" b="1">
                <a:solidFill>
                  <a:srgbClr val="FFFFFF"/>
                </a:solidFill>
                <a:latin typeface="Arial"/>
                <a:ea typeface="Arial"/>
                <a:cs typeface="Arial"/>
              </a:rPr>
              <a:t>A = paragraph</a:t>
            </a:r>
          </a:p>
          <a:p xmlns:a="http://schemas.openxmlformats.org/drawingml/2006/main">
            <a:pPr>
              <a:defRPr sz="1950" b="1">
                <a:solidFill>
                  <a:srgbClr val="FFFFFF"/>
                </a:solidFill>
                <a:latin typeface="Arial"/>
                <a:ea typeface="Arial"/>
                <a:cs typeface="Arial"/>
              </a:defRPr>
            </a:pPr>
            <a:r>
              <a:rPr sz="1950" b="1">
                <a:solidFill>
                  <a:srgbClr val="FFFFFF"/>
                </a:solidFill>
                <a:latin typeface="Arial"/>
                <a:ea typeface="Arial"/>
                <a:cs typeface="Arial"/>
              </a:rPr>
              <a:t>B = headings</a:t>
            </a:r>
          </a:p>
        </p:txBody>
      </p:sp>
      <p:sp>
        <p:nvSpPr>
          <p:cNvPr id="9" name="Chat instruction">
            <a:extLst xmlns:a="http://schemas.openxmlformats.org/drawingml/2006/main">
              <a:ext uri="{FF2B5EF4-FFF2-40B4-BE49-F238E27FC236}">
                <a16:creationId xmlns:a16="http://schemas.microsoft.com/office/drawing/2014/main" id="{D1995622-B794-457F-BA79-9EE19394DBB8}"/>
              </a:ext>
            </a:extLst>
          </p:cNvPr>
          <p:cNvSpPr>
            <a:spLocks xmlns:a="http://schemas.openxmlformats.org/drawingml/2006/main" noGrp="1"/>
          </p:cNvSpPr>
          <p:nvPr/>
        </p:nvSpPr>
        <p:spPr>
          <a:xfrm xmlns:a="http://schemas.openxmlformats.org/drawingml/2006/main">
            <a:off x="9353550" y="5715000"/>
            <a:ext cx="2428875"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500" b="0">
                <a:solidFill>
                  <a:srgbClr val="FFFFFF"/>
                </a:solidFill>
                <a:latin typeface="Arial"/>
                <a:ea typeface="Arial"/>
                <a:cs typeface="Arial"/>
              </a:defRPr>
            </a:pPr>
            <a:r>
              <a:rPr sz="1500" b="0">
                <a:solidFill>
                  <a:srgbClr val="FFFFFF"/>
                </a:solidFill>
                <a:latin typeface="Arial"/>
                <a:ea typeface="Arial"/>
                <a:cs typeface="Arial"/>
              </a:rPr>
              <a:t>Type one word</a:t>
            </a:r>
          </a:p>
          <a:p xmlns:a="http://schemas.openxmlformats.org/drawingml/2006/main">
            <a:pPr>
              <a:defRPr sz="1500" b="0">
                <a:solidFill>
                  <a:srgbClr val="FFFFFF"/>
                </a:solidFill>
                <a:latin typeface="Arial"/>
                <a:ea typeface="Arial"/>
                <a:cs typeface="Arial"/>
              </a:defRPr>
            </a:pPr>
            <a:r>
              <a:rPr sz="1500" b="0">
                <a:solidFill>
                  <a:srgbClr val="FFFFFF"/>
                </a:solidFill>
                <a:latin typeface="Arial"/>
                <a:ea typeface="Arial"/>
                <a:cs typeface="Arial"/>
              </a:rPr>
              <a:t>or a letter in chat.</a:t>
            </a:r>
          </a:p>
        </p:txBody>
      </p:sp>
    </p:spTree>
    <p:extLst>
      <p:ext uri="{BB962C8B-B14F-4D97-AF65-F5344CB8AC3E}">
        <p14:creationId xmlns:p14="http://schemas.microsoft.com/office/powerpoint/2010/main" val="1541069697"/>
      </p:ext>
    </p:extLst>
  </p:cSld>
</p:sld>
</file>

<file path=ppt/slides/slide5.xml><?xml version="1.0" encoding="utf-8"?>
<p:sld xmlns:p="http://schemas.openxmlformats.org/presentationml/2006/main">
  <p:cSld>
    <p:bg>
      <p:bgPr>
        <a:solidFill xmlns:a="http://schemas.openxmlformats.org/drawingml/2006/main">
          <a:srgbClr val="EEECE1"/>
        </a:solidFill>
      </p:bgPr>
    </p:bg>
    <p:spTree>
      <p:nvGrpSpPr>
        <p:cNvPr id="1" name=""/>
        <p:cNvGrpSpPr/>
        <p:nvPr/>
      </p:nvGrpSpPr>
      <p:grpSpPr>
        <a:xfrm xmlns:a="http://schemas.openxmlformats.org/drawingml/2006/main"/>
      </p:grpSpPr>
      <p:sp>
        <p:nvSpPr>
          <p:cNvPr id="2" name="Rectangle 1">
            <a:extLst xmlns:a="http://schemas.openxmlformats.org/drawingml/2006/main">
              <a:ext uri="{FF2B5EF4-FFF2-40B4-BE49-F238E27FC236}">
                <a16:creationId xmlns:a16="http://schemas.microsoft.com/office/drawing/2014/main" id="{678DB148-68C6-4F4C-83FF-869DB7B054B2}"/>
              </a:ext>
            </a:extLst>
          </p:cNvPr>
          <p:cNvSpPr>
            <a:spLocks xmlns:a="http://schemas.openxmlformats.org/drawingml/2006/main" noGrp="1"/>
          </p:cNvSpPr>
          <p:nvPr/>
        </p:nvSpPr>
        <p:spPr>
          <a:xfrm xmlns:a="http://schemas.openxmlformats.org/drawingml/2006/main">
            <a:off x="9082735" y="0"/>
            <a:ext cx="3108960" cy="6858000"/>
          </a:xfrm>
          <a:prstGeom xmlns:a="http://schemas.openxmlformats.org/drawingml/2006/main" prst="rect">
            <a:avLst/>
          </a:prstGeom>
          <a:solidFill xmlns:a="http://schemas.openxmlformats.org/drawingml/2006/main">
            <a:srgbClr val="CF3338"/>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 name="TextBox 2">
            <a:extLst xmlns:a="http://schemas.openxmlformats.org/drawingml/2006/main">
              <a:ext uri="{FF2B5EF4-FFF2-40B4-BE49-F238E27FC236}">
                <a16:creationId xmlns:a16="http://schemas.microsoft.com/office/drawing/2014/main" id="{57955CC7-8372-43B7-A51F-D5D0548FC53A}"/>
              </a:ext>
            </a:extLst>
          </p:cNvPr>
          <p:cNvSpPr>
            <a:spLocks xmlns:a="http://schemas.openxmlformats.org/drawingml/2006/main" noGrp="1"/>
          </p:cNvSpPr>
          <p:nvPr/>
        </p:nvSpPr>
        <p:spPr>
          <a:xfrm xmlns:a="http://schemas.openxmlformats.org/drawingml/2006/main">
            <a:off x="9311335" y="640080"/>
            <a:ext cx="2468880" cy="1828800"/>
          </a:xfrm>
          <a:prstGeom xmlns:a="http://schemas.openxmlformats.org/drawingml/2006/main" prst="rect">
            <a:avLst/>
          </a:prstGeom>
          <a:noFill xmlns:a="http://schemas.openxmlformats.org/drawingml/2006/main"/>
        </p:spPr>
        <p:txBody>
          <a:bodyPr xmlns:a="http://schemas.openxmlformats.org/drawingml/2006/main" wrap="square" lIns="0" tIns="0" rIns="0" bIns="0">
            <a:spAutoFit/>
          </a:bodyPr>
          <a:lstStyle xmlns:a="http://schemas.openxmlformats.org/drawingml/2006/main"/>
          <a:p xmlns:a="http://schemas.openxmlformats.org/drawingml/2006/main">
            <a:r>
              <a:rPr sz="2600" b="1" i="0">
                <a:solidFill>
                  <a:srgbClr val="FFFFFF"/>
                </a:solidFill>
                <a:latin typeface="Arial Black"/>
                <a:ea typeface="Arial Black"/>
                <a:cs typeface="Arial Black"/>
              </a:rPr>
              <a:t>LIVE</a:t>
            </a:r>
          </a:p>
          <a:p xmlns:a="http://schemas.openxmlformats.org/drawingml/2006/main">
            <a:r>
              <a:rPr sz="2600" b="1" i="0">
                <a:solidFill>
                  <a:srgbClr val="FFFFFF"/>
                </a:solidFill>
                <a:latin typeface="Arial Black"/>
                <a:ea typeface="Arial Black"/>
                <a:cs typeface="Arial Black"/>
              </a:rPr>
              <a:t>DEMO</a:t>
            </a:r>
          </a:p>
        </p:txBody>
      </p:sp>
      <p:sp>
        <p:nvSpPr>
          <p:cNvPr id="4" name="TextBox 3">
            <a:extLst xmlns:a="http://schemas.openxmlformats.org/drawingml/2006/main">
              <a:ext uri="{FF2B5EF4-FFF2-40B4-BE49-F238E27FC236}">
                <a16:creationId xmlns:a16="http://schemas.microsoft.com/office/drawing/2014/main" id="{F4FD56D0-3FB6-4CFE-8867-B176A7319433}"/>
              </a:ext>
            </a:extLst>
          </p:cNvPr>
          <p:cNvSpPr>
            <a:spLocks xmlns:a="http://schemas.openxmlformats.org/drawingml/2006/main" noGrp="1"/>
          </p:cNvSpPr>
          <p:nvPr/>
        </p:nvSpPr>
        <p:spPr>
          <a:xfrm xmlns:a="http://schemas.openxmlformats.org/drawingml/2006/main">
            <a:off x="548640" y="411480"/>
            <a:ext cx="8229600" cy="1097280"/>
          </a:xfrm>
          <a:prstGeom xmlns:a="http://schemas.openxmlformats.org/drawingml/2006/main" prst="rect">
            <a:avLst/>
          </a:prstGeom>
          <a:noFill xmlns:a="http://schemas.openxmlformats.org/drawingml/2006/main"/>
        </p:spPr>
        <p:txBody>
          <a:bodyPr xmlns:a="http://schemas.openxmlformats.org/drawingml/2006/main" wrap="square" lIns="0" tIns="0" rIns="0" bIns="0">
            <a:spAutoFit/>
          </a:bodyPr>
          <a:lstStyle xmlns:a="http://schemas.openxmlformats.org/drawingml/2006/main"/>
          <a:p xmlns:a="http://schemas.openxmlformats.org/drawingml/2006/main">
            <a:r>
              <a:rPr sz="2500" b="1" i="0">
                <a:solidFill>
                  <a:srgbClr val="CF3338"/>
                </a:solidFill>
                <a:latin typeface="Arial Black"/>
                <a:ea typeface="Arial Black"/>
                <a:cs typeface="Arial Black"/>
              </a:rPr>
              <a:t>Live demo: the Excel round-trip</a:t>
            </a:r>
          </a:p>
          <a:p xmlns:a="http://schemas.openxmlformats.org/drawingml/2006/main">
            <a:pPr>
              <a:spcBef>
                <a:spcPts val="300"/>
              </a:spcBef>
              <a:buNone/>
            </a:pPr>
            <a:r>
              <a:rPr sz="1450" b="0" i="1">
                <a:solidFill>
                  <a:srgbClr val="707070"/>
                </a:solidFill>
                <a:latin typeface="Arial"/>
                <a:ea typeface="Arial"/>
                <a:cs typeface="Arial"/>
              </a:rPr>
              <a:t>Copy out, Markdown back, Text to Columns. No connectors.</a:t>
            </a:r>
          </a:p>
        </p:txBody>
      </p:sp>
      <p:sp>
        <p:nvSpPr>
          <p:cNvPr id="5" name="Rounded Rectangle 4">
            <a:extLst xmlns:a="http://schemas.openxmlformats.org/drawingml/2006/main">
              <a:ext uri="{FF2B5EF4-FFF2-40B4-BE49-F238E27FC236}">
                <a16:creationId xmlns:a16="http://schemas.microsoft.com/office/drawing/2014/main" id="{1BB1E2DE-FB8B-4C0F-90F4-46A7767C4C56}"/>
              </a:ext>
            </a:extLst>
          </p:cNvPr>
          <p:cNvSpPr>
            <a:spLocks xmlns:a="http://schemas.openxmlformats.org/drawingml/2006/main" noGrp="1"/>
          </p:cNvSpPr>
          <p:nvPr/>
        </p:nvSpPr>
        <p:spPr>
          <a:xfrm xmlns:a="http://schemas.openxmlformats.org/drawingml/2006/main">
            <a:off x="548640" y="1600200"/>
            <a:ext cx="8229600" cy="4023360"/>
          </a:xfrm>
          <a:prstGeom xmlns:a="http://schemas.openxmlformats.org/drawingml/2006/main" prst="roundRect">
            <a:avLst/>
          </a:prstGeom>
          <a:solidFill xmlns:a="http://schemas.openxmlformats.org/drawingml/2006/main">
            <a:srgbClr val="2B2B2B"/>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wrap="square" lIns="256032" tIns="182880" rIns="182880" bIns="109728" anchor="t"/>
          <a:lstStyle xmlns:a="http://schemas.openxmlformats.org/drawingml/2006/main"/>
          <a:p xmlns:a="http://schemas.openxmlformats.org/drawingml/2006/main">
            <a:pPr algn="l">
              <a:spcAft>
                <a:spcPts val="100"/>
              </a:spcAft>
              <a:buNone/>
            </a:pPr>
            <a:r>
              <a:rPr sz="1300" b="0" i="0">
                <a:solidFill>
                  <a:srgbClr val="9EC57A"/>
                </a:solidFill>
                <a:latin typeface="Consolas"/>
                <a:ea typeface="Consolas"/>
                <a:cs typeface="Consolas"/>
              </a:rPr>
              <a:t># Move tables in and out of AI tools</a:t>
            </a:r>
          </a:p>
          <a:p xmlns:a="http://schemas.openxmlformats.org/drawingml/2006/main">
            <a:pPr algn="l">
              <a:spcAft>
                <a:spcPts val="100"/>
              </a:spcAft>
              <a:buNone/>
            </a:pPr>
            <a:r>
              <a:rPr sz="1300" b="0" i="0">
                <a:solidFill>
                  <a:srgbClr val="F5F5F5"/>
                </a:solidFill>
                <a:latin typeface="Consolas"/>
                <a:ea typeface="Consolas"/>
                <a:cs typeface="Consolas"/>
              </a:rPr>
              <a:t>1. Copy the RegionSummary table in Excel, paste to a chatbot</a:t>
            </a:r>
          </a:p>
          <a:p xmlns:a="http://schemas.openxmlformats.org/drawingml/2006/main">
            <a:pPr algn="l">
              <a:spcAft>
                <a:spcPts val="100"/>
              </a:spcAft>
              <a:buNone/>
            </a:pPr>
            <a:r>
              <a:rPr sz="1300" b="0" i="0">
                <a:solidFill>
                  <a:srgbClr val="F5F5F5"/>
                </a:solidFill>
                <a:latin typeface="Consolas"/>
                <a:ea typeface="Consolas"/>
                <a:cs typeface="Consolas"/>
              </a:rPr>
              <a:t>2. It arrives as a table the model reads cleanly</a:t>
            </a:r>
          </a:p>
          <a:p xmlns:a="http://schemas.openxmlformats.org/drawingml/2006/main">
            <a:pPr algn="l">
              <a:spcAft>
                <a:spcPts val="100"/>
              </a:spcAft>
              <a:buNone/>
            </a:pPr>
            <a:r>
              <a:rPr sz="1300" b="0" i="0">
                <a:solidFill>
                  <a:srgbClr val="F5F5F5"/>
                </a:solidFill>
                <a:latin typeface="Consolas"/>
                <a:ea typeface="Consolas"/>
                <a:cs typeface="Consolas"/>
              </a:rPr>
              <a:t>3. Ask for results 'as a Markdown table'</a:t>
            </a:r>
          </a:p>
          <a:p xmlns:a="http://schemas.openxmlformats.org/drawingml/2006/main">
            <a:pPr algn="l">
              <a:spcAft>
                <a:spcPts val="100"/>
              </a:spcAft>
              <a:buNone/>
            </a:pPr>
            <a:r>
              <a:rPr sz="1300" b="0" i="0">
                <a:solidFill>
                  <a:srgbClr val="F5F5F5"/>
                </a:solidFill>
                <a:latin typeface="Consolas"/>
                <a:ea typeface="Consolas"/>
                <a:cs typeface="Consolas"/>
              </a:rPr>
              <a:t>4. Paste the reply into Excel, then Data &gt; Text to Columns</a:t>
            </a:r>
          </a:p>
          <a:p xmlns:a="http://schemas.openxmlformats.org/drawingml/2006/main">
            <a:pPr algn="l">
              <a:spcAft>
                <a:spcPts val="100"/>
              </a:spcAft>
              <a:buNone/>
            </a:pPr>
            <a:r>
              <a:rPr sz="1300" b="0" i="0">
                <a:solidFill>
                  <a:srgbClr val="F5F5F5"/>
                </a:solidFill>
                <a:latin typeface="Consolas"/>
                <a:ea typeface="Consolas"/>
                <a:cs typeface="Consolas"/>
              </a:rPr>
              <a:t>5. Split on | (pipe). Remove the separator row and empty edge columns</a:t>
            </a:r>
          </a:p>
        </p:txBody>
      </p:sp>
      <p:sp>
        <p:nvSpPr>
          <p:cNvPr id="6" name="TextBox 5">
            <a:extLst xmlns:a="http://schemas.openxmlformats.org/drawingml/2006/main">
              <a:ext uri="{FF2B5EF4-FFF2-40B4-BE49-F238E27FC236}">
                <a16:creationId xmlns:a16="http://schemas.microsoft.com/office/drawing/2014/main" id="{D19D7DEC-7841-4F53-9631-B66533421059}"/>
              </a:ext>
            </a:extLst>
          </p:cNvPr>
          <p:cNvSpPr>
            <a:spLocks xmlns:a="http://schemas.openxmlformats.org/drawingml/2006/main" noGrp="1"/>
          </p:cNvSpPr>
          <p:nvPr/>
        </p:nvSpPr>
        <p:spPr>
          <a:xfrm xmlns:a="http://schemas.openxmlformats.org/drawingml/2006/main">
            <a:off x="548640" y="5806440"/>
            <a:ext cx="8229600" cy="777240"/>
          </a:xfrm>
          <a:prstGeom xmlns:a="http://schemas.openxmlformats.org/drawingml/2006/main" prst="rect">
            <a:avLst/>
          </a:prstGeom>
          <a:noFill xmlns:a="http://schemas.openxmlformats.org/drawingml/2006/main"/>
        </p:spPr>
        <p:txBody>
          <a:bodyPr xmlns:a="http://schemas.openxmlformats.org/drawingml/2006/main" wrap="square" lIns="0" tIns="0" rIns="0" bIns="0">
            <a:spAutoFit/>
          </a:bodyPr>
          <a:lstStyle xmlns:a="http://schemas.openxmlformats.org/drawingml/2006/main"/>
          <a:p xmlns:a="http://schemas.openxmlformats.org/drawingml/2006/main">
            <a:r>
              <a:rPr sz="1300" b="1" i="0">
                <a:solidFill>
                  <a:srgbClr val="CF3338"/>
                </a:solidFill>
                <a:latin typeface="Arial"/>
                <a:ea typeface="Arial"/>
                <a:cs typeface="Arial"/>
              </a:rPr>
              <a:t>• </a:t>
            </a:r>
            <a:r>
              <a:rPr sz="1300" b="1" i="0">
                <a:solidFill>
                  <a:srgbClr val="CF3338"/>
                </a:solidFill>
                <a:latin typeface="Arial"/>
                <a:ea typeface="Arial"/>
                <a:cs typeface="Arial"/>
              </a:rPr>
              <a:t>The guerrilla data pipeline: copy, paste, pipe, done</a:t>
            </a:r>
          </a:p>
        </p:txBody>
      </p:sp>
      <p:sp>
        <p:nvSpPr>
          <p:cNvPr id="7" name="Chat question">
            <a:extLst xmlns:a="http://schemas.openxmlformats.org/drawingml/2006/main">
              <a:ext uri="{FF2B5EF4-FFF2-40B4-BE49-F238E27FC236}">
                <a16:creationId xmlns:a16="http://schemas.microsoft.com/office/drawing/2014/main" id="{D60C09E5-B049-4D66-BE5B-ED25A7D24ED5}"/>
              </a:ext>
            </a:extLst>
          </p:cNvPr>
          <p:cNvSpPr>
            <a:spLocks xmlns:a="http://schemas.openxmlformats.org/drawingml/2006/main" noGrp="1"/>
          </p:cNvSpPr>
          <p:nvPr/>
        </p:nvSpPr>
        <p:spPr>
          <a:xfrm xmlns:a="http://schemas.openxmlformats.org/drawingml/2006/main">
            <a:off x="9353550" y="2790825"/>
            <a:ext cx="2428875" cy="1362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175" b="1">
                <a:solidFill>
                  <a:srgbClr val="FFFFFF"/>
                </a:solidFill>
                <a:latin typeface="Arial"/>
                <a:ea typeface="Arial"/>
                <a:cs typeface="Arial"/>
              </a:defRPr>
            </a:pPr>
            <a:r>
              <a:rPr sz="2175" b="1">
                <a:solidFill>
                  <a:srgbClr val="FFFFFF"/>
                </a:solidFill>
                <a:latin typeface="Arial"/>
                <a:ea typeface="Arial"/>
                <a:cs typeface="Arial"/>
              </a:rPr>
              <a:t>Which separator</a:t>
            </a:r>
          </a:p>
          <a:p xmlns:a="http://schemas.openxmlformats.org/drawingml/2006/main">
            <a:pPr>
              <a:defRPr sz="2175" b="1">
                <a:solidFill>
                  <a:srgbClr val="FFFFFF"/>
                </a:solidFill>
                <a:latin typeface="Arial"/>
                <a:ea typeface="Arial"/>
                <a:cs typeface="Arial"/>
              </a:defRPr>
            </a:pPr>
            <a:r>
              <a:rPr sz="2175" b="1">
                <a:solidFill>
                  <a:srgbClr val="FFFFFF"/>
                </a:solidFill>
                <a:latin typeface="Arial"/>
                <a:ea typeface="Arial"/>
                <a:cs typeface="Arial"/>
              </a:rPr>
              <a:t>is in this table?</a:t>
            </a:r>
          </a:p>
        </p:txBody>
      </p:sp>
      <p:sp>
        <p:nvSpPr>
          <p:cNvPr id="8" name="Chat choices">
            <a:extLst xmlns:a="http://schemas.openxmlformats.org/drawingml/2006/main">
              <a:ext uri="{FF2B5EF4-FFF2-40B4-BE49-F238E27FC236}">
                <a16:creationId xmlns:a16="http://schemas.microsoft.com/office/drawing/2014/main" id="{2EE0CCF8-2BBA-4115-91F3-4BF0829B19FF}"/>
              </a:ext>
            </a:extLst>
          </p:cNvPr>
          <p:cNvSpPr>
            <a:spLocks xmlns:a="http://schemas.openxmlformats.org/drawingml/2006/main" noGrp="1"/>
          </p:cNvSpPr>
          <p:nvPr/>
        </p:nvSpPr>
        <p:spPr>
          <a:xfrm xmlns:a="http://schemas.openxmlformats.org/drawingml/2006/main">
            <a:off x="9353550" y="4362450"/>
            <a:ext cx="2428875"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950" b="1">
                <a:solidFill>
                  <a:srgbClr val="FFFFFF"/>
                </a:solidFill>
                <a:latin typeface="Arial"/>
                <a:ea typeface="Arial"/>
                <a:cs typeface="Arial"/>
              </a:defRPr>
            </a:pPr>
            <a:r>
              <a:rPr sz="1950" b="1">
                <a:solidFill>
                  <a:srgbClr val="FFFFFF"/>
                </a:solidFill>
                <a:latin typeface="Arial"/>
                <a:ea typeface="Arial"/>
                <a:cs typeface="Arial"/>
              </a:rPr>
              <a:t>PIPE / COMMA</a:t>
            </a:r>
          </a:p>
        </p:txBody>
      </p:sp>
      <p:sp>
        <p:nvSpPr>
          <p:cNvPr id="9" name="Chat instruction">
            <a:extLst xmlns:a="http://schemas.openxmlformats.org/drawingml/2006/main">
              <a:ext uri="{FF2B5EF4-FFF2-40B4-BE49-F238E27FC236}">
                <a16:creationId xmlns:a16="http://schemas.microsoft.com/office/drawing/2014/main" id="{5C3D94EF-9302-4D5D-A85A-23398DE7040B}"/>
              </a:ext>
            </a:extLst>
          </p:cNvPr>
          <p:cNvSpPr>
            <a:spLocks xmlns:a="http://schemas.openxmlformats.org/drawingml/2006/main" noGrp="1"/>
          </p:cNvSpPr>
          <p:nvPr/>
        </p:nvSpPr>
        <p:spPr>
          <a:xfrm xmlns:a="http://schemas.openxmlformats.org/drawingml/2006/main">
            <a:off x="9353550" y="5715000"/>
            <a:ext cx="2428875"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500" b="0">
                <a:solidFill>
                  <a:srgbClr val="FFFFFF"/>
                </a:solidFill>
                <a:latin typeface="Arial"/>
                <a:ea typeface="Arial"/>
                <a:cs typeface="Arial"/>
              </a:defRPr>
            </a:pPr>
            <a:r>
              <a:rPr sz="1500" b="0">
                <a:solidFill>
                  <a:srgbClr val="FFFFFF"/>
                </a:solidFill>
                <a:latin typeface="Arial"/>
                <a:ea typeface="Arial"/>
                <a:cs typeface="Arial"/>
              </a:rPr>
              <a:t>Type one word</a:t>
            </a:r>
          </a:p>
          <a:p xmlns:a="http://schemas.openxmlformats.org/drawingml/2006/main">
            <a:pPr>
              <a:defRPr sz="1500" b="0">
                <a:solidFill>
                  <a:srgbClr val="FFFFFF"/>
                </a:solidFill>
                <a:latin typeface="Arial"/>
                <a:ea typeface="Arial"/>
                <a:cs typeface="Arial"/>
              </a:defRPr>
            </a:pPr>
            <a:r>
              <a:rPr sz="1500" b="0">
                <a:solidFill>
                  <a:srgbClr val="FFFFFF"/>
                </a:solidFill>
                <a:latin typeface="Arial"/>
                <a:ea typeface="Arial"/>
                <a:cs typeface="Arial"/>
              </a:rPr>
              <a:t>or a letter in chat.</a:t>
            </a:r>
          </a:p>
        </p:txBody>
      </p:sp>
    </p:spTree>
    <p:extLst>
      <p:ext uri="{BB962C8B-B14F-4D97-AF65-F5344CB8AC3E}">
        <p14:creationId xmlns:p14="http://schemas.microsoft.com/office/powerpoint/2010/main" val="224359827"/>
      </p:ext>
    </p:extLst>
  </p:cSld>
</p:sld>
</file>

<file path=ppt/slides/slide6.xml><?xml version="1.0" encoding="utf-8"?>
<p:sld xmlns:p="http://schemas.openxmlformats.org/presentationml/2006/main">
  <p:cSld>
    <p:bg>
      <p:bgPr>
        <a:solidFill xmlns:a="http://schemas.openxmlformats.org/drawingml/2006/main">
          <a:srgbClr val="EEECE1"/>
        </a:solidFill>
      </p:bgPr>
    </p:bg>
    <p:spTree>
      <p:nvGrpSpPr>
        <p:cNvPr id="1" name=""/>
        <p:cNvGrpSpPr/>
        <p:nvPr/>
      </p:nvGrpSpPr>
      <p:grpSpPr>
        <a:xfrm xmlns:a="http://schemas.openxmlformats.org/drawingml/2006/main"/>
      </p:grpSpPr>
      <p:sp>
        <p:nvSpPr>
          <p:cNvPr id="2" name="TextBox 1">
            <a:extLst xmlns:a="http://schemas.openxmlformats.org/drawingml/2006/main">
              <a:ext uri="{FF2B5EF4-FFF2-40B4-BE49-F238E27FC236}">
                <a16:creationId xmlns:a16="http://schemas.microsoft.com/office/drawing/2014/main" id="{910625D8-42DC-4BF5-95F6-EED9731FFEF4}"/>
              </a:ext>
            </a:extLst>
          </p:cNvPr>
          <p:cNvSpPr>
            <a:spLocks xmlns:a="http://schemas.openxmlformats.org/drawingml/2006/main" noGrp="1"/>
          </p:cNvSpPr>
          <p:nvPr/>
        </p:nvSpPr>
        <p:spPr>
          <a:xfrm xmlns:a="http://schemas.openxmlformats.org/drawingml/2006/main">
            <a:off x="640080" y="457200"/>
            <a:ext cx="10881360" cy="1188720"/>
          </a:xfrm>
          <a:prstGeom xmlns:a="http://schemas.openxmlformats.org/drawingml/2006/main" prst="rect">
            <a:avLst/>
          </a:prstGeom>
          <a:noFill xmlns:a="http://schemas.openxmlformats.org/drawingml/2006/main"/>
        </p:spPr>
        <p:txBody>
          <a:bodyPr xmlns:a="http://schemas.openxmlformats.org/drawingml/2006/main" wrap="square" lIns="0" tIns="0" rIns="0" bIns="0">
            <a:spAutoFit/>
          </a:bodyPr>
          <a:lstStyle xmlns:a="http://schemas.openxmlformats.org/drawingml/2006/main"/>
          <a:p xmlns:a="http://schemas.openxmlformats.org/drawingml/2006/main">
            <a:r>
              <a:rPr sz="3000" b="1" i="0">
                <a:solidFill>
                  <a:srgbClr val="1F2120"/>
                </a:solidFill>
                <a:latin typeface="Arial Black"/>
                <a:ea typeface="Arial Black"/>
                <a:cs typeface="Arial Black"/>
              </a:rPr>
              <a:t>Do this at your desk today</a:t>
            </a:r>
          </a:p>
          <a:p xmlns:a="http://schemas.openxmlformats.org/drawingml/2006/main">
            <a:pPr>
              <a:spcBef>
                <a:spcPts val="400"/>
              </a:spcBef>
              <a:buNone/>
            </a:pPr>
            <a:r>
              <a:rPr sz="1500" b="0" i="1">
                <a:solidFill>
                  <a:srgbClr val="CF3338"/>
                </a:solidFill>
                <a:latin typeface="Arial"/>
                <a:ea typeface="Arial"/>
                <a:cs typeface="Arial"/>
              </a:rPr>
              <a:t>Choose one small win</a:t>
            </a:r>
          </a:p>
        </p:txBody>
      </p:sp>
      <p:sp>
        <p:nvSpPr>
          <p:cNvPr id="3" name="TextBox 2">
            <a:extLst xmlns:a="http://schemas.openxmlformats.org/drawingml/2006/main">
              <a:ext uri="{FF2B5EF4-FFF2-40B4-BE49-F238E27FC236}">
                <a16:creationId xmlns:a16="http://schemas.microsoft.com/office/drawing/2014/main" id="{ECA26EED-30E7-41B6-9151-E51722E720C5}"/>
              </a:ext>
            </a:extLst>
          </p:cNvPr>
          <p:cNvSpPr>
            <a:spLocks xmlns:a="http://schemas.openxmlformats.org/drawingml/2006/main" noGrp="1"/>
          </p:cNvSpPr>
          <p:nvPr/>
        </p:nvSpPr>
        <p:spPr>
          <a:xfrm xmlns:a="http://schemas.openxmlformats.org/drawingml/2006/main">
            <a:off x="640080" y="1783080"/>
            <a:ext cx="10881360" cy="2409825"/>
          </a:xfrm>
          <a:prstGeom xmlns:a="http://schemas.openxmlformats.org/drawingml/2006/main" prst="rect">
            <a:avLst/>
          </a:prstGeom>
          <a:noFill xmlns:a="http://schemas.openxmlformats.org/drawingml/2006/main"/>
        </p:spPr>
        <p:txBody>
          <a:bodyPr xmlns:a="http://schemas.openxmlformats.org/drawingml/2006/main" wrap="square" lIns="0" tIns="0" rIns="0" bIns="0">
            <a:spAutoFit/>
          </a:bodyPr>
          <a:lstStyle xmlns:a="http://schemas.openxmlformats.org/drawingml/2006/main"/>
          <a:p xmlns:a="http://schemas.openxmlformats.org/drawingml/2006/main">
            <a:pPr>
              <a:spcAft>
                <a:spcPts val="700"/>
              </a:spcAft>
              <a:buNone/>
            </a:pPr>
            <a:r>
              <a:rPr sz="1200" b="1" i="0">
                <a:solidFill>
                  <a:srgbClr val="CF3338"/>
                </a:solidFill>
                <a:latin typeface="Arial"/>
                <a:ea typeface="Arial"/>
                <a:cs typeface="Arial"/>
              </a:rPr>
              <a:t>• </a:t>
            </a:r>
            <a:r>
              <a:rPr sz="1600" b="0" i="0">
                <a:solidFill>
                  <a:srgbClr val="1F2120"/>
                </a:solidFill>
                <a:latin typeface="Arial"/>
                <a:ea typeface="Arial"/>
                <a:cs typeface="Arial"/>
              </a:rPr>
              <a:t>TASK: Add one clear sentence saying what you want the tool to do.</a:t>
            </a:r>
          </a:p>
          <a:p xmlns:a="http://schemas.openxmlformats.org/drawingml/2006/main">
            <a:pPr>
              <a:spcAft>
                <a:spcPts val="700"/>
              </a:spcAft>
              <a:buNone/>
            </a:pPr>
            <a:r>
              <a:rPr sz="1200" b="1" i="0">
                <a:solidFill>
                  <a:srgbClr val="CF3338"/>
                </a:solidFill>
                <a:latin typeface="Arial"/>
                <a:ea typeface="Arial"/>
                <a:cs typeface="Arial"/>
              </a:rPr>
              <a:t>• </a:t>
            </a:r>
            <a:r>
              <a:rPr sz="1600" b="0" i="0">
                <a:solidFill>
                  <a:srgbClr val="1F2120"/>
                </a:solidFill>
                <a:latin typeface="Arial"/>
                <a:ea typeface="Arial"/>
                <a:cs typeface="Arial"/>
              </a:rPr>
              <a:t>FORMAT: Say how to return the answer, such as three bullets or a table.</a:t>
            </a:r>
          </a:p>
          <a:p xmlns:a="http://schemas.openxmlformats.org/drawingml/2006/main">
            <a:pPr>
              <a:spcAft>
                <a:spcPts val="700"/>
              </a:spcAft>
              <a:buNone/>
            </a:pPr>
            <a:r>
              <a:rPr sz="1200" b="1" i="0">
                <a:solidFill>
                  <a:srgbClr val="CF3338"/>
                </a:solidFill>
                <a:latin typeface="Arial"/>
                <a:ea typeface="Arial"/>
                <a:cs typeface="Arial"/>
              </a:rPr>
              <a:t>• </a:t>
            </a:r>
            <a:r>
              <a:rPr sz="1600" b="0" i="0">
                <a:solidFill>
                  <a:srgbClr val="1F2120"/>
                </a:solidFill>
                <a:latin typeface="Arial"/>
                <a:ea typeface="Arial"/>
                <a:cs typeface="Arial"/>
              </a:rPr>
              <a:t>Choose one change, run the prompt, and check the answer.</a:t>
            </a:r>
          </a:p>
        </p:txBody>
      </p:sp>
      <p:sp>
        <p:nvSpPr>
          <p:cNvPr id="4" name="Chat prompt panel">
            <a:extLst xmlns:a="http://schemas.openxmlformats.org/drawingml/2006/main">
              <a:ext uri="{FF2B5EF4-FFF2-40B4-BE49-F238E27FC236}">
                <a16:creationId xmlns:a16="http://schemas.microsoft.com/office/drawing/2014/main" id="{A61D0635-E16F-4564-9CFA-05C2DF90BB9C}"/>
              </a:ext>
            </a:extLst>
          </p:cNvPr>
          <p:cNvSpPr>
            <a:spLocks xmlns:a="http://schemas.openxmlformats.org/drawingml/2006/main" noGrp="1"/>
          </p:cNvSpPr>
          <p:nvPr/>
        </p:nvSpPr>
        <p:spPr>
          <a:xfrm xmlns:a="http://schemas.openxmlformats.org/drawingml/2006/main">
            <a:off x="638175" y="4476750"/>
            <a:ext cx="10896600" cy="1352550"/>
          </a:xfrm>
          <a:prstGeom xmlns:a="http://schemas.openxmlformats.org/drawingml/2006/main" prst="rect">
            <a:avLst/>
          </a:prstGeom>
          <a:solidFill xmlns:a="http://schemas.openxmlformats.org/drawingml/2006/main">
            <a:srgbClr val="1F2120"/>
          </a:solidFill>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r>
              <a:t/>
            </a:r>
          </a:p>
        </p:txBody>
      </p:sp>
      <p:sp>
        <p:nvSpPr>
          <p:cNvPr id="5" name="Chat question">
            <a:extLst xmlns:a="http://schemas.openxmlformats.org/drawingml/2006/main">
              <a:ext uri="{FF2B5EF4-FFF2-40B4-BE49-F238E27FC236}">
                <a16:creationId xmlns:a16="http://schemas.microsoft.com/office/drawing/2014/main" id="{C351DB70-E657-4C80-92ED-6431AA8F05F6}"/>
              </a:ext>
            </a:extLst>
          </p:cNvPr>
          <p:cNvSpPr>
            <a:spLocks xmlns:a="http://schemas.openxmlformats.org/drawingml/2006/main" noGrp="1"/>
          </p:cNvSpPr>
          <p:nvPr/>
        </p:nvSpPr>
        <p:spPr>
          <a:xfrm xmlns:a="http://schemas.openxmlformats.org/drawingml/2006/main">
            <a:off x="857250" y="4619625"/>
            <a:ext cx="104298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100" b="1">
                <a:solidFill>
                  <a:srgbClr val="FFFFFF"/>
                </a:solidFill>
                <a:latin typeface="Arial"/>
                <a:ea typeface="Arial"/>
                <a:cs typeface="Arial"/>
              </a:defRPr>
            </a:pPr>
            <a:r>
              <a:rPr sz="2100" b="1">
                <a:solidFill>
                  <a:srgbClr val="FFFFFF"/>
                </a:solidFill>
                <a:latin typeface="Arial"/>
                <a:ea typeface="Arial"/>
                <a:cs typeface="Arial"/>
              </a:rPr>
              <a:t>What will you add to your next prompt?</a:t>
            </a:r>
          </a:p>
        </p:txBody>
      </p:sp>
      <p:sp>
        <p:nvSpPr>
          <p:cNvPr id="6" name="Chat choices">
            <a:extLst xmlns:a="http://schemas.openxmlformats.org/drawingml/2006/main">
              <a:ext uri="{FF2B5EF4-FFF2-40B4-BE49-F238E27FC236}">
                <a16:creationId xmlns:a16="http://schemas.microsoft.com/office/drawing/2014/main" id="{8F746660-22C5-4E5B-8DE1-15619F58A0FF}"/>
              </a:ext>
            </a:extLst>
          </p:cNvPr>
          <p:cNvSpPr>
            <a:spLocks xmlns:a="http://schemas.openxmlformats.org/drawingml/2006/main" noGrp="1"/>
          </p:cNvSpPr>
          <p:nvPr/>
        </p:nvSpPr>
        <p:spPr>
          <a:xfrm xmlns:a="http://schemas.openxmlformats.org/drawingml/2006/main">
            <a:off x="857250" y="5086350"/>
            <a:ext cx="6858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400" b="1">
                <a:solidFill>
                  <a:srgbClr val="FFFFFF"/>
                </a:solidFill>
                <a:latin typeface="Arial"/>
                <a:ea typeface="Arial"/>
                <a:cs typeface="Arial"/>
              </a:defRPr>
            </a:pPr>
            <a:r>
              <a:rPr sz="2400" b="1">
                <a:solidFill>
                  <a:srgbClr val="FFFFFF"/>
                </a:solidFill>
                <a:latin typeface="Arial"/>
                <a:ea typeface="Arial"/>
                <a:cs typeface="Arial"/>
              </a:rPr>
              <a:t>TASK / FORMAT</a:t>
            </a:r>
          </a:p>
        </p:txBody>
      </p:sp>
      <p:sp>
        <p:nvSpPr>
          <p:cNvPr id="7" name="Chat instruction">
            <a:extLst xmlns:a="http://schemas.openxmlformats.org/drawingml/2006/main">
              <a:ext uri="{FF2B5EF4-FFF2-40B4-BE49-F238E27FC236}">
                <a16:creationId xmlns:a16="http://schemas.microsoft.com/office/drawing/2014/main" id="{19E8D802-EBBE-4DFA-B414-67EB9E16D2FC}"/>
              </a:ext>
            </a:extLst>
          </p:cNvPr>
          <p:cNvSpPr>
            <a:spLocks xmlns:a="http://schemas.openxmlformats.org/drawingml/2006/main" noGrp="1"/>
          </p:cNvSpPr>
          <p:nvPr/>
        </p:nvSpPr>
        <p:spPr>
          <a:xfrm xmlns:a="http://schemas.openxmlformats.org/drawingml/2006/main">
            <a:off x="8143875" y="5219700"/>
            <a:ext cx="3048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425" b="0">
                <a:solidFill>
                  <a:srgbClr val="FFFFFF"/>
                </a:solidFill>
                <a:latin typeface="Arial"/>
                <a:ea typeface="Arial"/>
                <a:cs typeface="Arial"/>
              </a:defRPr>
            </a:pPr>
            <a:r>
              <a:rPr sz="1425" b="0">
                <a:solidFill>
                  <a:srgbClr val="FFFFFF"/>
                </a:solidFill>
                <a:latin typeface="Arial"/>
                <a:ea typeface="Arial"/>
                <a:cs typeface="Arial"/>
              </a:rPr>
              <a:t>Type one word in chat.</a:t>
            </a:r>
          </a:p>
        </p:txBody>
      </p:sp>
    </p:spTree>
    <p:extLst>
      <p:ext uri="{BB962C8B-B14F-4D97-AF65-F5344CB8AC3E}">
        <p14:creationId xmlns:p14="http://schemas.microsoft.com/office/powerpoint/2010/main" val="449196952"/>
      </p:ext>
    </p:extLst>
  </p:cSld>
</p:sld>
</file>

<file path=ppt/slides/slide7.xml><?xml version="1.0" encoding="utf-8"?>
<p:sld xmlns:p="http://schemas.openxmlformats.org/presentationml/2006/main">
  <p:cSld>
    <p:bg>
      <p:bgPr>
        <a:solidFill xmlns:a="http://schemas.openxmlformats.org/drawingml/2006/main">
          <a:srgbClr val="EEECE1"/>
        </a:solidFill>
      </p:bgPr>
    </p:bg>
    <p:spTree>
      <p:nvGrpSpPr>
        <p:cNvPr id="1" name=""/>
        <p:cNvGrpSpPr/>
        <p:nvPr/>
      </p:nvGrpSpPr>
      <p:grpSpPr>
        <a:xfrm xmlns:a="http://schemas.openxmlformats.org/drawingml/2006/main"/>
      </p:grpSpPr>
      <p:sp>
        <p:nvSpPr>
          <p:cNvPr id="2" name="TextBox 1">
            <a:extLst xmlns:a="http://schemas.openxmlformats.org/drawingml/2006/main">
              <a:ext uri="{FF2B5EF4-FFF2-40B4-BE49-F238E27FC236}">
                <a16:creationId xmlns:a16="http://schemas.microsoft.com/office/drawing/2014/main" id="{73CB5428-8DE3-420A-8F53-F2E8D4E5733F}"/>
              </a:ext>
            </a:extLst>
          </p:cNvPr>
          <p:cNvSpPr>
            <a:spLocks xmlns:a="http://schemas.openxmlformats.org/drawingml/2006/main" noGrp="1"/>
          </p:cNvSpPr>
          <p:nvPr/>
        </p:nvSpPr>
        <p:spPr>
          <a:xfrm xmlns:a="http://schemas.openxmlformats.org/drawingml/2006/main">
            <a:off x="640080" y="640080"/>
            <a:ext cx="10881360" cy="914400"/>
          </a:xfrm>
          <a:prstGeom xmlns:a="http://schemas.openxmlformats.org/drawingml/2006/main" prst="rect">
            <a:avLst/>
          </a:prstGeom>
          <a:noFill xmlns:a="http://schemas.openxmlformats.org/drawingml/2006/main"/>
        </p:spPr>
        <p:txBody>
          <a:bodyPr xmlns:a="http://schemas.openxmlformats.org/drawingml/2006/main" wrap="square" lIns="0" tIns="0" rIns="0" bIns="0">
            <a:spAutoFit/>
          </a:bodyPr>
          <a:lstStyle xmlns:a="http://schemas.openxmlformats.org/drawingml/2006/main"/>
          <a:p xmlns:a="http://schemas.openxmlformats.org/drawingml/2006/main">
            <a:r>
              <a:rPr sz="2900" b="1" i="0">
                <a:solidFill>
                  <a:srgbClr val="1F2120"/>
                </a:solidFill>
                <a:latin typeface="Arial Black"/>
                <a:ea typeface="Arial Black"/>
                <a:cs typeface="Arial Black"/>
              </a:rPr>
              <a:t>The week, in numbers</a:t>
            </a:r>
          </a:p>
        </p:txBody>
      </p:sp>
      <p:sp>
        <p:nvSpPr>
          <p:cNvPr id="3" name="TextBox 2">
            <a:extLst xmlns:a="http://schemas.openxmlformats.org/drawingml/2006/main">
              <a:ext uri="{FF2B5EF4-FFF2-40B4-BE49-F238E27FC236}">
                <a16:creationId xmlns:a16="http://schemas.microsoft.com/office/drawing/2014/main" id="{FA04EB0E-7D63-45F1-8148-D9F29F37A121}"/>
              </a:ext>
            </a:extLst>
          </p:cNvPr>
          <p:cNvSpPr>
            <a:spLocks xmlns:a="http://schemas.openxmlformats.org/drawingml/2006/main" noGrp="1"/>
          </p:cNvSpPr>
          <p:nvPr/>
        </p:nvSpPr>
        <p:spPr>
          <a:xfrm xmlns:a="http://schemas.openxmlformats.org/drawingml/2006/main">
            <a:off x="640080" y="2468880"/>
            <a:ext cx="2446020" cy="2560320"/>
          </a:xfrm>
          <a:prstGeom xmlns:a="http://schemas.openxmlformats.org/drawingml/2006/main" prst="rect">
            <a:avLst/>
          </a:prstGeom>
          <a:noFill xmlns:a="http://schemas.openxmlformats.org/drawingml/2006/main"/>
        </p:spPr>
        <p:txBody>
          <a:bodyPr xmlns:a="http://schemas.openxmlformats.org/drawingml/2006/main" wrap="square" lIns="0" tIns="0" rIns="0" bIns="0">
            <a:spAutoFit/>
          </a:bodyPr>
          <a:lstStyle xmlns:a="http://schemas.openxmlformats.org/drawingml/2006/main"/>
          <a:p xmlns:a="http://schemas.openxmlformats.org/drawingml/2006/main">
            <a:r>
              <a:rPr sz="5800" b="1" i="0">
                <a:solidFill>
                  <a:srgbClr val="CF3338"/>
                </a:solidFill>
                <a:latin typeface="Arial Black"/>
                <a:ea typeface="Arial Black"/>
                <a:cs typeface="Arial Black"/>
              </a:rPr>
              <a:t>5</a:t>
            </a:r>
          </a:p>
          <a:p xmlns:a="http://schemas.openxmlformats.org/drawingml/2006/main">
            <a:pPr>
              <a:spcBef>
                <a:spcPts val="600"/>
              </a:spcBef>
              <a:buNone/>
            </a:pPr>
            <a:r>
              <a:rPr sz="1500" b="0" i="0">
                <a:solidFill>
                  <a:srgbClr val="707070"/>
                </a:solidFill>
                <a:latin typeface="Arial"/>
                <a:ea typeface="Arial"/>
                <a:cs typeface="Arial"/>
              </a:rPr>
              <a:t>twenty-minute wins</a:t>
            </a:r>
          </a:p>
        </p:txBody>
      </p:sp>
      <p:sp>
        <p:nvSpPr>
          <p:cNvPr id="4" name="TextBox 3">
            <a:extLst xmlns:a="http://schemas.openxmlformats.org/drawingml/2006/main">
              <a:ext uri="{FF2B5EF4-FFF2-40B4-BE49-F238E27FC236}">
                <a16:creationId xmlns:a16="http://schemas.microsoft.com/office/drawing/2014/main" id="{82150078-312D-4949-8427-97E410C887D4}"/>
              </a:ext>
            </a:extLst>
          </p:cNvPr>
          <p:cNvSpPr>
            <a:spLocks xmlns:a="http://schemas.openxmlformats.org/drawingml/2006/main" noGrp="1"/>
          </p:cNvSpPr>
          <p:nvPr/>
        </p:nvSpPr>
        <p:spPr>
          <a:xfrm xmlns:a="http://schemas.openxmlformats.org/drawingml/2006/main">
            <a:off x="3360420" y="2468880"/>
            <a:ext cx="2446020" cy="2560320"/>
          </a:xfrm>
          <a:prstGeom xmlns:a="http://schemas.openxmlformats.org/drawingml/2006/main" prst="rect">
            <a:avLst/>
          </a:prstGeom>
          <a:noFill xmlns:a="http://schemas.openxmlformats.org/drawingml/2006/main"/>
        </p:spPr>
        <p:txBody>
          <a:bodyPr xmlns:a="http://schemas.openxmlformats.org/drawingml/2006/main" wrap="square" lIns="0" tIns="0" rIns="0" bIns="0">
            <a:spAutoFit/>
          </a:bodyPr>
          <a:lstStyle xmlns:a="http://schemas.openxmlformats.org/drawingml/2006/main"/>
          <a:p xmlns:a="http://schemas.openxmlformats.org/drawingml/2006/main">
            <a:r>
              <a:rPr sz="5800" b="1" i="0">
                <a:solidFill>
                  <a:srgbClr val="CF3338"/>
                </a:solidFill>
                <a:latin typeface="Arial Black"/>
                <a:ea typeface="Arial Black"/>
                <a:cs typeface="Arial Black"/>
              </a:rPr>
              <a:t>0</a:t>
            </a:r>
          </a:p>
          <a:p xmlns:a="http://schemas.openxmlformats.org/drawingml/2006/main">
            <a:pPr>
              <a:spcBef>
                <a:spcPts val="600"/>
              </a:spcBef>
              <a:buNone/>
            </a:pPr>
            <a:r>
              <a:rPr sz="1500" b="0" i="0">
                <a:solidFill>
                  <a:srgbClr val="707070"/>
                </a:solidFill>
                <a:latin typeface="Arial"/>
                <a:ea typeface="Arial"/>
                <a:cs typeface="Arial"/>
              </a:rPr>
              <a:t>Copilot licenses needed</a:t>
            </a:r>
          </a:p>
        </p:txBody>
      </p:sp>
      <p:sp>
        <p:nvSpPr>
          <p:cNvPr id="5" name="TextBox 4">
            <a:extLst xmlns:a="http://schemas.openxmlformats.org/drawingml/2006/main">
              <a:ext uri="{FF2B5EF4-FFF2-40B4-BE49-F238E27FC236}">
                <a16:creationId xmlns:a16="http://schemas.microsoft.com/office/drawing/2014/main" id="{B28D41EA-8EF2-4DD7-87AA-BBAF51B8EF50}"/>
              </a:ext>
            </a:extLst>
          </p:cNvPr>
          <p:cNvSpPr>
            <a:spLocks xmlns:a="http://schemas.openxmlformats.org/drawingml/2006/main" noGrp="1"/>
          </p:cNvSpPr>
          <p:nvPr/>
        </p:nvSpPr>
        <p:spPr>
          <a:xfrm xmlns:a="http://schemas.openxmlformats.org/drawingml/2006/main">
            <a:off x="6080760" y="2468880"/>
            <a:ext cx="2446020" cy="2560320"/>
          </a:xfrm>
          <a:prstGeom xmlns:a="http://schemas.openxmlformats.org/drawingml/2006/main" prst="rect">
            <a:avLst/>
          </a:prstGeom>
          <a:noFill xmlns:a="http://schemas.openxmlformats.org/drawingml/2006/main"/>
        </p:spPr>
        <p:txBody>
          <a:bodyPr xmlns:a="http://schemas.openxmlformats.org/drawingml/2006/main" wrap="square" lIns="0" tIns="0" rIns="0" bIns="0">
            <a:spAutoFit/>
          </a:bodyPr>
          <a:lstStyle xmlns:a="http://schemas.openxmlformats.org/drawingml/2006/main"/>
          <a:p xmlns:a="http://schemas.openxmlformats.org/drawingml/2006/main">
            <a:r>
              <a:rPr sz="5800" b="1" i="0">
                <a:solidFill>
                  <a:srgbClr val="CF3338"/>
                </a:solidFill>
                <a:latin typeface="Arial Black"/>
                <a:ea typeface="Arial Black"/>
                <a:cs typeface="Arial Black"/>
              </a:rPr>
              <a:t>$0</a:t>
            </a:r>
          </a:p>
          <a:p xmlns:a="http://schemas.openxmlformats.org/drawingml/2006/main">
            <a:pPr>
              <a:spcBef>
                <a:spcPts val="600"/>
              </a:spcBef>
              <a:buNone/>
            </a:pPr>
            <a:r>
              <a:rPr sz="1500" b="0" i="0">
                <a:solidFill>
                  <a:srgbClr val="707070"/>
                </a:solidFill>
                <a:latin typeface="Arial"/>
                <a:ea typeface="Arial"/>
                <a:cs typeface="Arial"/>
              </a:rPr>
              <a:t>spent on tools</a:t>
            </a:r>
          </a:p>
        </p:txBody>
      </p:sp>
      <p:sp>
        <p:nvSpPr>
          <p:cNvPr id="6" name="TextBox 5">
            <a:extLst xmlns:a="http://schemas.openxmlformats.org/drawingml/2006/main">
              <a:ext uri="{FF2B5EF4-FFF2-40B4-BE49-F238E27FC236}">
                <a16:creationId xmlns:a16="http://schemas.microsoft.com/office/drawing/2014/main" id="{DE735D06-9442-4481-8C82-9A651E22BB7F}"/>
              </a:ext>
            </a:extLst>
          </p:cNvPr>
          <p:cNvSpPr>
            <a:spLocks xmlns:a="http://schemas.openxmlformats.org/drawingml/2006/main" noGrp="1"/>
          </p:cNvSpPr>
          <p:nvPr/>
        </p:nvSpPr>
        <p:spPr>
          <a:xfrm xmlns:a="http://schemas.openxmlformats.org/drawingml/2006/main">
            <a:off x="8801100" y="2468880"/>
            <a:ext cx="2446020" cy="2560320"/>
          </a:xfrm>
          <a:prstGeom xmlns:a="http://schemas.openxmlformats.org/drawingml/2006/main" prst="rect">
            <a:avLst/>
          </a:prstGeom>
          <a:noFill xmlns:a="http://schemas.openxmlformats.org/drawingml/2006/main"/>
        </p:spPr>
        <p:txBody>
          <a:bodyPr xmlns:a="http://schemas.openxmlformats.org/drawingml/2006/main" wrap="square" lIns="0" tIns="0" rIns="0" bIns="0">
            <a:spAutoFit/>
          </a:bodyPr>
          <a:lstStyle xmlns:a="http://schemas.openxmlformats.org/drawingml/2006/main"/>
          <a:p xmlns:a="http://schemas.openxmlformats.org/drawingml/2006/main">
            <a:r>
              <a:rPr sz="5800" b="1" i="0">
                <a:solidFill>
                  <a:srgbClr val="CF3338"/>
                </a:solidFill>
                <a:latin typeface="Arial Black"/>
                <a:ea typeface="Arial Black"/>
                <a:cs typeface="Arial Black"/>
              </a:rPr>
              <a:t>1</a:t>
            </a:r>
          </a:p>
          <a:p xmlns:a="http://schemas.openxmlformats.org/drawingml/2006/main">
            <a:pPr>
              <a:spcBef>
                <a:spcPts val="600"/>
              </a:spcBef>
              <a:buNone/>
            </a:pPr>
            <a:r>
              <a:rPr sz="1500" b="0" i="0">
                <a:solidFill>
                  <a:srgbClr val="707070"/>
                </a:solidFill>
                <a:latin typeface="Arial"/>
                <a:ea typeface="Arial"/>
                <a:cs typeface="Arial"/>
              </a:rPr>
              <a:t>ugly export, fully tamed</a:t>
            </a:r>
          </a:p>
        </p:txBody>
      </p:sp>
      <p:sp>
        <p:nvSpPr>
          <p:cNvPr id="7" name="TextBox 6">
            <a:extLst xmlns:a="http://schemas.openxmlformats.org/drawingml/2006/main">
              <a:ext uri="{FF2B5EF4-FFF2-40B4-BE49-F238E27FC236}">
                <a16:creationId xmlns:a16="http://schemas.microsoft.com/office/drawing/2014/main" id="{B0117597-CCE8-48BA-AB1B-E01B7A1CC390}"/>
              </a:ext>
            </a:extLst>
          </p:cNvPr>
          <p:cNvSpPr>
            <a:spLocks xmlns:a="http://schemas.openxmlformats.org/drawingml/2006/main" noGrp="1"/>
          </p:cNvSpPr>
          <p:nvPr/>
        </p:nvSpPr>
        <p:spPr>
          <a:xfrm xmlns:a="http://schemas.openxmlformats.org/drawingml/2006/main">
            <a:off x="640080" y="5486400"/>
            <a:ext cx="10881360" cy="822960"/>
          </a:xfrm>
          <a:prstGeom xmlns:a="http://schemas.openxmlformats.org/drawingml/2006/main" prst="rect">
            <a:avLst/>
          </a:prstGeom>
          <a:noFill xmlns:a="http://schemas.openxmlformats.org/drawingml/2006/main"/>
        </p:spPr>
        <p:txBody>
          <a:bodyPr xmlns:a="http://schemas.openxmlformats.org/drawingml/2006/main" wrap="square" lIns="0" tIns="0" rIns="0" bIns="0">
            <a:spAutoFit/>
          </a:bodyPr>
          <a:lstStyle xmlns:a="http://schemas.openxmlformats.org/drawingml/2006/main"/>
          <a:p xmlns:a="http://schemas.openxmlformats.org/drawingml/2006/main">
            <a:r>
              <a:rPr sz="1500" b="0" i="1">
                <a:solidFill>
                  <a:srgbClr val="1F2120"/>
                </a:solidFill>
                <a:latin typeface="Arial"/>
                <a:ea typeface="Arial"/>
                <a:cs typeface="Arial"/>
              </a:rPr>
              <a:t>Flash Fill. Tables. Power Query. Python. Markdown. </a:t>
            </a:r>
            <a:r>
              <a:rPr sz="1500" b="0" i="1">
                <a:solidFill>
                  <a:srgbClr val="1F2120"/>
                </a:solidFill>
                <a:latin typeface="Arial"/>
                <a:ea typeface="Arial"/>
                <a:cs typeface="Arial"/>
              </a:rPr>
              <a:t>Availability varies by Excel setup.</a:t>
            </a:r>
          </a:p>
        </p:txBody>
      </p:sp>
    </p:spTree>
    <p:extLst>
      <p:ext uri="{BB962C8B-B14F-4D97-AF65-F5344CB8AC3E}">
        <p14:creationId xmlns:p14="http://schemas.microsoft.com/office/powerpoint/2010/main" val="982033497"/>
      </p:ext>
    </p:extLst>
  </p:cSld>
</p:sld>
</file>

<file path=ppt/slides/slide8.xml><?xml version="1.0" encoding="utf-8"?>
<p:sld xmlns:p="http://schemas.openxmlformats.org/presentationml/2006/main">
  <p:cSld>
    <p:bg>
      <p:bgPr>
        <a:solidFill xmlns:a="http://schemas.openxmlformats.org/drawingml/2006/main">
          <a:srgbClr val="EEECE1"/>
        </a:solidFill>
      </p:bgPr>
    </p:bg>
    <p:spTree>
      <p:nvGrpSpPr>
        <p:cNvPr id="1" name=""/>
        <p:cNvGrpSpPr/>
        <p:nvPr/>
      </p:nvGrpSpPr>
      <p:grpSpPr>
        <a:xfrm xmlns:a="http://schemas.openxmlformats.org/drawingml/2006/main"/>
      </p:grpSpPr>
      <p:sp>
        <p:nvSpPr>
          <p:cNvPr id="2" name="TextBox 1">
            <a:extLst xmlns:a="http://schemas.openxmlformats.org/drawingml/2006/main">
              <a:ext uri="{FF2B5EF4-FFF2-40B4-BE49-F238E27FC236}">
                <a16:creationId xmlns:a16="http://schemas.microsoft.com/office/drawing/2014/main" id="{75ED4722-C23E-416A-ACBB-4B49D9C923B3}"/>
              </a:ext>
            </a:extLst>
          </p:cNvPr>
          <p:cNvSpPr>
            <a:spLocks xmlns:a="http://schemas.openxmlformats.org/drawingml/2006/main" noGrp="1"/>
          </p:cNvSpPr>
          <p:nvPr/>
        </p:nvSpPr>
        <p:spPr>
          <a:xfrm xmlns:a="http://schemas.openxmlformats.org/drawingml/2006/main">
            <a:off x="640080" y="457200"/>
            <a:ext cx="10881360" cy="1005840"/>
          </a:xfrm>
          <a:prstGeom xmlns:a="http://schemas.openxmlformats.org/drawingml/2006/main" prst="rect">
            <a:avLst/>
          </a:prstGeom>
          <a:noFill xmlns:a="http://schemas.openxmlformats.org/drawingml/2006/main"/>
        </p:spPr>
        <p:txBody>
          <a:bodyPr xmlns:a="http://schemas.openxmlformats.org/drawingml/2006/main" wrap="square" lIns="0" tIns="0" rIns="0" bIns="0">
            <a:spAutoFit/>
          </a:bodyPr>
          <a:lstStyle xmlns:a="http://schemas.openxmlformats.org/drawingml/2006/main"/>
          <a:p xmlns:a="http://schemas.openxmlformats.org/drawingml/2006/main">
            <a:r>
              <a:rPr sz="3000" b="1" i="0">
                <a:solidFill>
                  <a:srgbClr val="1F2120"/>
                </a:solidFill>
                <a:latin typeface="Arial Black"/>
                <a:ea typeface="Arial Black"/>
                <a:cs typeface="Arial Black"/>
              </a:rPr>
              <a:t>Where to go from here</a:t>
            </a:r>
          </a:p>
          <a:p xmlns:a="http://schemas.openxmlformats.org/drawingml/2006/main">
            <a:pPr>
              <a:spcBef>
                <a:spcPts val="300"/>
              </a:spcBef>
              <a:buNone/>
            </a:pPr>
            <a:r>
              <a:rPr sz="1500" b="0" i="1">
                <a:solidFill>
                  <a:srgbClr val="CF3338"/>
                </a:solidFill>
                <a:latin typeface="Arial"/>
                <a:ea typeface="Arial"/>
                <a:cs typeface="Arial"/>
              </a:rPr>
              <a:t>Two paths, and they stack</a:t>
            </a:r>
          </a:p>
        </p:txBody>
      </p:sp>
      <p:sp>
        <p:nvSpPr>
          <p:cNvPr id="3" name="Rounded Rectangle 2">
            <a:extLst xmlns:a="http://schemas.openxmlformats.org/drawingml/2006/main">
              <a:ext uri="{FF2B5EF4-FFF2-40B4-BE49-F238E27FC236}">
                <a16:creationId xmlns:a16="http://schemas.microsoft.com/office/drawing/2014/main" id="{A6F52750-31EF-486E-A310-1B4531F1D2F0}"/>
              </a:ext>
            </a:extLst>
          </p:cNvPr>
          <p:cNvSpPr>
            <a:spLocks xmlns:a="http://schemas.openxmlformats.org/drawingml/2006/main" noGrp="1"/>
          </p:cNvSpPr>
          <p:nvPr/>
        </p:nvSpPr>
        <p:spPr>
          <a:xfrm xmlns:a="http://schemas.openxmlformats.org/drawingml/2006/main">
            <a:off x="640080" y="1828800"/>
            <a:ext cx="5212080" cy="4389120"/>
          </a:xfrm>
          <a:prstGeom xmlns:a="http://schemas.openxmlformats.org/drawingml/2006/main" prst="roundRect">
            <a:avLst/>
          </a:prstGeom>
          <a:solidFill xmlns:a="http://schemas.openxmlformats.org/drawingml/2006/main">
            <a:srgbClr val="FFFFFF"/>
          </a:solidFill>
          <a:ln xmlns:a="http://schemas.openxmlformats.org/drawingml/2006/main" w="19050">
            <a:solidFill>
              <a:srgbClr val="CF3338"/>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4" name="TextBox 3">
            <a:extLst xmlns:a="http://schemas.openxmlformats.org/drawingml/2006/main">
              <a:ext uri="{FF2B5EF4-FFF2-40B4-BE49-F238E27FC236}">
                <a16:creationId xmlns:a16="http://schemas.microsoft.com/office/drawing/2014/main" id="{1CE3A10F-FAC5-4A32-AA7B-074CA9D614D7}"/>
              </a:ext>
            </a:extLst>
          </p:cNvPr>
          <p:cNvSpPr>
            <a:spLocks xmlns:a="http://schemas.openxmlformats.org/drawingml/2006/main" noGrp="1"/>
          </p:cNvSpPr>
          <p:nvPr/>
        </p:nvSpPr>
        <p:spPr>
          <a:xfrm xmlns:a="http://schemas.openxmlformats.org/drawingml/2006/main">
            <a:off x="960120" y="2057400"/>
            <a:ext cx="4617720" cy="3931920"/>
          </a:xfrm>
          <a:prstGeom xmlns:a="http://schemas.openxmlformats.org/drawingml/2006/main" prst="rect">
            <a:avLst/>
          </a:prstGeom>
          <a:noFill xmlns:a="http://schemas.openxmlformats.org/drawingml/2006/main"/>
        </p:spPr>
        <p:txBody>
          <a:bodyPr xmlns:a="http://schemas.openxmlformats.org/drawingml/2006/main" wrap="square" lIns="0" tIns="0" rIns="0" bIns="0">
            <a:spAutoFit/>
          </a:bodyPr>
          <a:lstStyle xmlns:a="http://schemas.openxmlformats.org/drawingml/2006/main"/>
          <a:p xmlns:a="http://schemas.openxmlformats.org/drawingml/2006/main">
            <a:r>
              <a:rPr sz="1800" b="1" i="0">
                <a:solidFill>
                  <a:srgbClr val="CF3338"/>
                </a:solidFill>
                <a:latin typeface="Arial Black"/>
                <a:ea typeface="Arial Black"/>
                <a:cs typeface="Arial Black"/>
              </a:rPr>
              <a:t>Keep the momentum</a:t>
            </a:r>
          </a:p>
          <a:p xmlns:a="http://schemas.openxmlformats.org/drawingml/2006/main">
            <a:pPr>
              <a:spcBef>
                <a:spcPts val="700"/>
              </a:spcBef>
              <a:buNone/>
            </a:pPr>
            <a:r>
              <a:rPr sz="1100" b="1" i="0">
                <a:solidFill>
                  <a:srgbClr val="CF3338"/>
                </a:solidFill>
                <a:latin typeface="Arial"/>
                <a:ea typeface="Arial"/>
                <a:cs typeface="Arial"/>
              </a:rPr>
              <a:t>• </a:t>
            </a:r>
            <a:r>
              <a:rPr sz="1400" b="0" i="0">
                <a:solidFill>
                  <a:srgbClr val="1F2120"/>
                </a:solidFill>
                <a:latin typeface="Arial"/>
                <a:ea typeface="Arial"/>
                <a:cs typeface="Arial"/>
              </a:rPr>
              <a:t>Replays of all five sessions live in the membership vault.</a:t>
            </a:r>
          </a:p>
          <a:p xmlns:a="http://schemas.openxmlformats.org/drawingml/2006/main">
            <a:pPr>
              <a:spcBef>
                <a:spcPts val="700"/>
              </a:spcBef>
              <a:buNone/>
            </a:pPr>
            <a:r>
              <a:rPr sz="1100" b="1" i="0">
                <a:solidFill>
                  <a:srgbClr val="CF3338"/>
                </a:solidFill>
                <a:latin typeface="Arial"/>
                <a:ea typeface="Arial"/>
                <a:cs typeface="Arial"/>
              </a:rPr>
              <a:t>• </a:t>
            </a:r>
            <a:r>
              <a:rPr sz="1400" b="0" i="0">
                <a:solidFill>
                  <a:srgbClr val="1F2120"/>
                </a:solidFill>
                <a:latin typeface="Arial"/>
                <a:ea typeface="Arial"/>
                <a:cs typeface="Arial"/>
              </a:rPr>
              <a:t>Ten dollars a month, cancel anytime, full back catalog included.</a:t>
            </a:r>
          </a:p>
          <a:p xmlns:a="http://schemas.openxmlformats.org/drawingml/2006/main">
            <a:pPr>
              <a:spcBef>
                <a:spcPts val="700"/>
              </a:spcBef>
              <a:buNone/>
            </a:pPr>
            <a:r>
              <a:rPr sz="1100" b="1" i="0">
                <a:solidFill>
                  <a:srgbClr val="CF3338"/>
                </a:solidFill>
                <a:latin typeface="Arial"/>
                <a:ea typeface="Arial"/>
                <a:cs typeface="Arial"/>
              </a:rPr>
              <a:t>• </a:t>
            </a:r>
            <a:r>
              <a:rPr sz="1400" b="0" i="0">
                <a:solidFill>
                  <a:srgbClr val="1F2120"/>
                </a:solidFill>
                <a:latin typeface="Arial"/>
                <a:ea typeface="Arial"/>
                <a:cs typeface="Arial"/>
              </a:rPr>
              <a:t>Rewatch the demos with the files in front of you.</a:t>
            </a:r>
          </a:p>
        </p:txBody>
      </p:sp>
      <p:sp>
        <p:nvSpPr>
          <p:cNvPr id="5" name="Rounded Rectangle 4">
            <a:extLst xmlns:a="http://schemas.openxmlformats.org/drawingml/2006/main">
              <a:ext uri="{FF2B5EF4-FFF2-40B4-BE49-F238E27FC236}">
                <a16:creationId xmlns:a16="http://schemas.microsoft.com/office/drawing/2014/main" id="{67176FB7-7EFE-41F5-8F4E-71412DDF430B}"/>
              </a:ext>
            </a:extLst>
          </p:cNvPr>
          <p:cNvSpPr>
            <a:spLocks xmlns:a="http://schemas.openxmlformats.org/drawingml/2006/main" noGrp="1"/>
          </p:cNvSpPr>
          <p:nvPr/>
        </p:nvSpPr>
        <p:spPr>
          <a:xfrm xmlns:a="http://schemas.openxmlformats.org/drawingml/2006/main">
            <a:off x="6400800" y="1828800"/>
            <a:ext cx="5212080" cy="4389120"/>
          </a:xfrm>
          <a:prstGeom xmlns:a="http://schemas.openxmlformats.org/drawingml/2006/main" prst="roundRect">
            <a:avLst/>
          </a:prstGeom>
          <a:solidFill xmlns:a="http://schemas.openxmlformats.org/drawingml/2006/main">
            <a:srgbClr val="FFFFFF"/>
          </a:solidFill>
          <a:ln xmlns:a="http://schemas.openxmlformats.org/drawingml/2006/main" w="19050">
            <a:solidFill>
              <a:srgbClr val="CF3338"/>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6" name="TextBox 5">
            <a:extLst xmlns:a="http://schemas.openxmlformats.org/drawingml/2006/main">
              <a:ext uri="{FF2B5EF4-FFF2-40B4-BE49-F238E27FC236}">
                <a16:creationId xmlns:a16="http://schemas.microsoft.com/office/drawing/2014/main" id="{E9BC8E41-3B95-4A2D-98E1-9B55F98A01A8}"/>
              </a:ext>
            </a:extLst>
          </p:cNvPr>
          <p:cNvSpPr>
            <a:spLocks xmlns:a="http://schemas.openxmlformats.org/drawingml/2006/main" noGrp="1"/>
          </p:cNvSpPr>
          <p:nvPr/>
        </p:nvSpPr>
        <p:spPr>
          <a:xfrm xmlns:a="http://schemas.openxmlformats.org/drawingml/2006/main">
            <a:off x="6720840" y="2057400"/>
            <a:ext cx="4617720" cy="3931920"/>
          </a:xfrm>
          <a:prstGeom xmlns:a="http://schemas.openxmlformats.org/drawingml/2006/main" prst="rect">
            <a:avLst/>
          </a:prstGeom>
          <a:noFill xmlns:a="http://schemas.openxmlformats.org/drawingml/2006/main"/>
        </p:spPr>
        <p:txBody>
          <a:bodyPr xmlns:a="http://schemas.openxmlformats.org/drawingml/2006/main" wrap="square" lIns="0" tIns="0" rIns="0" bIns="0">
            <a:spAutoFit/>
          </a:bodyPr>
          <a:lstStyle xmlns:a="http://schemas.openxmlformats.org/drawingml/2006/main"/>
          <a:p xmlns:a="http://schemas.openxmlformats.org/drawingml/2006/main">
            <a:r>
              <a:rPr sz="1800" b="1" i="0">
                <a:solidFill>
                  <a:srgbClr val="CF3338"/>
                </a:solidFill>
                <a:latin typeface="Arial Black"/>
                <a:ea typeface="Arial Black"/>
                <a:cs typeface="Arial Black"/>
              </a:rPr>
              <a:t>Go deeper in December</a:t>
            </a:r>
          </a:p>
          <a:p xmlns:a="http://schemas.openxmlformats.org/drawingml/2006/main">
            <a:pPr>
              <a:spcBef>
                <a:spcPts val="700"/>
              </a:spcBef>
              <a:buNone/>
            </a:pPr>
            <a:r>
              <a:rPr sz="1100" b="1" i="0">
                <a:solidFill>
                  <a:srgbClr val="CF3338"/>
                </a:solidFill>
                <a:latin typeface="Arial"/>
                <a:ea typeface="Arial"/>
                <a:cs typeface="Arial"/>
              </a:rPr>
              <a:t>• </a:t>
            </a:r>
            <a:r>
              <a:rPr sz="1400" b="0" i="0">
                <a:solidFill>
                  <a:srgbClr val="1F2120"/>
                </a:solidFill>
                <a:latin typeface="Arial"/>
                <a:ea typeface="Arial"/>
                <a:cs typeface="Arial"/>
              </a:rPr>
              <a:t>AI for Excel in a Week: five live 60-minute sessions.</a:t>
            </a:r>
          </a:p>
          <a:p xmlns:a="http://schemas.openxmlformats.org/drawingml/2006/main">
            <a:pPr>
              <a:spcBef>
                <a:spcPts val="700"/>
              </a:spcBef>
              <a:buNone/>
            </a:pPr>
            <a:r>
              <a:rPr sz="1100" b="1" i="0">
                <a:solidFill>
                  <a:srgbClr val="CF3338"/>
                </a:solidFill>
                <a:latin typeface="Arial"/>
                <a:ea typeface="Arial"/>
                <a:cs typeface="Arial"/>
              </a:rPr>
              <a:t>• </a:t>
            </a:r>
            <a:r>
              <a:rPr sz="1400" b="0" i="0">
                <a:solidFill>
                  <a:srgbClr val="1F2120"/>
                </a:solidFill>
                <a:latin typeface="Arial"/>
                <a:ea typeface="Arial"/>
                <a:cs typeface="Arial"/>
              </a:rPr>
              <a:t>Everything from this week, hands-on and in depth.</a:t>
            </a:r>
          </a:p>
          <a:p xmlns:a="http://schemas.openxmlformats.org/drawingml/2006/main">
            <a:pPr>
              <a:spcBef>
                <a:spcPts val="700"/>
              </a:spcBef>
              <a:buNone/>
            </a:pPr>
            <a:r>
              <a:rPr sz="1100" b="1" i="0">
                <a:solidFill>
                  <a:srgbClr val="CF3338"/>
                </a:solidFill>
                <a:latin typeface="Arial"/>
                <a:ea typeface="Arial"/>
                <a:cs typeface="Arial"/>
              </a:rPr>
              <a:t>• </a:t>
            </a:r>
            <a:r>
              <a:rPr sz="1400" b="0" i="0">
                <a:solidFill>
                  <a:srgbClr val="1F2120"/>
                </a:solidFill>
                <a:latin typeface="Arial"/>
                <a:ea typeface="Arial"/>
                <a:cs typeface="Arial"/>
              </a:rPr>
              <a:t>Registration link lands in tomorrow's thank-you email.</a:t>
            </a:r>
          </a:p>
        </p:txBody>
      </p:sp>
    </p:spTree>
    <p:extLst>
      <p:ext uri="{BB962C8B-B14F-4D97-AF65-F5344CB8AC3E}">
        <p14:creationId xmlns:p14="http://schemas.microsoft.com/office/powerpoint/2010/main" val="1360934625"/>
      </p:ext>
    </p:extLst>
  </p:cSld>
</p:sld>
</file>

<file path=ppt/slides/slide9.xml><?xml version="1.0" encoding="utf-8"?>
<p:sld xmlns:p="http://schemas.openxmlformats.org/presentationml/2006/main">
  <p:cSld>
    <p:bg>
      <p:bgPr>
        <a:solidFill xmlns:a="http://schemas.openxmlformats.org/drawingml/2006/main">
          <a:srgbClr val="C00000"/>
        </a:solidFill>
      </p:bgPr>
    </p:bg>
    <p:spTree>
      <p:nvGrpSpPr>
        <p:cNvPr id="1" name=""/>
        <p:cNvGrpSpPr/>
        <p:nvPr/>
      </p:nvGrpSpPr>
      <p:grpSpPr>
        <a:xfrm xmlns:a="http://schemas.openxmlformats.org/drawingml/2006/main"/>
      </p:grpSpPr>
      <p:sp>
        <p:nvSpPr>
          <p:cNvPr id="2" name="TextBox 1">
            <a:extLst xmlns:a="http://schemas.openxmlformats.org/drawingml/2006/main">
              <a:ext uri="{FF2B5EF4-FFF2-40B4-BE49-F238E27FC236}">
                <a16:creationId xmlns:a16="http://schemas.microsoft.com/office/drawing/2014/main" id="{50172C39-809E-4C35-B0DF-723952D0096E}"/>
              </a:ext>
            </a:extLst>
          </p:cNvPr>
          <p:cNvSpPr>
            <a:spLocks xmlns:a="http://schemas.openxmlformats.org/drawingml/2006/main" noGrp="1"/>
          </p:cNvSpPr>
          <p:nvPr/>
        </p:nvSpPr>
        <p:spPr>
          <a:xfrm xmlns:a="http://schemas.openxmlformats.org/drawingml/2006/main">
            <a:off x="822960" y="2103120"/>
            <a:ext cx="10515600" cy="2114550"/>
          </a:xfrm>
          <a:prstGeom xmlns:a="http://schemas.openxmlformats.org/drawingml/2006/main" prst="rect">
            <a:avLst/>
          </a:prstGeom>
          <a:noFill xmlns:a="http://schemas.openxmlformats.org/drawingml/2006/main"/>
        </p:spPr>
        <p:txBody>
          <a:bodyPr xmlns:a="http://schemas.openxmlformats.org/drawingml/2006/main" wrap="square" lIns="0" tIns="0" rIns="0" bIns="0">
            <a:spAutoFit/>
          </a:bodyPr>
          <a:lstStyle xmlns:a="http://schemas.openxmlformats.org/drawingml/2006/main"/>
          <a:p xmlns:a="http://schemas.openxmlformats.org/drawingml/2006/main">
            <a:r>
              <a:rPr sz="1600" b="1" i="0">
                <a:solidFill>
                  <a:srgbClr val="FFFFFF"/>
                </a:solidFill>
                <a:latin typeface="Arial Black"/>
                <a:ea typeface="Arial Black"/>
                <a:cs typeface="Arial Black"/>
              </a:rPr>
              <a:t>THANK YOU</a:t>
            </a:r>
          </a:p>
          <a:p xmlns:a="http://schemas.openxmlformats.org/drawingml/2006/main">
            <a:pPr>
              <a:spcBef>
                <a:spcPts val="800"/>
              </a:spcBef>
              <a:buNone/>
            </a:pPr>
            <a:r>
              <a:rPr sz="3600" b="1" i="0">
                <a:solidFill>
                  <a:srgbClr val="FFFFFF"/>
                </a:solidFill>
                <a:latin typeface="Arial Black"/>
                <a:ea typeface="Arial Black"/>
                <a:cs typeface="Arial Black"/>
              </a:rPr>
              <a:t>Five days, five practical wins</a:t>
            </a:r>
          </a:p>
          <a:p xmlns:a="http://schemas.openxmlformats.org/drawingml/2006/main">
            <a:pPr>
              <a:spcBef>
                <a:spcPts val="1400"/>
              </a:spcBef>
              <a:buNone/>
            </a:pPr>
            <a:r>
              <a:rPr sz="1800" b="0" i="0">
                <a:solidFill>
                  <a:srgbClr val="FFFFFF"/>
                </a:solidFill>
                <a:latin typeface="Arial"/>
                <a:ea typeface="Arial"/>
                <a:cs typeface="Arial"/>
              </a:rPr>
              <a:t>Watch your inbox for the thank-you email with links, files, and the December cohort.</a:t>
            </a:r>
          </a:p>
        </p:txBody>
      </p:sp>
      <p:sp>
        <p:nvSpPr>
          <p:cNvPr id="3" name="Chat prompt panel">
            <a:extLst xmlns:a="http://schemas.openxmlformats.org/drawingml/2006/main">
              <a:ext uri="{FF2B5EF4-FFF2-40B4-BE49-F238E27FC236}">
                <a16:creationId xmlns:a16="http://schemas.microsoft.com/office/drawing/2014/main" id="{D315EC76-7C92-4FA5-AA09-728F8B95BE7D}"/>
              </a:ext>
            </a:extLst>
          </p:cNvPr>
          <p:cNvSpPr>
            <a:spLocks xmlns:a="http://schemas.openxmlformats.org/drawingml/2006/main" noGrp="1"/>
          </p:cNvSpPr>
          <p:nvPr/>
        </p:nvSpPr>
        <p:spPr>
          <a:xfrm xmlns:a="http://schemas.openxmlformats.org/drawingml/2006/main">
            <a:off x="638175" y="4476750"/>
            <a:ext cx="10896600" cy="1352550"/>
          </a:xfrm>
          <a:prstGeom xmlns:a="http://schemas.openxmlformats.org/drawingml/2006/main" prst="rect">
            <a:avLst/>
          </a:prstGeom>
          <a:solidFill xmlns:a="http://schemas.openxmlformats.org/drawingml/2006/main">
            <a:srgbClr val="1F2120"/>
          </a:solidFill>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r>
              <a:t/>
            </a:r>
          </a:p>
        </p:txBody>
      </p:sp>
      <p:sp>
        <p:nvSpPr>
          <p:cNvPr id="4" name="Chat question">
            <a:extLst xmlns:a="http://schemas.openxmlformats.org/drawingml/2006/main">
              <a:ext uri="{FF2B5EF4-FFF2-40B4-BE49-F238E27FC236}">
                <a16:creationId xmlns:a16="http://schemas.microsoft.com/office/drawing/2014/main" id="{722ACA66-F349-4ABB-8407-968C4E7AB228}"/>
              </a:ext>
            </a:extLst>
          </p:cNvPr>
          <p:cNvSpPr>
            <a:spLocks xmlns:a="http://schemas.openxmlformats.org/drawingml/2006/main" noGrp="1"/>
          </p:cNvSpPr>
          <p:nvPr/>
        </p:nvSpPr>
        <p:spPr>
          <a:xfrm xmlns:a="http://schemas.openxmlformats.org/drawingml/2006/main">
            <a:off x="857250" y="4619625"/>
            <a:ext cx="104298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100" b="1">
                <a:solidFill>
                  <a:srgbClr val="FFFFFF"/>
                </a:solidFill>
                <a:latin typeface="Arial"/>
                <a:ea typeface="Arial"/>
                <a:cs typeface="Arial"/>
              </a:defRPr>
            </a:pPr>
            <a:r>
              <a:rPr sz="2100" b="1">
                <a:solidFill>
                  <a:srgbClr val="FFFFFF"/>
                </a:solidFill>
                <a:latin typeface="Arial"/>
                <a:ea typeface="Arial"/>
                <a:cs typeface="Arial"/>
              </a:rPr>
              <a:t>Which part should I revisit?</a:t>
            </a:r>
          </a:p>
        </p:txBody>
      </p:sp>
      <p:sp>
        <p:nvSpPr>
          <p:cNvPr id="5" name="Chat choices">
            <a:extLst xmlns:a="http://schemas.openxmlformats.org/drawingml/2006/main">
              <a:ext uri="{FF2B5EF4-FFF2-40B4-BE49-F238E27FC236}">
                <a16:creationId xmlns:a16="http://schemas.microsoft.com/office/drawing/2014/main" id="{A8D4034A-8BE4-457C-A7CF-EE199840AFC6}"/>
              </a:ext>
            </a:extLst>
          </p:cNvPr>
          <p:cNvSpPr>
            <a:spLocks xmlns:a="http://schemas.openxmlformats.org/drawingml/2006/main" noGrp="1"/>
          </p:cNvSpPr>
          <p:nvPr/>
        </p:nvSpPr>
        <p:spPr>
          <a:xfrm xmlns:a="http://schemas.openxmlformats.org/drawingml/2006/main">
            <a:off x="857250" y="5086350"/>
            <a:ext cx="6858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400" b="1">
                <a:solidFill>
                  <a:srgbClr val="FFFFFF"/>
                </a:solidFill>
                <a:latin typeface="Arial"/>
                <a:ea typeface="Arial"/>
                <a:cs typeface="Arial"/>
              </a:defRPr>
            </a:pPr>
            <a:r>
              <a:rPr sz="2400" b="1">
                <a:solidFill>
                  <a:srgbClr val="FFFFFF"/>
                </a:solidFill>
                <a:latin typeface="Arial"/>
                <a:ea typeface="Arial"/>
                <a:cs typeface="Arial"/>
              </a:rPr>
              <a:t>PROMPT / TABLE</a:t>
            </a:r>
          </a:p>
        </p:txBody>
      </p:sp>
      <p:sp>
        <p:nvSpPr>
          <p:cNvPr id="6" name="Chat instruction">
            <a:extLst xmlns:a="http://schemas.openxmlformats.org/drawingml/2006/main">
              <a:ext uri="{FF2B5EF4-FFF2-40B4-BE49-F238E27FC236}">
                <a16:creationId xmlns:a16="http://schemas.microsoft.com/office/drawing/2014/main" id="{8CBC55DA-C6C6-4F4C-ADC9-1F6DAB1F79EB}"/>
              </a:ext>
            </a:extLst>
          </p:cNvPr>
          <p:cNvSpPr>
            <a:spLocks xmlns:a="http://schemas.openxmlformats.org/drawingml/2006/main" noGrp="1"/>
          </p:cNvSpPr>
          <p:nvPr/>
        </p:nvSpPr>
        <p:spPr>
          <a:xfrm xmlns:a="http://schemas.openxmlformats.org/drawingml/2006/main">
            <a:off x="8143875" y="5219700"/>
            <a:ext cx="3048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425" b="0">
                <a:solidFill>
                  <a:srgbClr val="FFFFFF"/>
                </a:solidFill>
                <a:latin typeface="Arial"/>
                <a:ea typeface="Arial"/>
                <a:cs typeface="Arial"/>
              </a:defRPr>
            </a:pPr>
            <a:r>
              <a:rPr sz="1425" b="0">
                <a:solidFill>
                  <a:srgbClr val="FFFFFF"/>
                </a:solidFill>
                <a:latin typeface="Arial"/>
                <a:ea typeface="Arial"/>
                <a:cs typeface="Arial"/>
              </a:rPr>
              <a:t>A full question is welcome too.</a:t>
            </a:r>
          </a:p>
        </p:txBody>
      </p:sp>
    </p:spTree>
    <p:extLst>
      <p:ext uri="{BB962C8B-B14F-4D97-AF65-F5344CB8AC3E}">
        <p14:creationId xmlns:p14="http://schemas.microsoft.com/office/powerpoint/2010/main" val="235454667"/>
      </p:ext>
    </p:extLst>
  </p:cSld>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2026-09-27T11:03:02.9140000Z</dcterms:created>
  <dcterms:modified xsi:type="dcterms:W3CDTF">2026-09-27T11:03:02.9140000Z</dcterms:modified>
</coreProperties>
</file>
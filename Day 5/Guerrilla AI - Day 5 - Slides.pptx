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1" r:id="rId6"/>
    <p:sldId id="262" r:id="rId7"/>
    <p:sldId id="263" r:id="rId8"/>
    <p:sldId id="264"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9" d="100"/>
          <a:sy n="79" d="100"/>
        </p:scale>
        <p:origin x="81" y="8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to our final session. Today we make an AI request easier to read, then bring a small table back into Excel. Markdown means plain text with headings and simple formatting. You already know enough to make the choices in today's demo.</a:t>
            </a:r>
          </a:p>
          <a:p>
            <a:endParaRPr/>
          </a:p>
          <a:p>
            <a:r>
              <a:t>CHAT CUE (about 0:30; budget 15 seconds total)</a:t>
            </a:r>
          </a:p>
          <a:p>
            <a:r>
              <a:t>SAY: One word to start: is your usual AI prompt SHORT or DETAILED? Either is fine. Watching is welcome too.</a:t>
            </a:r>
          </a:p>
          <a:p>
            <a:r>
              <a:t>PAUSE: Wait silently for 8 seconds. Do not repeat the request.</a:t>
            </a:r>
          </a:p>
          <a:p>
            <a:r>
              <a:t>IF SOMEONE REPLIES: Acknowledge one actual answer. 'We will give the request a clear task and output format.'</a:t>
            </a:r>
          </a:p>
          <a:p>
            <a:r>
              <a:t>IF CHAT IS QUIET: Say, "I'll start with a short request and make the task clearer." Then continue. Never imply that somebody replied.</a:t>
            </a:r>
          </a:p>
          <a:p>
            <a:r>
              <a:t>FACILITATION: Acknowledge at most two actual replies, without calling on anyone by name. Accept a letter, a word, or a longer question. If a reply arrives later, acknowledge it at the next natural pause.</a:t>
            </a:r>
          </a:p>
          <a:p>
            <a:endParaRPr/>
          </a:p>
          <a:p>
            <a:r>
              <a:t>Keep the opening to 60 seconds. Participation is optional. The learning continues even with no chat replies.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Last recap of the week. Monday, the machine learning already hiding in Excel. Tuesday, tables made the workbook machine-readable. Wednesday, Power Query recorded the cleanup and Refresh replayed it. Yesterday, real Python behind equals PY, with a chatbot writing the code. One thread ran through all of it: the better the machine can read your work, the better every tool performs. Today we apply that same idea to the words you send AI tools, because it turns out prompts have a structure too.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final guerrilla hook. Behind almost every AI tool you touch is the same plain-text formatting language: Markdown. Hash marks for headings, dashes for bullets, pipes for tables. Chatbot answers are written in it. Copilot emits it. The instruction files that steer AI agents are plain Markdown documents. Which means twenty minutes of syntax buys you two powers. Steering: a prompt with headings and bullet structure is dramatically easier for a model to follow than a wall of text. And portability: tables written in Markdown move cleanly between Excel and any chatbot, in either direction, with no connectors and no licenses. Speaking the machine's language is the cheapest AI upgrade there is. Two demos and then we close out the week.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CHAT CUE (about 6:00; budget 15 seconds total)</a:t>
            </a:r>
          </a:p>
          <a:p>
            <a:r>
              <a:t>SAY: Which is easier for you to scan, A for the paragraph or B for headings? Just the letter.</a:t>
            </a:r>
          </a:p>
          <a:p>
            <a:r>
              <a:t>PAUSE: Wait silently for 8 seconds. Do not repeat the request.</a:t>
            </a:r>
          </a:p>
          <a:p>
            <a:r>
              <a:t>IF SOMEONE REPLIES: Acknowledge the choice without claiming a model result is guaranteed. Show the Task and Format sections. Compare the actual AI replies for requested content and errors.</a:t>
            </a:r>
          </a:p>
          <a:p>
            <a:r>
              <a:t>IF CHAT IS QUIET: Say, "I'll use B, headings, so we can find the task and requested format quickly." Then continue. Never imply that somebody replied.</a:t>
            </a:r>
          </a:p>
          <a:p>
            <a:r>
              <a:t>FACILITATION: Acknowledge at most two actual replies, without calling on anyone by name. Accept a letter, a word, or a longer question. If a reply arrives later, acknowledge it at the next natural pause.</a:t>
            </a:r>
          </a:p>
          <a:p>
            <a:endParaRPr/>
          </a:p>
          <a:p>
            <a:r>
              <a:t>Use this cue at the indicated demo pause. Keep the Excel window visible when the prompt refers to its result.</a:t>
            </a:r>
          </a:p>
          <a:p>
            <a:endParaRPr/>
          </a:p>
          <a:p>
            <a:r>
              <a:t>ORIGINAL TEACHING SCRIPT</a:t>
            </a:r>
          </a:p>
          <a:p>
            <a:r>
              <a:t>Demo one. On screen are two prompts asking for the same thing. The first is the blob: summarize this sales data and tell me whats important, followed by a messy paste of the whole export. It is an easy request to start with. The second is structured Markdown. A heading names the job: quarterly regional sales review. A Role section says who to be, an FP&amp;A analyst. A Task section lists three bullets: summarize by region, flag the trailing region, suggest two follow-ups. A Data section carries our regional summary as a clean Markdown table, and a Format section dictates the shape of the answer. I send both to a free chatbot, live. Compare the replies we actually get. Did each answer the task and follow the requested format? Did it use the numbers correctly? These examples differ in detail and data presentation as well as formatting, so do not attribute every difference to Markdown.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CHAT CUE (about 16:30; budget 15 seconds total)</a:t>
            </a:r>
          </a:p>
          <a:p>
            <a:r>
              <a:t>SAY: Pick one improvement for your next prompt: TASK or FORMAT. Type either word.</a:t>
            </a:r>
          </a:p>
          <a:p>
            <a:r>
              <a:t>PAUSE: Wait silently for 8 seconds. Do not repeat the request.</a:t>
            </a:r>
          </a:p>
          <a:p>
            <a:r>
              <a:t>IF SOMEONE REPLIES: Acknowledge an actual choice. TASK: say exactly what to do. FORMAT: say how you want the answer returned. Try one change before adding more.</a:t>
            </a:r>
          </a:p>
          <a:p>
            <a:r>
              <a:t>IF CHAT IS QUIET: Say, "I'll choose FORMAT, for example: return three bullets and a table." Then continue. Never imply that somebody replied.</a:t>
            </a:r>
          </a:p>
          <a:p>
            <a:r>
              <a:t>FACILITATION: Acknowledge at most two actual replies, without calling on anyone by name. Accept a letter, a word, or a longer question. If a reply arrives later, acknowledge it at the next natural pause.</a:t>
            </a:r>
          </a:p>
          <a:p>
            <a:endParaRPr/>
          </a:p>
          <a:p>
            <a:r>
              <a:t>Use this cue before reading the remaining notes.</a:t>
            </a:r>
          </a:p>
          <a:p>
            <a:endParaRPr/>
          </a:p>
          <a:p>
            <a:r>
              <a:t>TEACHING SCRIPT
Pick one small next action. You do not need to complete every option. TASK: Add one clear sentence saying what you want the tool to do. FORMAT: Say how to return the answer, such as three bullets or a table. Choose one change, run the prompt, and check the answer.</a:t>
            </a:r>
          </a:p>
          <a:p>
            <a:r>
              <a:t>Final desk actions of the series. One: take the next real prompt you were going to send anyway and rewrite it with a heading, a bulleted task list, and a Format section, then compare answers. That comparison converts people. Two: paste one small Excel table into a chatbot and ask for the reply as a Markdown table, then bring it home with Text to Columns. Three: save your best prompt as a dot md file. That file is reusable craft, and it is the seed of every agent instruction file you will ever write.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is the week in numbers. Five twenty-minute wins. No Copilot license needed for these demos. Feature availability still depends on your existing Excel setup. One genuinely ugly sales export, fully tamed. Monday you found the machine learning already in Excel. Tuesday you made your data machine-readable. Wednesday you recorded the cleanup once and refreshed it forever. Thursday you ran real Python behind equals PY. Today you learned the language that steers all of it. The aim was to get more from tools in your existing setup. Check feature availability with your account and version. So, where next?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ways to keep going, and they stack. First, the replays. All five sessions from this week live in the Stringfest Analytics membership vault, along with my full back catalog of recordings. Ten dollars a month, cancel anytime. If you want to rewatch Wednesday with the workbook open in front of you, that is the place. Second, the deeper version. This December I am running AI for Excel in a Week: five live sessions, sixty minutes each, that take everything you saw here further, hands-on, with time to actually build alongside me. If this week was the espresso shot, December is the full pour. The registration link will be in tomorrow's thank-you email, sent to the address you registered with. Membership today, December for depth, or both.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CHAT CUE (about 18:30; budget 15 seconds total)</a:t>
            </a:r>
          </a:p>
          <a:p>
            <a:r>
              <a:t>SAY: One last chance to steer the demo: type PROMPT or TABLE if you want that part again. Full questions are welcome too.</a:t>
            </a:r>
          </a:p>
          <a:p>
            <a:r>
              <a:t>PAUSE: Wait silently for 8 seconds. Do not repeat the request.</a:t>
            </a:r>
          </a:p>
          <a:p>
            <a:r>
              <a:t>IF SOMEONE REPLIES: Answer one actual request. PROMPT: show Task and Format. TABLE: point to the pipe delimiter and remove the separator row. Thank participants once, without commenting on how many replied.</a:t>
            </a:r>
          </a:p>
          <a:p>
            <a:r>
              <a:t>IF CHAT IS QUIET: Say, "One useful final check: compare the returned table with the original before using its numbers." Then continue. Never imply that somebody replied.</a:t>
            </a:r>
          </a:p>
          <a:p>
            <a:r>
              <a:t>FACILITATION: Acknowledge at most two actual replies, without calling on anyone by name. Accept a letter, a word, or a longer question. If a reply arrives later, acknowledge it at the next natural pause.</a:t>
            </a:r>
          </a:p>
          <a:p>
            <a:endParaRPr/>
          </a:p>
          <a:p>
            <a:r>
              <a:t>Use this cue before reading the remaining notes.</a:t>
            </a:r>
          </a:p>
          <a:p>
            <a:endParaRPr/>
          </a:p>
          <a:p>
            <a:r>
              <a:t>ORIGINAL TEACHING SCRIPT</a:t>
            </a:r>
          </a:p>
          <a:p>
            <a:r>
              <a:t>That is the series. Thank you, sincerely, for giving me twenty minutes a day of your week. Everything lands in your inbox tomorrow: the files, the links, the membership, and December's cohort. My ask is simple: pick one of the five moves and use it on real work this afternoon, because the move you use within a day is the one you keep. If this week saved you time, tell one coworker who is still cleaning columns by hand. I'm George Mount from Stringfest Analytics. Go be crafty.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09EFA-843A-4CD9-9435-2F705192D125}"/>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88828987-BA29-4417-BFC0-24B257F66ED7}"/>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085131C1-ACBF-47F2-91DF-74E44E1D3E50}"/>
              </a:ext>
            </a:extLst>
          </p:cNvPr>
          <p:cNvSpPr>
            <a:spLocks noGrp="1"/>
          </p:cNvSpPr>
          <p:nvPr>
            <p:ph type="dt" idx="10"/>
          </p:nvPr>
        </p:nvSpPr>
        <p:spPr/>
        <p:txBody>
          <a:bodyPr/>
          <a:lstStyle/>
          <a:p>
            <a:fld id="{5BCAD085-E8A6-8845-BD4E-CB4CCA059FC4}" type="datetimeFigureOut">
              <a:t>9/30/2026</a:t>
            </a:fld>
            <a:endParaRPr/>
          </a:p>
        </p:txBody>
      </p:sp>
      <p:sp>
        <p:nvSpPr>
          <p:cNvPr id="5" name="Footer Placeholder 4">
            <a:extLst>
              <a:ext uri="{FF2B5EF4-FFF2-40B4-BE49-F238E27FC236}">
                <a16:creationId xmlns:a16="http://schemas.microsoft.com/office/drawing/2014/main" id="{54777E38-A468-4D6A-9B05-480B3F60C99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4FEC2CA-8413-4061-8076-DB1AAB4ED22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B9EE8-FCAC-404E-A5BC-67A80D86572F}"/>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E8F3A60-202B-4207-8443-651DA65D026E}"/>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C50490D-47E5-44CB-9E86-1503876D4934}"/>
              </a:ext>
            </a:extLst>
          </p:cNvPr>
          <p:cNvSpPr>
            <a:spLocks noGrp="1"/>
          </p:cNvSpPr>
          <p:nvPr>
            <p:ph type="dt" idx="10"/>
          </p:nvPr>
        </p:nvSpPr>
        <p:spPr/>
        <p:txBody>
          <a:bodyPr/>
          <a:lstStyle/>
          <a:p>
            <a:fld id="{5BCAD085-E8A6-8845-BD4E-CB4CCA059FC4}" type="datetimeFigureOut">
              <a:t>9/30/2026</a:t>
            </a:fld>
            <a:endParaRPr/>
          </a:p>
        </p:txBody>
      </p:sp>
      <p:sp>
        <p:nvSpPr>
          <p:cNvPr id="5" name="Footer Placeholder 4">
            <a:extLst>
              <a:ext uri="{FF2B5EF4-FFF2-40B4-BE49-F238E27FC236}">
                <a16:creationId xmlns:a16="http://schemas.microsoft.com/office/drawing/2014/main" id="{A3A178FD-B7E1-44C4-A8B1-BDE27CF33D1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677C3F77-A9B3-4296-8C2C-75141537A376}"/>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A5C43-9C39-49CA-984F-FE989378EB6F}"/>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4C72FCD-8127-4054-9E93-1A15953B7696}"/>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C6E68B84-055C-4A6A-8A7E-CED51E9763E5}"/>
              </a:ext>
            </a:extLst>
          </p:cNvPr>
          <p:cNvSpPr>
            <a:spLocks noGrp="1"/>
          </p:cNvSpPr>
          <p:nvPr>
            <p:ph type="dt" idx="10"/>
          </p:nvPr>
        </p:nvSpPr>
        <p:spPr/>
        <p:txBody>
          <a:bodyPr/>
          <a:lstStyle/>
          <a:p>
            <a:fld id="{5BCAD085-E8A6-8845-BD4E-CB4CCA059FC4}" type="datetimeFigureOut">
              <a:t>9/30/2026</a:t>
            </a:fld>
            <a:endParaRPr/>
          </a:p>
        </p:txBody>
      </p:sp>
      <p:sp>
        <p:nvSpPr>
          <p:cNvPr id="5" name="Footer Placeholder 4">
            <a:extLst>
              <a:ext uri="{FF2B5EF4-FFF2-40B4-BE49-F238E27FC236}">
                <a16:creationId xmlns:a16="http://schemas.microsoft.com/office/drawing/2014/main" id="{907E7D56-F46F-4BF9-94D2-CF61C0058AF7}"/>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4879584-BB77-40B3-A389-6815BCA3164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55062-3D25-4918-8ADD-484BDA79944B}"/>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7260FCC6-80F8-4770-B317-FAE6788EA719}"/>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2580093B-4BB8-4DF6-A028-27C8EAACABBF}"/>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4374880C-7897-4BB6-B3BF-7A3539AFCF73}"/>
              </a:ext>
            </a:extLst>
          </p:cNvPr>
          <p:cNvSpPr>
            <a:spLocks noGrp="1"/>
          </p:cNvSpPr>
          <p:nvPr>
            <p:ph type="dt" idx="10"/>
          </p:nvPr>
        </p:nvSpPr>
        <p:spPr/>
        <p:txBody>
          <a:bodyPr/>
          <a:lstStyle/>
          <a:p>
            <a:fld id="{5BCAD085-E8A6-8845-BD4E-CB4CCA059FC4}" type="datetimeFigureOut">
              <a:t>9/30/2026</a:t>
            </a:fld>
            <a:endParaRPr/>
          </a:p>
        </p:txBody>
      </p:sp>
      <p:sp>
        <p:nvSpPr>
          <p:cNvPr id="6" name="Footer Placeholder 5">
            <a:extLst>
              <a:ext uri="{FF2B5EF4-FFF2-40B4-BE49-F238E27FC236}">
                <a16:creationId xmlns:a16="http://schemas.microsoft.com/office/drawing/2014/main" id="{B15915DB-4627-4677-9647-65DBC56E0404}"/>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ABCA56A8-CCB6-47D3-966B-1D3971EDBA9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F68CFE-A197-4E77-808D-D0102251AD7C}"/>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1D4D4FD1-314D-4A84-A46D-9E847A9666C1}"/>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DBBDA8DE-F6F7-4546-B835-61B4778C38E4}"/>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7138F431-A1B3-4E4F-BA89-EF9E068300D6}"/>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014D6267-B39F-42E7-B57E-9FE14F79B983}"/>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92AFACC2-E8D1-4B0E-BC7F-219A582C59AF}"/>
              </a:ext>
            </a:extLst>
          </p:cNvPr>
          <p:cNvSpPr>
            <a:spLocks noGrp="1"/>
          </p:cNvSpPr>
          <p:nvPr>
            <p:ph type="dt" idx="10"/>
          </p:nvPr>
        </p:nvSpPr>
        <p:spPr/>
        <p:txBody>
          <a:bodyPr/>
          <a:lstStyle/>
          <a:p>
            <a:fld id="{5BCAD085-E8A6-8845-BD4E-CB4CCA059FC4}" type="datetimeFigureOut">
              <a:t>9/30/2026</a:t>
            </a:fld>
            <a:endParaRPr/>
          </a:p>
        </p:txBody>
      </p:sp>
      <p:sp>
        <p:nvSpPr>
          <p:cNvPr id="8" name="Footer Placeholder 7">
            <a:extLst>
              <a:ext uri="{FF2B5EF4-FFF2-40B4-BE49-F238E27FC236}">
                <a16:creationId xmlns:a16="http://schemas.microsoft.com/office/drawing/2014/main" id="{3C725241-9D97-41BE-A1F0-EAEE1F1B8EBC}"/>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8D051176-C6E6-41B6-974F-C2FCC0B5F03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747C8-F68A-4588-B73A-BB799DAAF863}"/>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65A4E323-F46A-4FDA-8FBF-6C462E066C99}"/>
              </a:ext>
            </a:extLst>
          </p:cNvPr>
          <p:cNvSpPr>
            <a:spLocks noGrp="1"/>
          </p:cNvSpPr>
          <p:nvPr>
            <p:ph type="dt" idx="10"/>
          </p:nvPr>
        </p:nvSpPr>
        <p:spPr/>
        <p:txBody>
          <a:bodyPr/>
          <a:lstStyle/>
          <a:p>
            <a:fld id="{5BCAD085-E8A6-8845-BD4E-CB4CCA059FC4}" type="datetimeFigureOut">
              <a:t>9/30/2026</a:t>
            </a:fld>
            <a:endParaRPr/>
          </a:p>
        </p:txBody>
      </p:sp>
      <p:sp>
        <p:nvSpPr>
          <p:cNvPr id="4" name="Footer Placeholder 3">
            <a:extLst>
              <a:ext uri="{FF2B5EF4-FFF2-40B4-BE49-F238E27FC236}">
                <a16:creationId xmlns:a16="http://schemas.microsoft.com/office/drawing/2014/main" id="{154ECCA1-1603-4A47-B418-B97EC1DF9B06}"/>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0C9A3D68-6B04-4154-B6C5-84557650DEB6}"/>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D5FAF1-219E-4200-8AA6-6A721E616A0C}"/>
              </a:ext>
            </a:extLst>
          </p:cNvPr>
          <p:cNvSpPr>
            <a:spLocks noGrp="1"/>
          </p:cNvSpPr>
          <p:nvPr>
            <p:ph type="dt" idx="10"/>
          </p:nvPr>
        </p:nvSpPr>
        <p:spPr/>
        <p:txBody>
          <a:bodyPr/>
          <a:lstStyle/>
          <a:p>
            <a:fld id="{5BCAD085-E8A6-8845-BD4E-CB4CCA059FC4}" type="datetimeFigureOut">
              <a:t>9/30/2026</a:t>
            </a:fld>
            <a:endParaRPr/>
          </a:p>
        </p:txBody>
      </p:sp>
      <p:sp>
        <p:nvSpPr>
          <p:cNvPr id="3" name="Footer Placeholder 2">
            <a:extLst>
              <a:ext uri="{FF2B5EF4-FFF2-40B4-BE49-F238E27FC236}">
                <a16:creationId xmlns:a16="http://schemas.microsoft.com/office/drawing/2014/main" id="{EFD9D653-F201-411E-A86C-9ADAF9813C61}"/>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ABCA08B-CE68-4D41-8A49-D8015BF2CD5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78E1A9-0D6E-4EFB-8CBC-B696B1F25E32}"/>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AC95C166-DB05-4437-B992-C241B2A2D5E7}"/>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8AC33C5C-32ED-4819-81AA-ABDBFF5C9A80}"/>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15DAC9BF-A972-4470-AEC7-688729C8E023}"/>
              </a:ext>
            </a:extLst>
          </p:cNvPr>
          <p:cNvSpPr>
            <a:spLocks noGrp="1"/>
          </p:cNvSpPr>
          <p:nvPr>
            <p:ph type="dt" idx="10"/>
          </p:nvPr>
        </p:nvSpPr>
        <p:spPr/>
        <p:txBody>
          <a:bodyPr/>
          <a:lstStyle/>
          <a:p>
            <a:fld id="{5BCAD085-E8A6-8845-BD4E-CB4CCA059FC4}" type="datetimeFigureOut">
              <a:t>9/30/2026</a:t>
            </a:fld>
            <a:endParaRPr/>
          </a:p>
        </p:txBody>
      </p:sp>
      <p:sp>
        <p:nvSpPr>
          <p:cNvPr id="6" name="Footer Placeholder 5">
            <a:extLst>
              <a:ext uri="{FF2B5EF4-FFF2-40B4-BE49-F238E27FC236}">
                <a16:creationId xmlns:a16="http://schemas.microsoft.com/office/drawing/2014/main" id="{90A03355-509D-448C-A54F-E3C413153597}"/>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1C06BAE8-6717-46D4-93BD-8113B74055F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A3940-9793-4E17-982F-75DE809B5FC3}"/>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1B043B23-6C48-479F-814A-650CD03C97FF}"/>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3864957E-4073-4AB9-A6EE-B79DF88D9159}"/>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0601747E-5349-4D45-8205-BA3AC7ADEE76}"/>
              </a:ext>
            </a:extLst>
          </p:cNvPr>
          <p:cNvSpPr>
            <a:spLocks noGrp="1"/>
          </p:cNvSpPr>
          <p:nvPr>
            <p:ph type="dt" idx="10"/>
          </p:nvPr>
        </p:nvSpPr>
        <p:spPr/>
        <p:txBody>
          <a:bodyPr/>
          <a:lstStyle/>
          <a:p>
            <a:fld id="{5BCAD085-E8A6-8845-BD4E-CB4CCA059FC4}" type="datetimeFigureOut">
              <a:t>9/30/2026</a:t>
            </a:fld>
            <a:endParaRPr/>
          </a:p>
        </p:txBody>
      </p:sp>
      <p:sp>
        <p:nvSpPr>
          <p:cNvPr id="6" name="Footer Placeholder 5">
            <a:extLst>
              <a:ext uri="{FF2B5EF4-FFF2-40B4-BE49-F238E27FC236}">
                <a16:creationId xmlns:a16="http://schemas.microsoft.com/office/drawing/2014/main" id="{03F2E286-296F-4558-BD8D-EFFAEEDD541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0F1515B-3B0D-44D2-97DF-6BAAAA7A525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ED687-94E8-42D9-8BDA-40895D0FD898}"/>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B49468B5-B8F1-440E-91D7-61346AB665CC}"/>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EFE73DD9-E44B-401F-BB6F-D6076AF6330F}"/>
              </a:ext>
            </a:extLst>
          </p:cNvPr>
          <p:cNvSpPr>
            <a:spLocks noGrp="1"/>
          </p:cNvSpPr>
          <p:nvPr>
            <p:ph type="dt" idx="10"/>
          </p:nvPr>
        </p:nvSpPr>
        <p:spPr/>
        <p:txBody>
          <a:bodyPr/>
          <a:lstStyle/>
          <a:p>
            <a:fld id="{5BCAD085-E8A6-8845-BD4E-CB4CCA059FC4}" type="datetimeFigureOut">
              <a:t>9/30/2026</a:t>
            </a:fld>
            <a:endParaRPr/>
          </a:p>
        </p:txBody>
      </p:sp>
      <p:sp>
        <p:nvSpPr>
          <p:cNvPr id="5" name="Footer Placeholder 4">
            <a:extLst>
              <a:ext uri="{FF2B5EF4-FFF2-40B4-BE49-F238E27FC236}">
                <a16:creationId xmlns:a16="http://schemas.microsoft.com/office/drawing/2014/main" id="{E69C189C-E350-482D-B946-EB32F13B31E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8F7F96B-7DF5-4F01-8034-DF6FBFD4240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4263F3-EF13-4100-966A-1E0FDB882A09}"/>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23D95FFE-52AE-468D-950C-EDE98ECAB3BA}"/>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5FE95C0-1A3A-40DA-A90B-92C4C29AA129}"/>
              </a:ext>
            </a:extLst>
          </p:cNvPr>
          <p:cNvSpPr>
            <a:spLocks noGrp="1"/>
          </p:cNvSpPr>
          <p:nvPr>
            <p:ph type="dt" idx="10"/>
          </p:nvPr>
        </p:nvSpPr>
        <p:spPr/>
        <p:txBody>
          <a:bodyPr/>
          <a:lstStyle/>
          <a:p>
            <a:fld id="{5BCAD085-E8A6-8845-BD4E-CB4CCA059FC4}" type="datetimeFigureOut">
              <a:t>9/30/2026</a:t>
            </a:fld>
            <a:endParaRPr/>
          </a:p>
        </p:txBody>
      </p:sp>
      <p:sp>
        <p:nvSpPr>
          <p:cNvPr id="5" name="Footer Placeholder 4">
            <a:extLst>
              <a:ext uri="{FF2B5EF4-FFF2-40B4-BE49-F238E27FC236}">
                <a16:creationId xmlns:a16="http://schemas.microsoft.com/office/drawing/2014/main" id="{52B331E1-543D-437F-916F-D26F2F098FD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17424D32-4CF7-4A33-B9BC-1F97F238579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3EF7AA-6FC6-4CA3-984A-DB1DA491160B}"/>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A515DF36-7A0F-4C0B-B807-FF9A3B9F9AEE}"/>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BF5A033-DFB6-4C9A-8ACC-440104DA8A82}"/>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9/30/2026</a:t>
            </a:fld>
            <a:endParaRPr/>
          </a:p>
        </p:txBody>
      </p:sp>
      <p:sp>
        <p:nvSpPr>
          <p:cNvPr id="5" name="Footer Placeholder 4">
            <a:extLst>
              <a:ext uri="{FF2B5EF4-FFF2-40B4-BE49-F238E27FC236}">
                <a16:creationId xmlns:a16="http://schemas.microsoft.com/office/drawing/2014/main" id="{7B7D062B-8856-4526-A0BF-80F4019CEC08}"/>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E45E59F1-5C22-495A-A0FD-FF84CBDC3AA4}"/>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D1AF41-89EC-4BAF-9B88-EB527E2629A2}"/>
              </a:ext>
            </a:extLst>
          </p:cNvPr>
          <p:cNvSpPr>
            <a:spLocks noGrp="1"/>
          </p:cNvSpPr>
          <p:nvPr/>
        </p:nvSpPr>
        <p:spPr>
          <a:xfrm>
            <a:off x="640080" y="2103120"/>
            <a:ext cx="10607040" cy="2076450"/>
          </a:xfrm>
          <a:prstGeom prst="rect">
            <a:avLst/>
          </a:prstGeom>
          <a:noFill/>
        </p:spPr>
        <p:txBody>
          <a:bodyPr wrap="square" lIns="0" tIns="0" rIns="0" bIns="0">
            <a:spAutoFit/>
          </a:bodyPr>
          <a:lstStyle/>
          <a:p>
            <a:r>
              <a:rPr sz="1500" b="1" i="0">
                <a:solidFill>
                  <a:srgbClr val="CF3338"/>
                </a:solidFill>
                <a:latin typeface="Arial Black"/>
                <a:ea typeface="Arial Black"/>
                <a:cs typeface="Arial Black"/>
              </a:rPr>
              <a:t>GUERRILLA AI FOR EXCEL. A LIVE SERIES, DAY 5 OF 5</a:t>
            </a:r>
          </a:p>
          <a:p>
            <a:pPr>
              <a:spcBef>
                <a:spcPts val="1000"/>
              </a:spcBef>
              <a:buNone/>
            </a:pPr>
            <a:r>
              <a:rPr sz="4200" b="1" i="0">
                <a:solidFill>
                  <a:srgbClr val="1F2120"/>
                </a:solidFill>
                <a:latin typeface="Arial Black"/>
                <a:ea typeface="Arial Black"/>
                <a:cs typeface="Arial Black"/>
              </a:rPr>
              <a:t>Markdown: the language AI speaks</a:t>
            </a:r>
          </a:p>
          <a:p>
            <a:pPr>
              <a:spcBef>
                <a:spcPts val="1400"/>
              </a:spcBef>
              <a:buNone/>
            </a:pPr>
            <a:r>
              <a:rPr sz="2000" b="0" i="0">
                <a:solidFill>
                  <a:srgbClr val="707070"/>
                </a:solidFill>
                <a:latin typeface="Arial"/>
                <a:ea typeface="Arial"/>
                <a:cs typeface="Arial"/>
              </a:rPr>
              <a:t>Structured prompts, round-trip tables, and the close of the week.</a:t>
            </a:r>
          </a:p>
        </p:txBody>
      </p:sp>
      <p:sp>
        <p:nvSpPr>
          <p:cNvPr id="3" name="TextBox 2">
            <a:extLst>
              <a:ext uri="{FF2B5EF4-FFF2-40B4-BE49-F238E27FC236}">
                <a16:creationId xmlns:a16="http://schemas.microsoft.com/office/drawing/2014/main" id="{FB8C1566-70C3-48B7-AD08-EC0093C659F2}"/>
              </a:ext>
            </a:extLst>
          </p:cNvPr>
          <p:cNvSpPr>
            <a:spLocks noGrp="1"/>
          </p:cNvSpPr>
          <p:nvPr/>
        </p:nvSpPr>
        <p:spPr>
          <a:xfrm>
            <a:off x="640080" y="6080760"/>
            <a:ext cx="10972800" cy="457200"/>
          </a:xfrm>
          <a:prstGeom prst="rect">
            <a:avLst/>
          </a:prstGeom>
          <a:noFill/>
        </p:spPr>
        <p:txBody>
          <a:bodyPr wrap="square" lIns="0" tIns="0" rIns="0" bIns="0">
            <a:spAutoFit/>
          </a:bodyPr>
          <a:lstStyle/>
          <a:p>
            <a:r>
              <a:rPr sz="1300" b="0" i="1">
                <a:solidFill>
                  <a:srgbClr val="707070"/>
                </a:solidFill>
                <a:latin typeface="Arial"/>
                <a:ea typeface="Arial"/>
                <a:cs typeface="Arial"/>
              </a:rPr>
              <a:t>Live Mon Sep 28 to Fri Oct 2, 12:00 to 12:20 PM ET. Sessions are recorded.</a:t>
            </a:r>
          </a:p>
        </p:txBody>
      </p:sp>
      <p:sp>
        <p:nvSpPr>
          <p:cNvPr id="4" name="TextBox 3">
            <a:extLst>
              <a:ext uri="{FF2B5EF4-FFF2-40B4-BE49-F238E27FC236}">
                <a16:creationId xmlns:a16="http://schemas.microsoft.com/office/drawing/2014/main" id="{149F9233-9D34-4C44-B98F-1FBCDFDC589E}"/>
              </a:ext>
            </a:extLst>
          </p:cNvPr>
          <p:cNvSpPr>
            <a:spLocks noGrp="1"/>
          </p:cNvSpPr>
          <p:nvPr/>
        </p:nvSpPr>
        <p:spPr>
          <a:xfrm>
            <a:off x="457200" y="384048"/>
            <a:ext cx="4114800" cy="365760"/>
          </a:xfrm>
          <a:prstGeom prst="rect">
            <a:avLst/>
          </a:prstGeom>
          <a:noFill/>
        </p:spPr>
        <p:txBody>
          <a:bodyPr wrap="square" lIns="0" tIns="0" rIns="0" bIns="0">
            <a:spAutoFit/>
          </a:bodyPr>
          <a:lstStyle/>
          <a:p>
            <a:r>
              <a:rPr sz="1300" b="1" i="0">
                <a:solidFill>
                  <a:srgbClr val="CF3338"/>
                </a:solidFill>
                <a:latin typeface="Arial Black"/>
                <a:ea typeface="Arial Black"/>
                <a:cs typeface="Arial Black"/>
              </a:rPr>
              <a:t>STRINGFEST ANALYTICS</a:t>
            </a:r>
          </a:p>
        </p:txBody>
      </p:sp>
    </p:spTree>
    <p:extLst>
      <p:ext uri="{BB962C8B-B14F-4D97-AF65-F5344CB8AC3E}">
        <p14:creationId xmlns:p14="http://schemas.microsoft.com/office/powerpoint/2010/main" val="2525442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25C5574-5457-4AC3-85E3-9A469F4010CB}"/>
              </a:ext>
            </a:extLst>
          </p:cNvPr>
          <p:cNvSpPr>
            <a:spLocks noGrp="1"/>
          </p:cNvSpPr>
          <p:nvPr/>
        </p:nvSpPr>
        <p:spPr>
          <a:xfrm>
            <a:off x="640080" y="457200"/>
            <a:ext cx="10881360" cy="1188720"/>
          </a:xfrm>
          <a:prstGeom prst="rect">
            <a:avLst/>
          </a:prstGeom>
          <a:noFill/>
        </p:spPr>
        <p:txBody>
          <a:bodyPr wrap="square" lIns="0" tIns="0" rIns="0" bIns="0">
            <a:spAutoFit/>
          </a:bodyPr>
          <a:lstStyle/>
          <a:p>
            <a:r>
              <a:rPr sz="3000" b="1" i="0">
                <a:solidFill>
                  <a:srgbClr val="1F2120"/>
                </a:solidFill>
                <a:latin typeface="Arial Black"/>
                <a:ea typeface="Arial Black"/>
                <a:cs typeface="Arial Black"/>
              </a:rPr>
              <a:t>Yesterday in 30 seconds</a:t>
            </a:r>
          </a:p>
          <a:p>
            <a:pPr>
              <a:spcBef>
                <a:spcPts val="400"/>
              </a:spcBef>
              <a:buNone/>
            </a:pPr>
            <a:r>
              <a:rPr sz="1500" b="0" i="1">
                <a:solidFill>
                  <a:srgbClr val="CF3338"/>
                </a:solidFill>
                <a:latin typeface="Arial"/>
                <a:ea typeface="Arial"/>
                <a:cs typeface="Arial"/>
              </a:rPr>
              <a:t>One dataset, five practical wins</a:t>
            </a:r>
          </a:p>
        </p:txBody>
      </p:sp>
      <p:sp>
        <p:nvSpPr>
          <p:cNvPr id="3" name="TextBox 2">
            <a:extLst>
              <a:ext uri="{FF2B5EF4-FFF2-40B4-BE49-F238E27FC236}">
                <a16:creationId xmlns:a16="http://schemas.microsoft.com/office/drawing/2014/main" id="{B775A5BD-A004-4E43-8973-CB0494677270}"/>
              </a:ext>
            </a:extLst>
          </p:cNvPr>
          <p:cNvSpPr>
            <a:spLocks noGrp="1"/>
          </p:cNvSpPr>
          <p:nvPr/>
        </p:nvSpPr>
        <p:spPr>
          <a:xfrm>
            <a:off x="640080" y="1783080"/>
            <a:ext cx="10881360" cy="4846320"/>
          </a:xfrm>
          <a:prstGeom prst="rect">
            <a:avLst/>
          </a:prstGeom>
          <a:noFill/>
        </p:spPr>
        <p:txBody>
          <a:bodyPr wrap="square" lIns="0" tIns="0" rIns="0" bIns="0">
            <a:spAutoFit/>
          </a:bodyPr>
          <a:lstStyle/>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Day 4 was A data science lab behind =PY().</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If Python is available in your Excel, start by describing the result you need.</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Same dataset today. Every day builds on the last.</a:t>
            </a:r>
          </a:p>
        </p:txBody>
      </p:sp>
    </p:spTree>
    <p:extLst>
      <p:ext uri="{BB962C8B-B14F-4D97-AF65-F5344CB8AC3E}">
        <p14:creationId xmlns:p14="http://schemas.microsoft.com/office/powerpoint/2010/main" val="1084597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071D42-8958-435F-8EC6-B3C1AFB93959}"/>
              </a:ext>
            </a:extLst>
          </p:cNvPr>
          <p:cNvSpPr>
            <a:spLocks noGrp="1"/>
          </p:cNvSpPr>
          <p:nvPr/>
        </p:nvSpPr>
        <p:spPr>
          <a:xfrm>
            <a:off x="640080" y="457200"/>
            <a:ext cx="10881360" cy="1188720"/>
          </a:xfrm>
          <a:prstGeom prst="rect">
            <a:avLst/>
          </a:prstGeom>
          <a:noFill/>
        </p:spPr>
        <p:txBody>
          <a:bodyPr wrap="square" lIns="0" tIns="0" rIns="0" bIns="0">
            <a:spAutoFit/>
          </a:bodyPr>
          <a:lstStyle/>
          <a:p>
            <a:r>
              <a:rPr sz="3000" b="1" i="0">
                <a:solidFill>
                  <a:srgbClr val="1F2120"/>
                </a:solidFill>
                <a:latin typeface="Arial Black"/>
                <a:ea typeface="Arial Black"/>
                <a:cs typeface="Arial Black"/>
              </a:rPr>
              <a:t>Why this counts as AI</a:t>
            </a:r>
          </a:p>
          <a:p>
            <a:pPr>
              <a:spcBef>
                <a:spcPts val="400"/>
              </a:spcBef>
              <a:buNone/>
            </a:pPr>
            <a:r>
              <a:rPr sz="1500" b="0" i="1">
                <a:solidFill>
                  <a:srgbClr val="CF3338"/>
                </a:solidFill>
                <a:latin typeface="Arial"/>
                <a:ea typeface="Arial"/>
                <a:cs typeface="Arial"/>
              </a:rPr>
              <a:t>The guerrilla hook, day 5</a:t>
            </a:r>
          </a:p>
        </p:txBody>
      </p:sp>
      <p:sp>
        <p:nvSpPr>
          <p:cNvPr id="3" name="TextBox 2">
            <a:extLst>
              <a:ext uri="{FF2B5EF4-FFF2-40B4-BE49-F238E27FC236}">
                <a16:creationId xmlns:a16="http://schemas.microsoft.com/office/drawing/2014/main" id="{5EDA4F27-F550-474D-8C55-BB8B91C2FEA3}"/>
              </a:ext>
            </a:extLst>
          </p:cNvPr>
          <p:cNvSpPr>
            <a:spLocks noGrp="1"/>
          </p:cNvSpPr>
          <p:nvPr/>
        </p:nvSpPr>
        <p:spPr>
          <a:xfrm>
            <a:off x="640080" y="1783080"/>
            <a:ext cx="10881360" cy="4846320"/>
          </a:xfrm>
          <a:prstGeom prst="rect">
            <a:avLst/>
          </a:prstGeom>
          <a:noFill/>
        </p:spPr>
        <p:txBody>
          <a:bodyPr wrap="square" lIns="0" tIns="0" rIns="0" bIns="0">
            <a:spAutoFit/>
          </a:bodyPr>
          <a:lstStyle/>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Many AI tools accept Markdown headings, lists, and tables.</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Twenty minutes of syntax makes every AI tool easier to steer and its output easier to reuse.</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Small tables can move as Markdown. Check the rows and columns after pasting.</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No connectors, no licenses, no IT ticket. Just structure.</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Speaking the machine's language is the cheapest AI upgrade there is.</a:t>
            </a:r>
          </a:p>
        </p:txBody>
      </p:sp>
    </p:spTree>
    <p:extLst>
      <p:ext uri="{BB962C8B-B14F-4D97-AF65-F5344CB8AC3E}">
        <p14:creationId xmlns:p14="http://schemas.microsoft.com/office/powerpoint/2010/main" val="478192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5F8DD33-EF88-4D55-97B8-F5FF33FF49E9}"/>
              </a:ext>
            </a:extLst>
          </p:cNvPr>
          <p:cNvSpPr>
            <a:spLocks noGrp="1"/>
          </p:cNvSpPr>
          <p:nvPr/>
        </p:nvSpPr>
        <p:spPr>
          <a:xfrm>
            <a:off x="9082735" y="0"/>
            <a:ext cx="3108960" cy="6858000"/>
          </a:xfrm>
          <a:prstGeom prst="rect">
            <a:avLst/>
          </a:prstGeom>
          <a:solidFill>
            <a:srgbClr val="CF3338"/>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898B9BD5-44DF-4538-B931-330E4742D33C}"/>
              </a:ext>
            </a:extLst>
          </p:cNvPr>
          <p:cNvSpPr>
            <a:spLocks noGrp="1"/>
          </p:cNvSpPr>
          <p:nvPr/>
        </p:nvSpPr>
        <p:spPr>
          <a:xfrm>
            <a:off x="9311335" y="640080"/>
            <a:ext cx="2468880" cy="1828800"/>
          </a:xfrm>
          <a:prstGeom prst="rect">
            <a:avLst/>
          </a:prstGeom>
          <a:noFill/>
        </p:spPr>
        <p:txBody>
          <a:bodyPr wrap="square" lIns="0" tIns="0" rIns="0" bIns="0">
            <a:spAutoFit/>
          </a:bodyPr>
          <a:lstStyle/>
          <a:p>
            <a:r>
              <a:rPr sz="2600" b="1" i="0">
                <a:solidFill>
                  <a:srgbClr val="FFFFFF"/>
                </a:solidFill>
                <a:latin typeface="Arial Black"/>
                <a:ea typeface="Arial Black"/>
                <a:cs typeface="Arial Black"/>
              </a:rPr>
              <a:t>LIVE</a:t>
            </a:r>
          </a:p>
          <a:p>
            <a:r>
              <a:rPr sz="2600" b="1" i="0">
                <a:solidFill>
                  <a:srgbClr val="FFFFFF"/>
                </a:solidFill>
                <a:latin typeface="Arial Black"/>
                <a:ea typeface="Arial Black"/>
                <a:cs typeface="Arial Black"/>
              </a:rPr>
              <a:t>DEMO</a:t>
            </a:r>
          </a:p>
        </p:txBody>
      </p:sp>
      <p:sp>
        <p:nvSpPr>
          <p:cNvPr id="4" name="TextBox 3">
            <a:extLst>
              <a:ext uri="{FF2B5EF4-FFF2-40B4-BE49-F238E27FC236}">
                <a16:creationId xmlns:a16="http://schemas.microsoft.com/office/drawing/2014/main" id="{6D672F27-83C4-4394-BFA6-00E777B23174}"/>
              </a:ext>
            </a:extLst>
          </p:cNvPr>
          <p:cNvSpPr>
            <a:spLocks noGrp="1"/>
          </p:cNvSpPr>
          <p:nvPr/>
        </p:nvSpPr>
        <p:spPr>
          <a:xfrm>
            <a:off x="548640" y="411480"/>
            <a:ext cx="8229600" cy="1097280"/>
          </a:xfrm>
          <a:prstGeom prst="rect">
            <a:avLst/>
          </a:prstGeom>
          <a:noFill/>
        </p:spPr>
        <p:txBody>
          <a:bodyPr wrap="square" lIns="0" tIns="0" rIns="0" bIns="0">
            <a:spAutoFit/>
          </a:bodyPr>
          <a:lstStyle/>
          <a:p>
            <a:r>
              <a:rPr sz="2500" b="1" i="0">
                <a:solidFill>
                  <a:srgbClr val="CF3338"/>
                </a:solidFill>
                <a:latin typeface="Arial Black"/>
                <a:ea typeface="Arial Black"/>
                <a:cs typeface="Arial Black"/>
              </a:rPr>
              <a:t>Live demo: structure beats the blob</a:t>
            </a:r>
          </a:p>
          <a:p>
            <a:pPr>
              <a:spcBef>
                <a:spcPts val="300"/>
              </a:spcBef>
              <a:buNone/>
            </a:pPr>
            <a:r>
              <a:rPr sz="1450" b="0" i="1">
                <a:solidFill>
                  <a:srgbClr val="707070"/>
                </a:solidFill>
                <a:latin typeface="Arial"/>
                <a:ea typeface="Arial"/>
                <a:cs typeface="Arial"/>
              </a:rPr>
              <a:t>Two ways to write the request. Compare what each answer gets right.</a:t>
            </a:r>
          </a:p>
        </p:txBody>
      </p:sp>
      <p:sp>
        <p:nvSpPr>
          <p:cNvPr id="5" name="Rounded Rectangle 4">
            <a:extLst>
              <a:ext uri="{FF2B5EF4-FFF2-40B4-BE49-F238E27FC236}">
                <a16:creationId xmlns:a16="http://schemas.microsoft.com/office/drawing/2014/main" id="{364B04F7-C5AD-477E-B89B-DD92372445A4}"/>
              </a:ext>
            </a:extLst>
          </p:cNvPr>
          <p:cNvSpPr>
            <a:spLocks noGrp="1"/>
          </p:cNvSpPr>
          <p:nvPr/>
        </p:nvSpPr>
        <p:spPr>
          <a:xfrm>
            <a:off x="548640" y="1600200"/>
            <a:ext cx="8229600" cy="4023360"/>
          </a:xfrm>
          <a:prstGeom prst="round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wrap="square" lIns="256032" tIns="182880" rIns="182880" bIns="109728" anchor="t"/>
          <a:lstStyle/>
          <a:p>
            <a:pPr algn="l">
              <a:spcAft>
                <a:spcPts val="100"/>
              </a:spcAft>
              <a:buNone/>
            </a:pPr>
            <a:r>
              <a:rPr sz="1300" b="0" i="0">
                <a:solidFill>
                  <a:srgbClr val="9EC57A"/>
                </a:solidFill>
                <a:latin typeface="Consolas"/>
                <a:ea typeface="Consolas"/>
                <a:cs typeface="Consolas"/>
              </a:rPr>
              <a:t># The blob prompt (what most people send)</a:t>
            </a:r>
          </a:p>
          <a:p>
            <a:pPr algn="l">
              <a:spcAft>
                <a:spcPts val="100"/>
              </a:spcAft>
              <a:buNone/>
            </a:pPr>
            <a:r>
              <a:rPr sz="1300" b="0" i="0">
                <a:solidFill>
                  <a:srgbClr val="F5F5F5"/>
                </a:solidFill>
                <a:latin typeface="Consolas"/>
                <a:ea typeface="Consolas"/>
                <a:cs typeface="Consolas"/>
              </a:rPr>
              <a:t>summarize this sales data and tell me whats important</a:t>
            </a:r>
          </a:p>
          <a:p>
            <a:pPr algn="l">
              <a:spcAft>
                <a:spcPts val="100"/>
              </a:spcAft>
              <a:buNone/>
            </a:pPr>
            <a:r>
              <a:rPr sz="1300" b="0" i="0">
                <a:solidFill>
                  <a:srgbClr val="F5F5F5"/>
                </a:solidFill>
                <a:latin typeface="Consolas"/>
                <a:ea typeface="Consolas"/>
                <a:cs typeface="Consolas"/>
              </a:rPr>
              <a:t>[messy paste of the whole export]</a:t>
            </a:r>
          </a:p>
          <a:p>
            <a:pPr algn="l">
              <a:spcAft>
                <a:spcPts val="100"/>
              </a:spcAft>
              <a:buNone/>
            </a:pPr>
            <a:r>
              <a:rPr sz="1300" b="0" i="0">
                <a:solidFill>
                  <a:srgbClr val="F5F5F5"/>
                </a:solidFill>
                <a:latin typeface="Consolas"/>
                <a:ea typeface="Consolas"/>
                <a:cs typeface="Consolas"/>
              </a:rPr>
              <a:t> </a:t>
            </a:r>
          </a:p>
          <a:p>
            <a:pPr algn="l">
              <a:spcAft>
                <a:spcPts val="100"/>
              </a:spcAft>
              <a:buNone/>
            </a:pPr>
            <a:r>
              <a:rPr sz="1300" b="0" i="0">
                <a:solidFill>
                  <a:srgbClr val="9EC57A"/>
                </a:solidFill>
                <a:latin typeface="Consolas"/>
                <a:ea typeface="Consolas"/>
                <a:cs typeface="Consolas"/>
              </a:rPr>
              <a:t># Quarterly regional sales review</a:t>
            </a:r>
          </a:p>
          <a:p>
            <a:pPr algn="l">
              <a:spcAft>
                <a:spcPts val="100"/>
              </a:spcAft>
              <a:buNone/>
            </a:pPr>
            <a:r>
              <a:rPr sz="1300" b="0" i="0">
                <a:solidFill>
                  <a:srgbClr val="9EC57A"/>
                </a:solidFill>
                <a:latin typeface="Consolas"/>
                <a:ea typeface="Consolas"/>
                <a:cs typeface="Consolas"/>
              </a:rPr>
              <a:t>## Role</a:t>
            </a:r>
          </a:p>
          <a:p>
            <a:pPr algn="l">
              <a:spcAft>
                <a:spcPts val="100"/>
              </a:spcAft>
              <a:buNone/>
            </a:pPr>
            <a:r>
              <a:rPr sz="1300" b="0" i="0">
                <a:solidFill>
                  <a:srgbClr val="F5F5F5"/>
                </a:solidFill>
                <a:latin typeface="Consolas"/>
                <a:ea typeface="Consolas"/>
                <a:cs typeface="Consolas"/>
              </a:rPr>
              <a:t>You are an FP&amp;A analyst reviewing regional sales.</a:t>
            </a:r>
          </a:p>
          <a:p>
            <a:pPr algn="l">
              <a:spcAft>
                <a:spcPts val="100"/>
              </a:spcAft>
              <a:buNone/>
            </a:pPr>
            <a:r>
              <a:rPr sz="1300" b="0" i="0">
                <a:solidFill>
                  <a:srgbClr val="9EC57A"/>
                </a:solidFill>
                <a:latin typeface="Consolas"/>
                <a:ea typeface="Consolas"/>
                <a:cs typeface="Consolas"/>
              </a:rPr>
              <a:t>## Task</a:t>
            </a:r>
          </a:p>
          <a:p>
            <a:pPr algn="l">
              <a:spcAft>
                <a:spcPts val="100"/>
              </a:spcAft>
              <a:buNone/>
            </a:pPr>
            <a:r>
              <a:rPr sz="1300" b="0" i="0">
                <a:solidFill>
                  <a:srgbClr val="F5F5F5"/>
                </a:solidFill>
                <a:latin typeface="Consolas"/>
                <a:ea typeface="Consolas"/>
                <a:cs typeface="Consolas"/>
              </a:rPr>
              <a:t>- Summarize performance by region</a:t>
            </a:r>
          </a:p>
          <a:p>
            <a:pPr algn="l">
              <a:spcAft>
                <a:spcPts val="100"/>
              </a:spcAft>
              <a:buNone/>
            </a:pPr>
            <a:r>
              <a:rPr sz="1300" b="0" i="0">
                <a:solidFill>
                  <a:srgbClr val="F5F5F5"/>
                </a:solidFill>
                <a:latin typeface="Consolas"/>
                <a:ea typeface="Consolas"/>
                <a:cs typeface="Consolas"/>
              </a:rPr>
              <a:t>- Flag any region trailing the others</a:t>
            </a:r>
          </a:p>
          <a:p>
            <a:pPr algn="l">
              <a:spcAft>
                <a:spcPts val="100"/>
              </a:spcAft>
              <a:buNone/>
            </a:pPr>
            <a:r>
              <a:rPr sz="1300" b="0" i="0">
                <a:solidFill>
                  <a:srgbClr val="F5F5F5"/>
                </a:solidFill>
                <a:latin typeface="Consolas"/>
                <a:ea typeface="Consolas"/>
                <a:cs typeface="Consolas"/>
              </a:rPr>
              <a:t>- Suggest two follow-up questions</a:t>
            </a:r>
          </a:p>
          <a:p>
            <a:pPr algn="l">
              <a:spcAft>
                <a:spcPts val="100"/>
              </a:spcAft>
              <a:buNone/>
            </a:pPr>
            <a:r>
              <a:rPr sz="1300" b="0" i="0">
                <a:solidFill>
                  <a:srgbClr val="9EC57A"/>
                </a:solidFill>
                <a:latin typeface="Consolas"/>
                <a:ea typeface="Consolas"/>
                <a:cs typeface="Consolas"/>
              </a:rPr>
              <a:t>## Data</a:t>
            </a:r>
          </a:p>
          <a:p>
            <a:pPr algn="l">
              <a:spcAft>
                <a:spcPts val="100"/>
              </a:spcAft>
              <a:buNone/>
            </a:pPr>
            <a:r>
              <a:rPr sz="1300" b="0" i="0">
                <a:solidFill>
                  <a:srgbClr val="F5F5F5"/>
                </a:solidFill>
                <a:latin typeface="Consolas"/>
                <a:ea typeface="Consolas"/>
                <a:cs typeface="Consolas"/>
              </a:rPr>
              <a:t>... (full prompt in today's demo file)</a:t>
            </a:r>
          </a:p>
        </p:txBody>
      </p:sp>
      <p:sp>
        <p:nvSpPr>
          <p:cNvPr id="6" name="TextBox 5">
            <a:extLst>
              <a:ext uri="{FF2B5EF4-FFF2-40B4-BE49-F238E27FC236}">
                <a16:creationId xmlns:a16="http://schemas.microsoft.com/office/drawing/2014/main" id="{68EB9ED0-F121-4E81-A32A-9A7D6EBF677E}"/>
              </a:ext>
            </a:extLst>
          </p:cNvPr>
          <p:cNvSpPr>
            <a:spLocks noGrp="1"/>
          </p:cNvSpPr>
          <p:nvPr/>
        </p:nvSpPr>
        <p:spPr>
          <a:xfrm>
            <a:off x="548640" y="5806440"/>
            <a:ext cx="8229600" cy="777240"/>
          </a:xfrm>
          <a:prstGeom prst="rect">
            <a:avLst/>
          </a:prstGeom>
          <a:noFill/>
        </p:spPr>
        <p:txBody>
          <a:bodyPr wrap="square" lIns="0" tIns="0" rIns="0" bIns="0">
            <a:spAutoFit/>
          </a:bodyPr>
          <a:lstStyle/>
          <a:p>
            <a:r>
              <a:rPr sz="1300" b="1" i="0">
                <a:solidFill>
                  <a:srgbClr val="CF3338"/>
                </a:solidFill>
                <a:latin typeface="Arial"/>
                <a:ea typeface="Arial"/>
                <a:cs typeface="Arial"/>
              </a:rPr>
              <a:t>• Headings and bullets are steering, and steering is free</a:t>
            </a:r>
          </a:p>
        </p:txBody>
      </p:sp>
      <p:sp>
        <p:nvSpPr>
          <p:cNvPr id="7" name="Chat question">
            <a:extLst>
              <a:ext uri="{FF2B5EF4-FFF2-40B4-BE49-F238E27FC236}">
                <a16:creationId xmlns:a16="http://schemas.microsoft.com/office/drawing/2014/main" id="{A1AD58D4-A98D-4309-B52E-CC7BC3C53564}"/>
              </a:ext>
            </a:extLst>
          </p:cNvPr>
          <p:cNvSpPr>
            <a:spLocks noGrp="1"/>
          </p:cNvSpPr>
          <p:nvPr/>
        </p:nvSpPr>
        <p:spPr>
          <a:xfrm>
            <a:off x="9353550" y="2790825"/>
            <a:ext cx="2428875" cy="1362075"/>
          </a:xfrm>
          <a:prstGeom prst="rect">
            <a:avLst/>
          </a:prstGeom>
          <a:noFill/>
          <a:ln w="0">
            <a:noFill/>
          </a:ln>
        </p:spPr>
        <p:txBody>
          <a:bodyPr wrap="square" lIns="0" tIns="0" rIns="0" bIns="0">
            <a:noAutofit/>
          </a:bodyPr>
          <a:lstStyle/>
          <a:p>
            <a:pPr>
              <a:defRPr sz="2175" b="1">
                <a:solidFill>
                  <a:srgbClr val="FFFFFF"/>
                </a:solidFill>
                <a:latin typeface="Arial"/>
                <a:ea typeface="Arial"/>
                <a:cs typeface="Arial"/>
              </a:defRPr>
            </a:pPr>
            <a:r>
              <a:rPr sz="2175" b="1">
                <a:solidFill>
                  <a:srgbClr val="FFFFFF"/>
                </a:solidFill>
                <a:latin typeface="Arial"/>
                <a:ea typeface="Arial"/>
                <a:cs typeface="Arial"/>
              </a:rPr>
              <a:t>Easier for you to scan?</a:t>
            </a:r>
          </a:p>
        </p:txBody>
      </p:sp>
      <p:sp>
        <p:nvSpPr>
          <p:cNvPr id="8" name="Chat choices">
            <a:extLst>
              <a:ext uri="{FF2B5EF4-FFF2-40B4-BE49-F238E27FC236}">
                <a16:creationId xmlns:a16="http://schemas.microsoft.com/office/drawing/2014/main" id="{C5EA68D6-4E5E-42BD-8F72-D1B6830AD576}"/>
              </a:ext>
            </a:extLst>
          </p:cNvPr>
          <p:cNvSpPr>
            <a:spLocks noGrp="1"/>
          </p:cNvSpPr>
          <p:nvPr/>
        </p:nvSpPr>
        <p:spPr>
          <a:xfrm>
            <a:off x="9353550" y="4362450"/>
            <a:ext cx="2428875" cy="1009650"/>
          </a:xfrm>
          <a:prstGeom prst="rect">
            <a:avLst/>
          </a:prstGeom>
          <a:noFill/>
          <a:ln w="0">
            <a:noFill/>
          </a:ln>
        </p:spPr>
        <p:txBody>
          <a:bodyPr wrap="square" lIns="0" tIns="0" rIns="0" bIns="0">
            <a:noAutofit/>
          </a:bodyPr>
          <a:lstStyle/>
          <a:p>
            <a:pPr>
              <a:defRPr sz="1950" b="1">
                <a:solidFill>
                  <a:srgbClr val="FFFFFF"/>
                </a:solidFill>
                <a:latin typeface="Arial"/>
                <a:ea typeface="Arial"/>
                <a:cs typeface="Arial"/>
              </a:defRPr>
            </a:pPr>
            <a:r>
              <a:rPr sz="1950" b="1">
                <a:solidFill>
                  <a:srgbClr val="FFFFFF"/>
                </a:solidFill>
                <a:latin typeface="Arial"/>
                <a:ea typeface="Arial"/>
                <a:cs typeface="Arial"/>
              </a:rPr>
              <a:t>A = paragraph</a:t>
            </a:r>
          </a:p>
          <a:p>
            <a:pPr>
              <a:defRPr sz="1950" b="1">
                <a:solidFill>
                  <a:srgbClr val="FFFFFF"/>
                </a:solidFill>
                <a:latin typeface="Arial"/>
                <a:ea typeface="Arial"/>
                <a:cs typeface="Arial"/>
              </a:defRPr>
            </a:pPr>
            <a:r>
              <a:rPr sz="1950" b="1">
                <a:solidFill>
                  <a:srgbClr val="FFFFFF"/>
                </a:solidFill>
                <a:latin typeface="Arial"/>
                <a:ea typeface="Arial"/>
                <a:cs typeface="Arial"/>
              </a:rPr>
              <a:t>B = headings</a:t>
            </a:r>
          </a:p>
        </p:txBody>
      </p:sp>
      <p:sp>
        <p:nvSpPr>
          <p:cNvPr id="9" name="Chat instruction">
            <a:extLst>
              <a:ext uri="{FF2B5EF4-FFF2-40B4-BE49-F238E27FC236}">
                <a16:creationId xmlns:a16="http://schemas.microsoft.com/office/drawing/2014/main" id="{D1995622-B794-457F-BA79-9EE19394DBB8}"/>
              </a:ext>
            </a:extLst>
          </p:cNvPr>
          <p:cNvSpPr>
            <a:spLocks noGrp="1"/>
          </p:cNvSpPr>
          <p:nvPr/>
        </p:nvSpPr>
        <p:spPr>
          <a:xfrm>
            <a:off x="9353550" y="5715000"/>
            <a:ext cx="2428875" cy="609600"/>
          </a:xfrm>
          <a:prstGeom prst="rect">
            <a:avLst/>
          </a:prstGeom>
          <a:noFill/>
          <a:ln w="0">
            <a:noFill/>
          </a:ln>
        </p:spPr>
        <p:txBody>
          <a:bodyPr wrap="square" lIns="0" tIns="0" rIns="0" bIns="0">
            <a:noAutofit/>
          </a:bodyPr>
          <a:lstStyle/>
          <a:p>
            <a:pPr>
              <a:defRPr sz="1500" b="0">
                <a:solidFill>
                  <a:srgbClr val="FFFFFF"/>
                </a:solidFill>
                <a:latin typeface="Arial"/>
                <a:ea typeface="Arial"/>
                <a:cs typeface="Arial"/>
              </a:defRPr>
            </a:pPr>
            <a:r>
              <a:rPr sz="1500" b="0">
                <a:solidFill>
                  <a:srgbClr val="FFFFFF"/>
                </a:solidFill>
                <a:latin typeface="Arial"/>
                <a:ea typeface="Arial"/>
                <a:cs typeface="Arial"/>
              </a:rPr>
              <a:t>Type one word</a:t>
            </a:r>
          </a:p>
          <a:p>
            <a:pPr>
              <a:defRPr sz="1500" b="0">
                <a:solidFill>
                  <a:srgbClr val="FFFFFF"/>
                </a:solidFill>
                <a:latin typeface="Arial"/>
                <a:ea typeface="Arial"/>
                <a:cs typeface="Arial"/>
              </a:defRPr>
            </a:pPr>
            <a:r>
              <a:rPr sz="1500" b="0">
                <a:solidFill>
                  <a:srgbClr val="FFFFFF"/>
                </a:solidFill>
                <a:latin typeface="Arial"/>
                <a:ea typeface="Arial"/>
                <a:cs typeface="Arial"/>
              </a:rPr>
              <a:t>or a letter in chat.</a:t>
            </a:r>
          </a:p>
        </p:txBody>
      </p:sp>
    </p:spTree>
    <p:extLst>
      <p:ext uri="{BB962C8B-B14F-4D97-AF65-F5344CB8AC3E}">
        <p14:creationId xmlns:p14="http://schemas.microsoft.com/office/powerpoint/2010/main" val="1541069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0625D8-42DC-4BF5-95F6-EED9731FFEF4}"/>
              </a:ext>
            </a:extLst>
          </p:cNvPr>
          <p:cNvSpPr>
            <a:spLocks noGrp="1"/>
          </p:cNvSpPr>
          <p:nvPr/>
        </p:nvSpPr>
        <p:spPr>
          <a:xfrm>
            <a:off x="640080" y="457200"/>
            <a:ext cx="10881360" cy="1188720"/>
          </a:xfrm>
          <a:prstGeom prst="rect">
            <a:avLst/>
          </a:prstGeom>
          <a:noFill/>
        </p:spPr>
        <p:txBody>
          <a:bodyPr wrap="square" lIns="0" tIns="0" rIns="0" bIns="0">
            <a:spAutoFit/>
          </a:bodyPr>
          <a:lstStyle/>
          <a:p>
            <a:r>
              <a:rPr sz="3000" b="1" i="0">
                <a:solidFill>
                  <a:srgbClr val="1F2120"/>
                </a:solidFill>
                <a:latin typeface="Arial Black"/>
                <a:ea typeface="Arial Black"/>
                <a:cs typeface="Arial Black"/>
              </a:rPr>
              <a:t>Do this at your desk today</a:t>
            </a:r>
          </a:p>
          <a:p>
            <a:pPr>
              <a:spcBef>
                <a:spcPts val="400"/>
              </a:spcBef>
              <a:buNone/>
            </a:pPr>
            <a:r>
              <a:rPr sz="1500" b="0" i="1">
                <a:solidFill>
                  <a:srgbClr val="CF3338"/>
                </a:solidFill>
                <a:latin typeface="Arial"/>
                <a:ea typeface="Arial"/>
                <a:cs typeface="Arial"/>
              </a:rPr>
              <a:t>Choose one small win</a:t>
            </a:r>
          </a:p>
        </p:txBody>
      </p:sp>
      <p:sp>
        <p:nvSpPr>
          <p:cNvPr id="3" name="TextBox 2">
            <a:extLst>
              <a:ext uri="{FF2B5EF4-FFF2-40B4-BE49-F238E27FC236}">
                <a16:creationId xmlns:a16="http://schemas.microsoft.com/office/drawing/2014/main" id="{ECA26EED-30E7-41B6-9151-E51722E720C5}"/>
              </a:ext>
            </a:extLst>
          </p:cNvPr>
          <p:cNvSpPr>
            <a:spLocks noGrp="1"/>
          </p:cNvSpPr>
          <p:nvPr/>
        </p:nvSpPr>
        <p:spPr>
          <a:xfrm>
            <a:off x="640080" y="1783080"/>
            <a:ext cx="10881360" cy="2409825"/>
          </a:xfrm>
          <a:prstGeom prst="rect">
            <a:avLst/>
          </a:prstGeom>
          <a:noFill/>
        </p:spPr>
        <p:txBody>
          <a:bodyPr wrap="square" lIns="0" tIns="0" rIns="0" bIns="0">
            <a:spAutoFit/>
          </a:bodyPr>
          <a:lstStyle/>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TASK: Add one clear sentence saying what you want the tool to do.</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FORMAT: Say how to return the answer, such as three bullets or a table.</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Choose one change, run the prompt, and check the answer.</a:t>
            </a:r>
          </a:p>
        </p:txBody>
      </p:sp>
      <p:sp>
        <p:nvSpPr>
          <p:cNvPr id="7" name="Chat instruction">
            <a:extLst>
              <a:ext uri="{FF2B5EF4-FFF2-40B4-BE49-F238E27FC236}">
                <a16:creationId xmlns:a16="http://schemas.microsoft.com/office/drawing/2014/main" id="{19E8D802-EBBE-4DFA-B414-67EB9E16D2FC}"/>
              </a:ext>
            </a:extLst>
          </p:cNvPr>
          <p:cNvSpPr>
            <a:spLocks noGrp="1"/>
          </p:cNvSpPr>
          <p:nvPr/>
        </p:nvSpPr>
        <p:spPr>
          <a:xfrm>
            <a:off x="8143875" y="5219700"/>
            <a:ext cx="3048000" cy="400050"/>
          </a:xfrm>
          <a:prstGeom prst="rect">
            <a:avLst/>
          </a:prstGeom>
          <a:noFill/>
          <a:ln w="0">
            <a:noFill/>
          </a:ln>
        </p:spPr>
        <p:txBody>
          <a:bodyPr wrap="square" lIns="0" tIns="0" rIns="0" bIns="0">
            <a:noAutofit/>
          </a:bodyPr>
          <a:lstStyle/>
          <a:p>
            <a:pPr>
              <a:defRPr sz="1425" b="0">
                <a:solidFill>
                  <a:srgbClr val="FFFFFF"/>
                </a:solidFill>
                <a:latin typeface="Arial"/>
                <a:ea typeface="Arial"/>
                <a:cs typeface="Arial"/>
              </a:defRPr>
            </a:pPr>
            <a:r>
              <a:rPr sz="1425" b="0">
                <a:solidFill>
                  <a:srgbClr val="FFFFFF"/>
                </a:solidFill>
                <a:latin typeface="Arial"/>
                <a:ea typeface="Arial"/>
                <a:cs typeface="Arial"/>
              </a:rPr>
              <a:t>Type one word in chat.</a:t>
            </a:r>
          </a:p>
        </p:txBody>
      </p:sp>
    </p:spTree>
    <p:extLst>
      <p:ext uri="{BB962C8B-B14F-4D97-AF65-F5344CB8AC3E}">
        <p14:creationId xmlns:p14="http://schemas.microsoft.com/office/powerpoint/2010/main" val="4491969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CB5428-8DE3-420A-8F53-F2E8D4E5733F}"/>
              </a:ext>
            </a:extLst>
          </p:cNvPr>
          <p:cNvSpPr>
            <a:spLocks noGrp="1"/>
          </p:cNvSpPr>
          <p:nvPr/>
        </p:nvSpPr>
        <p:spPr>
          <a:xfrm>
            <a:off x="640080" y="640080"/>
            <a:ext cx="10881360" cy="914400"/>
          </a:xfrm>
          <a:prstGeom prst="rect">
            <a:avLst/>
          </a:prstGeom>
          <a:noFill/>
        </p:spPr>
        <p:txBody>
          <a:bodyPr wrap="square" lIns="0" tIns="0" rIns="0" bIns="0">
            <a:spAutoFit/>
          </a:bodyPr>
          <a:lstStyle/>
          <a:p>
            <a:r>
              <a:rPr sz="2900" b="1" i="0">
                <a:solidFill>
                  <a:srgbClr val="1F2120"/>
                </a:solidFill>
                <a:latin typeface="Arial Black"/>
                <a:ea typeface="Arial Black"/>
                <a:cs typeface="Arial Black"/>
              </a:rPr>
              <a:t>The week, in numbers</a:t>
            </a:r>
          </a:p>
        </p:txBody>
      </p:sp>
      <p:sp>
        <p:nvSpPr>
          <p:cNvPr id="3" name="TextBox 2">
            <a:extLst>
              <a:ext uri="{FF2B5EF4-FFF2-40B4-BE49-F238E27FC236}">
                <a16:creationId xmlns:a16="http://schemas.microsoft.com/office/drawing/2014/main" id="{FA04EB0E-7D63-45F1-8148-D9F29F37A121}"/>
              </a:ext>
            </a:extLst>
          </p:cNvPr>
          <p:cNvSpPr>
            <a:spLocks noGrp="1"/>
          </p:cNvSpPr>
          <p:nvPr/>
        </p:nvSpPr>
        <p:spPr>
          <a:xfrm>
            <a:off x="640080" y="2468880"/>
            <a:ext cx="2446020" cy="2560320"/>
          </a:xfrm>
          <a:prstGeom prst="rect">
            <a:avLst/>
          </a:prstGeom>
          <a:noFill/>
        </p:spPr>
        <p:txBody>
          <a:bodyPr wrap="square" lIns="0" tIns="0" rIns="0" bIns="0">
            <a:spAutoFit/>
          </a:bodyPr>
          <a:lstStyle/>
          <a:p>
            <a:r>
              <a:rPr sz="5800" b="1" i="0">
                <a:solidFill>
                  <a:srgbClr val="CF3338"/>
                </a:solidFill>
                <a:latin typeface="Arial Black"/>
                <a:ea typeface="Arial Black"/>
                <a:cs typeface="Arial Black"/>
              </a:rPr>
              <a:t>5</a:t>
            </a:r>
          </a:p>
          <a:p>
            <a:pPr>
              <a:spcBef>
                <a:spcPts val="600"/>
              </a:spcBef>
              <a:buNone/>
            </a:pPr>
            <a:r>
              <a:rPr sz="1500" b="0" i="0">
                <a:solidFill>
                  <a:srgbClr val="707070"/>
                </a:solidFill>
                <a:latin typeface="Arial"/>
                <a:ea typeface="Arial"/>
                <a:cs typeface="Arial"/>
              </a:rPr>
              <a:t>twenty-minute wins</a:t>
            </a:r>
          </a:p>
        </p:txBody>
      </p:sp>
      <p:sp>
        <p:nvSpPr>
          <p:cNvPr id="4" name="TextBox 3">
            <a:extLst>
              <a:ext uri="{FF2B5EF4-FFF2-40B4-BE49-F238E27FC236}">
                <a16:creationId xmlns:a16="http://schemas.microsoft.com/office/drawing/2014/main" id="{82150078-312D-4949-8427-97E410C887D4}"/>
              </a:ext>
            </a:extLst>
          </p:cNvPr>
          <p:cNvSpPr>
            <a:spLocks noGrp="1"/>
          </p:cNvSpPr>
          <p:nvPr/>
        </p:nvSpPr>
        <p:spPr>
          <a:xfrm>
            <a:off x="3360420" y="2468880"/>
            <a:ext cx="2446020" cy="2560320"/>
          </a:xfrm>
          <a:prstGeom prst="rect">
            <a:avLst/>
          </a:prstGeom>
          <a:noFill/>
        </p:spPr>
        <p:txBody>
          <a:bodyPr wrap="square" lIns="0" tIns="0" rIns="0" bIns="0">
            <a:spAutoFit/>
          </a:bodyPr>
          <a:lstStyle/>
          <a:p>
            <a:r>
              <a:rPr sz="5800" b="1" i="0">
                <a:solidFill>
                  <a:srgbClr val="CF3338"/>
                </a:solidFill>
                <a:latin typeface="Arial Black"/>
                <a:ea typeface="Arial Black"/>
                <a:cs typeface="Arial Black"/>
              </a:rPr>
              <a:t>0</a:t>
            </a:r>
          </a:p>
          <a:p>
            <a:pPr>
              <a:spcBef>
                <a:spcPts val="600"/>
              </a:spcBef>
              <a:buNone/>
            </a:pPr>
            <a:r>
              <a:rPr sz="1500" b="0" i="0">
                <a:solidFill>
                  <a:srgbClr val="707070"/>
                </a:solidFill>
                <a:latin typeface="Arial"/>
                <a:ea typeface="Arial"/>
                <a:cs typeface="Arial"/>
              </a:rPr>
              <a:t>Copilot licenses needed</a:t>
            </a:r>
          </a:p>
        </p:txBody>
      </p:sp>
      <p:sp>
        <p:nvSpPr>
          <p:cNvPr id="5" name="TextBox 4">
            <a:extLst>
              <a:ext uri="{FF2B5EF4-FFF2-40B4-BE49-F238E27FC236}">
                <a16:creationId xmlns:a16="http://schemas.microsoft.com/office/drawing/2014/main" id="{B28D41EA-8EF2-4DD7-87AA-BBAF51B8EF50}"/>
              </a:ext>
            </a:extLst>
          </p:cNvPr>
          <p:cNvSpPr>
            <a:spLocks noGrp="1"/>
          </p:cNvSpPr>
          <p:nvPr/>
        </p:nvSpPr>
        <p:spPr>
          <a:xfrm>
            <a:off x="6080760" y="2468880"/>
            <a:ext cx="2446020" cy="2560320"/>
          </a:xfrm>
          <a:prstGeom prst="rect">
            <a:avLst/>
          </a:prstGeom>
          <a:noFill/>
        </p:spPr>
        <p:txBody>
          <a:bodyPr wrap="square" lIns="0" tIns="0" rIns="0" bIns="0">
            <a:spAutoFit/>
          </a:bodyPr>
          <a:lstStyle/>
          <a:p>
            <a:r>
              <a:rPr sz="5800" b="1" i="0">
                <a:solidFill>
                  <a:srgbClr val="CF3338"/>
                </a:solidFill>
                <a:latin typeface="Arial Black"/>
                <a:ea typeface="Arial Black"/>
                <a:cs typeface="Arial Black"/>
              </a:rPr>
              <a:t>$0</a:t>
            </a:r>
          </a:p>
          <a:p>
            <a:pPr>
              <a:spcBef>
                <a:spcPts val="600"/>
              </a:spcBef>
              <a:buNone/>
            </a:pPr>
            <a:r>
              <a:rPr sz="1500" b="0" i="0">
                <a:solidFill>
                  <a:srgbClr val="707070"/>
                </a:solidFill>
                <a:latin typeface="Arial"/>
                <a:ea typeface="Arial"/>
                <a:cs typeface="Arial"/>
              </a:rPr>
              <a:t>spent on tools</a:t>
            </a:r>
          </a:p>
        </p:txBody>
      </p:sp>
      <p:sp>
        <p:nvSpPr>
          <p:cNvPr id="6" name="TextBox 5">
            <a:extLst>
              <a:ext uri="{FF2B5EF4-FFF2-40B4-BE49-F238E27FC236}">
                <a16:creationId xmlns:a16="http://schemas.microsoft.com/office/drawing/2014/main" id="{DE735D06-9442-4481-8C82-9A651E22BB7F}"/>
              </a:ext>
            </a:extLst>
          </p:cNvPr>
          <p:cNvSpPr>
            <a:spLocks noGrp="1"/>
          </p:cNvSpPr>
          <p:nvPr/>
        </p:nvSpPr>
        <p:spPr>
          <a:xfrm>
            <a:off x="8801100" y="2468880"/>
            <a:ext cx="2446020" cy="2560320"/>
          </a:xfrm>
          <a:prstGeom prst="rect">
            <a:avLst/>
          </a:prstGeom>
          <a:noFill/>
        </p:spPr>
        <p:txBody>
          <a:bodyPr wrap="square" lIns="0" tIns="0" rIns="0" bIns="0">
            <a:spAutoFit/>
          </a:bodyPr>
          <a:lstStyle/>
          <a:p>
            <a:r>
              <a:rPr sz="5800" b="1" i="0">
                <a:solidFill>
                  <a:srgbClr val="CF3338"/>
                </a:solidFill>
                <a:latin typeface="Arial Black"/>
                <a:ea typeface="Arial Black"/>
                <a:cs typeface="Arial Black"/>
              </a:rPr>
              <a:t>1</a:t>
            </a:r>
          </a:p>
          <a:p>
            <a:pPr>
              <a:spcBef>
                <a:spcPts val="600"/>
              </a:spcBef>
              <a:buNone/>
            </a:pPr>
            <a:r>
              <a:rPr sz="1500" b="0" i="0">
                <a:solidFill>
                  <a:srgbClr val="707070"/>
                </a:solidFill>
                <a:latin typeface="Arial"/>
                <a:ea typeface="Arial"/>
                <a:cs typeface="Arial"/>
              </a:rPr>
              <a:t>ugly export, fully tamed</a:t>
            </a:r>
          </a:p>
        </p:txBody>
      </p:sp>
      <p:sp>
        <p:nvSpPr>
          <p:cNvPr id="7" name="TextBox 6">
            <a:extLst>
              <a:ext uri="{FF2B5EF4-FFF2-40B4-BE49-F238E27FC236}">
                <a16:creationId xmlns:a16="http://schemas.microsoft.com/office/drawing/2014/main" id="{B0117597-CCE8-48BA-AB1B-E01B7A1CC390}"/>
              </a:ext>
            </a:extLst>
          </p:cNvPr>
          <p:cNvSpPr>
            <a:spLocks noGrp="1"/>
          </p:cNvSpPr>
          <p:nvPr/>
        </p:nvSpPr>
        <p:spPr>
          <a:xfrm>
            <a:off x="640080" y="5486400"/>
            <a:ext cx="10881360" cy="822960"/>
          </a:xfrm>
          <a:prstGeom prst="rect">
            <a:avLst/>
          </a:prstGeom>
          <a:noFill/>
        </p:spPr>
        <p:txBody>
          <a:bodyPr wrap="square" lIns="0" tIns="0" rIns="0" bIns="0">
            <a:spAutoFit/>
          </a:bodyPr>
          <a:lstStyle/>
          <a:p>
            <a:r>
              <a:rPr sz="1500" b="0" i="1">
                <a:solidFill>
                  <a:srgbClr val="1F2120"/>
                </a:solidFill>
                <a:latin typeface="Arial"/>
                <a:ea typeface="Arial"/>
                <a:cs typeface="Arial"/>
              </a:rPr>
              <a:t>Flash Fill. Tables. Power Query. Python. Markdown. Availability varies by Excel setup.</a:t>
            </a:r>
          </a:p>
        </p:txBody>
      </p:sp>
    </p:spTree>
    <p:extLst>
      <p:ext uri="{BB962C8B-B14F-4D97-AF65-F5344CB8AC3E}">
        <p14:creationId xmlns:p14="http://schemas.microsoft.com/office/powerpoint/2010/main" val="982033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5ED4722-C23E-416A-ACBB-4B49D9C923B3}"/>
              </a:ext>
            </a:extLst>
          </p:cNvPr>
          <p:cNvSpPr>
            <a:spLocks noGrp="1"/>
          </p:cNvSpPr>
          <p:nvPr/>
        </p:nvSpPr>
        <p:spPr>
          <a:xfrm>
            <a:off x="640080" y="457200"/>
            <a:ext cx="10881360" cy="1005840"/>
          </a:xfrm>
          <a:prstGeom prst="rect">
            <a:avLst/>
          </a:prstGeom>
          <a:noFill/>
        </p:spPr>
        <p:txBody>
          <a:bodyPr wrap="square" lIns="0" tIns="0" rIns="0" bIns="0">
            <a:spAutoFit/>
          </a:bodyPr>
          <a:lstStyle/>
          <a:p>
            <a:r>
              <a:rPr sz="3000" b="1" i="0">
                <a:solidFill>
                  <a:srgbClr val="1F2120"/>
                </a:solidFill>
                <a:latin typeface="Arial Black"/>
                <a:ea typeface="Arial Black"/>
                <a:cs typeface="Arial Black"/>
              </a:rPr>
              <a:t>Where to go from here</a:t>
            </a:r>
          </a:p>
          <a:p>
            <a:pPr>
              <a:spcBef>
                <a:spcPts val="300"/>
              </a:spcBef>
              <a:buNone/>
            </a:pPr>
            <a:r>
              <a:rPr sz="1500" b="0" i="1">
                <a:solidFill>
                  <a:srgbClr val="CF3338"/>
                </a:solidFill>
                <a:latin typeface="Arial"/>
                <a:ea typeface="Arial"/>
                <a:cs typeface="Arial"/>
              </a:rPr>
              <a:t>Two paths, and they stack</a:t>
            </a:r>
          </a:p>
        </p:txBody>
      </p:sp>
      <p:sp>
        <p:nvSpPr>
          <p:cNvPr id="3" name="Rounded Rectangle 2">
            <a:extLst>
              <a:ext uri="{FF2B5EF4-FFF2-40B4-BE49-F238E27FC236}">
                <a16:creationId xmlns:a16="http://schemas.microsoft.com/office/drawing/2014/main" id="{A6F52750-31EF-486E-A310-1B4531F1D2F0}"/>
              </a:ext>
            </a:extLst>
          </p:cNvPr>
          <p:cNvSpPr>
            <a:spLocks noGrp="1"/>
          </p:cNvSpPr>
          <p:nvPr/>
        </p:nvSpPr>
        <p:spPr>
          <a:xfrm>
            <a:off x="640080" y="1828800"/>
            <a:ext cx="5212080" cy="4389120"/>
          </a:xfrm>
          <a:prstGeom prst="roundRect">
            <a:avLst/>
          </a:prstGeom>
          <a:solidFill>
            <a:srgbClr val="FFFFFF"/>
          </a:solidFill>
          <a:ln w="19050">
            <a:solidFill>
              <a:srgbClr val="CF3338"/>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1CE3A10F-FAC5-4A32-AA7B-074CA9D614D7}"/>
              </a:ext>
            </a:extLst>
          </p:cNvPr>
          <p:cNvSpPr>
            <a:spLocks noGrp="1"/>
          </p:cNvSpPr>
          <p:nvPr/>
        </p:nvSpPr>
        <p:spPr>
          <a:xfrm>
            <a:off x="960120" y="2057400"/>
            <a:ext cx="4617720" cy="3931920"/>
          </a:xfrm>
          <a:prstGeom prst="rect">
            <a:avLst/>
          </a:prstGeom>
          <a:noFill/>
        </p:spPr>
        <p:txBody>
          <a:bodyPr wrap="square" lIns="0" tIns="0" rIns="0" bIns="0">
            <a:spAutoFit/>
          </a:bodyPr>
          <a:lstStyle/>
          <a:p>
            <a:r>
              <a:rPr sz="1800" b="1" i="0">
                <a:solidFill>
                  <a:srgbClr val="CF3338"/>
                </a:solidFill>
                <a:latin typeface="Arial Black"/>
                <a:ea typeface="Arial Black"/>
                <a:cs typeface="Arial Black"/>
              </a:rPr>
              <a:t>Keep the momentum</a:t>
            </a:r>
          </a:p>
          <a:p>
            <a:pPr>
              <a:spcBef>
                <a:spcPts val="700"/>
              </a:spcBef>
              <a:buNone/>
            </a:pPr>
            <a:r>
              <a:rPr sz="1100" b="1" i="0">
                <a:solidFill>
                  <a:srgbClr val="CF3338"/>
                </a:solidFill>
                <a:latin typeface="Arial"/>
                <a:ea typeface="Arial"/>
                <a:cs typeface="Arial"/>
              </a:rPr>
              <a:t>• </a:t>
            </a:r>
            <a:r>
              <a:rPr sz="1400" b="0" i="0">
                <a:solidFill>
                  <a:srgbClr val="1F2120"/>
                </a:solidFill>
                <a:latin typeface="Arial"/>
                <a:ea typeface="Arial"/>
                <a:cs typeface="Arial"/>
              </a:rPr>
              <a:t>Replays of all five sessions live in the membership vault.</a:t>
            </a:r>
          </a:p>
          <a:p>
            <a:pPr>
              <a:spcBef>
                <a:spcPts val="700"/>
              </a:spcBef>
              <a:buNone/>
            </a:pPr>
            <a:r>
              <a:rPr sz="1100" b="1" i="0">
                <a:solidFill>
                  <a:srgbClr val="CF3338"/>
                </a:solidFill>
                <a:latin typeface="Arial"/>
                <a:ea typeface="Arial"/>
                <a:cs typeface="Arial"/>
              </a:rPr>
              <a:t>• </a:t>
            </a:r>
            <a:r>
              <a:rPr sz="1400" b="0" i="0">
                <a:solidFill>
                  <a:srgbClr val="1F2120"/>
                </a:solidFill>
                <a:latin typeface="Arial"/>
                <a:ea typeface="Arial"/>
                <a:cs typeface="Arial"/>
              </a:rPr>
              <a:t>Ten dollars a month, cancel anytime, full back catalog included.</a:t>
            </a:r>
          </a:p>
          <a:p>
            <a:pPr>
              <a:spcBef>
                <a:spcPts val="700"/>
              </a:spcBef>
              <a:buNone/>
            </a:pPr>
            <a:r>
              <a:rPr sz="1100" b="1" i="0">
                <a:solidFill>
                  <a:srgbClr val="CF3338"/>
                </a:solidFill>
                <a:latin typeface="Arial"/>
                <a:ea typeface="Arial"/>
                <a:cs typeface="Arial"/>
              </a:rPr>
              <a:t>• </a:t>
            </a:r>
            <a:r>
              <a:rPr sz="1400" b="0" i="0">
                <a:solidFill>
                  <a:srgbClr val="1F2120"/>
                </a:solidFill>
                <a:latin typeface="Arial"/>
                <a:ea typeface="Arial"/>
                <a:cs typeface="Arial"/>
              </a:rPr>
              <a:t>Rewatch the demos with the files in front of you.</a:t>
            </a:r>
          </a:p>
        </p:txBody>
      </p:sp>
      <p:sp>
        <p:nvSpPr>
          <p:cNvPr id="5" name="Rounded Rectangle 4">
            <a:extLst>
              <a:ext uri="{FF2B5EF4-FFF2-40B4-BE49-F238E27FC236}">
                <a16:creationId xmlns:a16="http://schemas.microsoft.com/office/drawing/2014/main" id="{67176FB7-7EFE-41F5-8F4E-71412DDF430B}"/>
              </a:ext>
            </a:extLst>
          </p:cNvPr>
          <p:cNvSpPr>
            <a:spLocks noGrp="1"/>
          </p:cNvSpPr>
          <p:nvPr/>
        </p:nvSpPr>
        <p:spPr>
          <a:xfrm>
            <a:off x="6400800" y="1828800"/>
            <a:ext cx="5212080" cy="4389120"/>
          </a:xfrm>
          <a:prstGeom prst="roundRect">
            <a:avLst/>
          </a:prstGeom>
          <a:solidFill>
            <a:srgbClr val="FFFFFF"/>
          </a:solidFill>
          <a:ln w="19050">
            <a:solidFill>
              <a:srgbClr val="CF3338"/>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9BC8E41-3B95-4A2D-98E1-9B55F98A01A8}"/>
              </a:ext>
            </a:extLst>
          </p:cNvPr>
          <p:cNvSpPr>
            <a:spLocks noGrp="1"/>
          </p:cNvSpPr>
          <p:nvPr/>
        </p:nvSpPr>
        <p:spPr>
          <a:xfrm>
            <a:off x="6720840" y="2057400"/>
            <a:ext cx="4617720" cy="3931920"/>
          </a:xfrm>
          <a:prstGeom prst="rect">
            <a:avLst/>
          </a:prstGeom>
          <a:noFill/>
        </p:spPr>
        <p:txBody>
          <a:bodyPr wrap="square" lIns="0" tIns="0" rIns="0" bIns="0">
            <a:spAutoFit/>
          </a:bodyPr>
          <a:lstStyle/>
          <a:p>
            <a:r>
              <a:rPr sz="1800" b="1" i="0">
                <a:solidFill>
                  <a:srgbClr val="CF3338"/>
                </a:solidFill>
                <a:latin typeface="Arial Black"/>
                <a:ea typeface="Arial Black"/>
                <a:cs typeface="Arial Black"/>
              </a:rPr>
              <a:t>Go deeper in December</a:t>
            </a:r>
          </a:p>
          <a:p>
            <a:pPr>
              <a:spcBef>
                <a:spcPts val="700"/>
              </a:spcBef>
              <a:buNone/>
            </a:pPr>
            <a:r>
              <a:rPr sz="1100" b="1" i="0">
                <a:solidFill>
                  <a:srgbClr val="CF3338"/>
                </a:solidFill>
                <a:latin typeface="Arial"/>
                <a:ea typeface="Arial"/>
                <a:cs typeface="Arial"/>
              </a:rPr>
              <a:t>• </a:t>
            </a:r>
            <a:r>
              <a:rPr sz="1400" b="0" i="0">
                <a:solidFill>
                  <a:srgbClr val="1F2120"/>
                </a:solidFill>
                <a:latin typeface="Arial"/>
                <a:ea typeface="Arial"/>
                <a:cs typeface="Arial"/>
              </a:rPr>
              <a:t>AI for Excel in a Week: five live 60-minute sessions.</a:t>
            </a:r>
          </a:p>
          <a:p>
            <a:pPr>
              <a:spcBef>
                <a:spcPts val="700"/>
              </a:spcBef>
              <a:buNone/>
            </a:pPr>
            <a:r>
              <a:rPr sz="1100" b="1" i="0">
                <a:solidFill>
                  <a:srgbClr val="CF3338"/>
                </a:solidFill>
                <a:latin typeface="Arial"/>
                <a:ea typeface="Arial"/>
                <a:cs typeface="Arial"/>
              </a:rPr>
              <a:t>• </a:t>
            </a:r>
            <a:r>
              <a:rPr sz="1400" b="0" i="0">
                <a:solidFill>
                  <a:srgbClr val="1F2120"/>
                </a:solidFill>
                <a:latin typeface="Arial"/>
                <a:ea typeface="Arial"/>
                <a:cs typeface="Arial"/>
              </a:rPr>
              <a:t>Everything from this week, hands-on and in depth.</a:t>
            </a:r>
          </a:p>
          <a:p>
            <a:pPr>
              <a:spcBef>
                <a:spcPts val="700"/>
              </a:spcBef>
              <a:buNone/>
            </a:pPr>
            <a:r>
              <a:rPr sz="1100" b="1" i="0">
                <a:solidFill>
                  <a:srgbClr val="CF3338"/>
                </a:solidFill>
                <a:latin typeface="Arial"/>
                <a:ea typeface="Arial"/>
                <a:cs typeface="Arial"/>
              </a:rPr>
              <a:t>• </a:t>
            </a:r>
            <a:r>
              <a:rPr sz="1400" b="0" i="0">
                <a:solidFill>
                  <a:srgbClr val="1F2120"/>
                </a:solidFill>
                <a:latin typeface="Arial"/>
                <a:ea typeface="Arial"/>
                <a:cs typeface="Arial"/>
              </a:rPr>
              <a:t>Registration link lands in tomorrow's thank-you email.</a:t>
            </a:r>
          </a:p>
        </p:txBody>
      </p:sp>
    </p:spTree>
    <p:extLst>
      <p:ext uri="{BB962C8B-B14F-4D97-AF65-F5344CB8AC3E}">
        <p14:creationId xmlns:p14="http://schemas.microsoft.com/office/powerpoint/2010/main" val="13609346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C0000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172C39-809E-4C35-B0DF-723952D0096E}"/>
              </a:ext>
            </a:extLst>
          </p:cNvPr>
          <p:cNvSpPr>
            <a:spLocks noGrp="1"/>
          </p:cNvSpPr>
          <p:nvPr/>
        </p:nvSpPr>
        <p:spPr>
          <a:xfrm>
            <a:off x="822960" y="2103120"/>
            <a:ext cx="10515600" cy="2114550"/>
          </a:xfrm>
          <a:prstGeom prst="rect">
            <a:avLst/>
          </a:prstGeom>
          <a:noFill/>
        </p:spPr>
        <p:txBody>
          <a:bodyPr wrap="square" lIns="0" tIns="0" rIns="0" bIns="0">
            <a:spAutoFit/>
          </a:bodyPr>
          <a:lstStyle/>
          <a:p>
            <a:r>
              <a:rPr sz="1600" b="1" i="0">
                <a:solidFill>
                  <a:srgbClr val="FFFFFF"/>
                </a:solidFill>
                <a:latin typeface="Arial Black"/>
                <a:ea typeface="Arial Black"/>
                <a:cs typeface="Arial Black"/>
              </a:rPr>
              <a:t>THANK YOU</a:t>
            </a:r>
          </a:p>
          <a:p>
            <a:pPr>
              <a:spcBef>
                <a:spcPts val="800"/>
              </a:spcBef>
              <a:buNone/>
            </a:pPr>
            <a:r>
              <a:rPr sz="3600" b="1" i="0">
                <a:solidFill>
                  <a:srgbClr val="FFFFFF"/>
                </a:solidFill>
                <a:latin typeface="Arial Black"/>
                <a:ea typeface="Arial Black"/>
                <a:cs typeface="Arial Black"/>
              </a:rPr>
              <a:t>Five days, five practical wins</a:t>
            </a:r>
          </a:p>
          <a:p>
            <a:pPr>
              <a:spcBef>
                <a:spcPts val="1400"/>
              </a:spcBef>
              <a:buNone/>
            </a:pPr>
            <a:r>
              <a:rPr sz="1800" b="0" i="0">
                <a:solidFill>
                  <a:srgbClr val="FFFFFF"/>
                </a:solidFill>
                <a:latin typeface="Arial"/>
                <a:ea typeface="Arial"/>
                <a:cs typeface="Arial"/>
              </a:rPr>
              <a:t>Watch your inbox for the thank-you email with links, files, and the December cohort.</a:t>
            </a:r>
          </a:p>
        </p:txBody>
      </p:sp>
    </p:spTree>
    <p:extLst>
      <p:ext uri="{BB962C8B-B14F-4D97-AF65-F5344CB8AC3E}">
        <p14:creationId xmlns:p14="http://schemas.microsoft.com/office/powerpoint/2010/main" val="2354546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2228</Words>
  <Application>Microsoft Office PowerPoint</Application>
  <DocSecurity>0</DocSecurity>
  <PresentationFormat>Widescreen</PresentationFormat>
  <Paragraphs>116</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Arial Black</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George Mount</cp:lastModifiedBy>
  <cp:revision>1</cp:revision>
  <dcterms:created xsi:type="dcterms:W3CDTF">2026-09-27T11:03:02Z</dcterms:created>
  <dcterms:modified xsi:type="dcterms:W3CDTF">2026-09-30T11:48:14Z</dcterms:modified>
</cp:coreProperties>
</file>
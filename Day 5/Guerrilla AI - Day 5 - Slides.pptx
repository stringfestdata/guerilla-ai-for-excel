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This is Guerrilla AI for Excel, day 5 of 5. I'm George Mount from Stringfest Analytics. Here is the idea behind this whole series. You do not need a Copilot license, a budget line, or IT's permission to work like an AI-powered analyst. Guerrilla AI means being crafty with what is already installed on your machine: the machine learning Excel has quietly shipped for years, the structural habits that make any AI dramatically better at reading your work, and the free tools that close the gap. Today's twenty-minute win: learning the language every AI tool already speaks, and using it to move work in and out of Excel. We have one live demo block and then two or three things you can do at your own desk this afternoon. Let's go. It is the finale, so we also recap the week and talk about where to go from 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recap of the week. Monday, the machine learning already hiding in Excel. Tuesday, tables made the workbook machine-readable. Wednesday, Power Query recorded the cleanup and Refresh replayed it. Yesterday, real Python behind equals PY, with a chatbot writing the code. One thread ran through all of it: the better the machine can read your work, the better every tool performs. Today we apply that same idea to the words you send AI tools, because it turns out prompts have a structure too.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guerrilla hook. Behind almost every AI tool you touch is the same plain-text formatting language: Markdown. Hash marks for headings, dashes for bullets, pipes for tables. Chatbot answers are written in it. Copilot emits it. The instruction files that steer AI agents are plain Markdown documents. Which means twenty minutes of syntax buys you two powers. Steering: a prompt with headings and bullet structure is dramatically easier for a model to follow than a wall of text. And portability: tables written in Markdown move cleanly between Excel and any chatbot, in either direction, with no connectors and no licenses. Speaking the machine's language is the cheapest AI upgrade there is. Two demos and then we close out the week.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one. On screen are two prompts asking for the same thing. The first is the blob: summarize this sales data and tell me whats important, followed by a messy paste of the whole export. We have all sent that prompt. The second is structured Markdown. A heading names the job: quarterly regional sales review. A Role section says who to be, an FP&amp;A analyst. A Task section lists three bullets: summarize by region, flag the trailing region, suggest two follow-ups. A Data section carries our regional summary as a clean Markdown table, and a Format section dictates the shape of the answer. I send both to a free chatbot, live. The blob comes back generic and rambling. The structured prompt comes back organized, on-task, in exactly the format I dictated, and it names the trailing region without being coaxed. Same model, same data, same price of zero. Structure did all of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two, the round-trip. Going out is easy: I copy the RegionSummary table in Excel and paste it straight into the chat. It lands as a table the model reads cleanly, and you saw it handle that table perfectly in demo one. Coming back is the part nobody shows you. I ask the chatbot for its results as a Markdown table, and it returns rows with pipe characters between the columns. I copy that, paste it into a blank area of the sheet, and it lands squashed into one column. Now: Data tab, Text to Columns, Delimited, and the delimiter is the pipe character. Finish, trim the empty edge columns, and there it is, a real Excel range again. Copy out, Markdown back, Text to Columns. That is a data pipeline between Excel and any AI tool on earth, built from features that predate all of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desk actions of the series. One: take the next real prompt you were going to send anyway and rewrite it with a heading, a bulleted task list, and a Format section, then compare answers. That comparison converts people. Two: paste one small Excel table into a chatbot and ask for the reply as a Markdown table, then bring it home with Text to Columns. Three: save your best prompt as a dot md file. That file is reusable craft, and it is the seed of every agent instruction file you will ever write.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week in numbers. Five twenty-minute wins. Zero licenses required. Zero dollars spent. One genuinely ugly sales export, fully tamed. Monday you found the machine learning already in Excel. Tuesday you made your data machine-readable. Wednesday you recorded the cleanup once and refreshed it forever. Thursday you ran real Python behind equals PY. Today you learned the language that steers all of it. None of that came from a budget line. It came from craft with tools you already had, which was the promise of the series. So, where next?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keep going, and they stack. First, the replays. All five sessions from this week live in the Stringfest Analytics membership vault, along with my full back catalog of recordings. Ten dollars a month, cancel anytime. If you want to rewatch Wednesday with the workbook open in front of you, that is the place. Second, the deeper version. This December I am running AI for Excel in a Week: five live sessions, sixty minutes each, that take everything you saw here further, hands-on, with time to actually build alongside me. If this week was the espresso shot, December is the full pour. The registration link will be in tomorrow's thank-you email, sent to the address you registered with. Membership today, December for depth, or both.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the series. Thank you, sincerely, for giving me twenty minutes a day of your week. Everything lands in your inbox tomorrow: the files, the links, the membership, and December's cohort. My ask is simple: pick one of the five moves and use it on real work this afternoon, because the move you use within a day is the one you keep. If this week saved you time, tell one coworker who is still cleaning columns by hand. I'm George Mount from Stringfest Analytics. Go be crafty.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2103120"/>
            <a:ext cx="10607040" cy="3291840"/>
          </a:xfrm>
          <a:prstGeom prst="rect">
            <a:avLst/>
          </a:prstGeom>
          <a:noFill/>
        </p:spPr>
        <p:txBody>
          <a:bodyPr wrap="square" lIns="0" rIns="0" tIns="0" bIns="0">
            <a:spAutoFit/>
          </a:bodyPr>
          <a:lstStyle/>
          <a:p>
            <a:r>
              <a:rPr sz="1500" b="1" i="0">
                <a:solidFill>
                  <a:srgbClr val="CF3338"/>
                </a:solidFill>
                <a:latin typeface="Arial Black"/>
              </a:rPr>
              <a:t>GUERRILLA AI FOR EXCEL. A LIVE SERIES, DAY 5 OF 5</a:t>
            </a:r>
          </a:p>
          <a:p>
            <a:pPr>
              <a:spcBef>
                <a:spcPts val="1000"/>
              </a:spcBef>
            </a:pPr>
            <a:r>
              <a:rPr sz="4200" b="1" i="0">
                <a:solidFill>
                  <a:srgbClr val="1F2120"/>
                </a:solidFill>
                <a:latin typeface="Arial Black"/>
              </a:rPr>
              <a:t>Markdown: the language AI speaks</a:t>
            </a:r>
          </a:p>
          <a:p>
            <a:pPr>
              <a:spcBef>
                <a:spcPts val="1400"/>
              </a:spcBef>
            </a:pPr>
            <a:r>
              <a:rPr sz="2000" b="0" i="0">
                <a:solidFill>
                  <a:srgbClr val="707070"/>
                </a:solidFill>
                <a:latin typeface="Arial"/>
              </a:rPr>
              <a:t>Structured prompts, round-trip tables, and the close of the week.</a:t>
            </a:r>
          </a:p>
        </p:txBody>
      </p:sp>
      <p:sp>
        <p:nvSpPr>
          <p:cNvPr id="3" name="TextBox 2"/>
          <p:cNvSpPr txBox="1"/>
          <p:nvPr/>
        </p:nvSpPr>
        <p:spPr>
          <a:xfrm>
            <a:off x="640080" y="6080760"/>
            <a:ext cx="10972800" cy="457200"/>
          </a:xfrm>
          <a:prstGeom prst="rect">
            <a:avLst/>
          </a:prstGeom>
          <a:noFill/>
        </p:spPr>
        <p:txBody>
          <a:bodyPr wrap="square" lIns="0" rIns="0" tIns="0" bIns="0">
            <a:spAutoFit/>
          </a:bodyPr>
          <a:lstStyle/>
          <a:p>
            <a:r>
              <a:rPr sz="1300" b="0" i="1">
                <a:solidFill>
                  <a:srgbClr val="707070"/>
                </a:solidFill>
                <a:latin typeface="Arial"/>
              </a:rPr>
              <a:t>Live Mon Sep 28 to Fri Oct 2, 12:00 to 12:20 PM ET. Sessions are recorded.</a:t>
            </a:r>
          </a:p>
        </p:txBody>
      </p:sp>
      <p:sp>
        <p:nvSpPr>
          <p:cNvPr id="4" name="TextBox 3"/>
          <p:cNvSpPr txBox="1"/>
          <p:nvPr/>
        </p:nvSpPr>
        <p:spPr>
          <a:xfrm>
            <a:off x="457200" y="384048"/>
            <a:ext cx="4114800" cy="365760"/>
          </a:xfrm>
          <a:prstGeom prst="rect">
            <a:avLst/>
          </a:prstGeom>
          <a:noFill/>
        </p:spPr>
        <p:txBody>
          <a:bodyPr wrap="square" lIns="0" rIns="0" tIns="0" bIns="0">
            <a:spAutoFit/>
          </a:bodyPr>
          <a:lstStyle/>
          <a:p>
            <a:r>
              <a:rPr sz="1300" b="1" i="0">
                <a:solidFill>
                  <a:srgbClr val="CF3338"/>
                </a:solidFill>
                <a:latin typeface="Arial Black"/>
              </a:rPr>
              <a:t>STRINGFEST ANALYTICS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188720"/>
          </a:xfrm>
          <a:prstGeom prst="rect">
            <a:avLst/>
          </a:prstGeom>
          <a:noFill/>
        </p:spPr>
        <p:txBody>
          <a:bodyPr wrap="square" lIns="0" rIns="0" tIns="0" bIns="0">
            <a:spAutoFit/>
          </a:bodyPr>
          <a:lstStyle/>
          <a:p>
            <a:r>
              <a:rPr sz="3000" b="1" i="0">
                <a:solidFill>
                  <a:srgbClr val="1F2120"/>
                </a:solidFill>
                <a:latin typeface="Arial Black"/>
              </a:rPr>
              <a:t>Yesterday in 30 seconds</a:t>
            </a:r>
          </a:p>
          <a:p>
            <a:pPr>
              <a:spcBef>
                <a:spcPts val="400"/>
              </a:spcBef>
            </a:pPr>
            <a:r>
              <a:rPr sz="1500" b="0" i="1">
                <a:solidFill>
                  <a:srgbClr val="CF3338"/>
                </a:solidFill>
                <a:latin typeface="Arial"/>
              </a:rPr>
              <a:t>One dataset, five wins, zero licenses</a:t>
            </a:r>
          </a:p>
        </p:txBody>
      </p:sp>
      <p:sp>
        <p:nvSpPr>
          <p:cNvPr id="3" name="TextBox 2"/>
          <p:cNvSpPr txBox="1"/>
          <p:nvPr/>
        </p:nvSpPr>
        <p:spPr>
          <a:xfrm>
            <a:off x="640080" y="1783080"/>
            <a:ext cx="10881360" cy="4846320"/>
          </a:xfrm>
          <a:prstGeom prst="rect">
            <a:avLst/>
          </a:prstGeom>
          <a:noFill/>
        </p:spPr>
        <p:txBody>
          <a:bodyPr wrap="square" lIns="0" rIns="0" tIns="0" bIns="0">
            <a:spAutoFit/>
          </a:bodyPr>
          <a:lstStyle/>
          <a:p>
            <a:pPr>
              <a:spcAft>
                <a:spcPts val="700"/>
              </a:spcAft>
            </a:pPr>
            <a:r>
              <a:rPr sz="1200" b="1" i="0">
                <a:solidFill>
                  <a:srgbClr val="CF3338"/>
                </a:solidFill>
                <a:latin typeface="Arial"/>
              </a:rPr>
              <a:t>▶  </a:t>
            </a:r>
            <a:r>
              <a:rPr sz="1600" b="0" i="0">
                <a:solidFill>
                  <a:srgbClr val="1F2120"/>
                </a:solidFill>
                <a:latin typeface="Arial"/>
              </a:rPr>
              <a:t>Day 4 was A data science lab behind =PY().</a:t>
            </a:r>
          </a:p>
          <a:p>
            <a:pPr>
              <a:spcAft>
                <a:spcPts val="700"/>
              </a:spcAft>
            </a:pPr>
            <a:r>
              <a:rPr sz="1200" b="1" i="0">
                <a:solidFill>
                  <a:srgbClr val="CF3338"/>
                </a:solidFill>
                <a:latin typeface="Arial"/>
              </a:rPr>
              <a:t>▶  </a:t>
            </a:r>
            <a:r>
              <a:rPr sz="1600" b="0" i="0">
                <a:solidFill>
                  <a:srgbClr val="1F2120"/>
                </a:solidFill>
                <a:latin typeface="Arial"/>
              </a:rPr>
              <a:t>You already have a data science environment. The craft is knowing how to ask for the code.</a:t>
            </a:r>
          </a:p>
          <a:p>
            <a:pPr>
              <a:spcAft>
                <a:spcPts val="700"/>
              </a:spcAft>
            </a:pPr>
            <a:r>
              <a:rPr sz="1200" b="1" i="0">
                <a:solidFill>
                  <a:srgbClr val="CF3338"/>
                </a:solidFill>
                <a:latin typeface="Arial"/>
              </a:rPr>
              <a:t>▶  </a:t>
            </a:r>
            <a:r>
              <a:rPr sz="1600" b="0" i="0">
                <a:solidFill>
                  <a:srgbClr val="1F2120"/>
                </a:solidFill>
                <a:latin typeface="Arial"/>
              </a:rPr>
              <a:t>Same dataset today. Every day builds on the last.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188720"/>
          </a:xfrm>
          <a:prstGeom prst="rect">
            <a:avLst/>
          </a:prstGeom>
          <a:noFill/>
        </p:spPr>
        <p:txBody>
          <a:bodyPr wrap="square" lIns="0" rIns="0" tIns="0" bIns="0">
            <a:spAutoFit/>
          </a:bodyPr>
          <a:lstStyle/>
          <a:p>
            <a:r>
              <a:rPr sz="3000" b="1" i="0">
                <a:solidFill>
                  <a:srgbClr val="1F2120"/>
                </a:solidFill>
                <a:latin typeface="Arial Black"/>
              </a:rPr>
              <a:t>Why this counts as AI</a:t>
            </a:r>
          </a:p>
          <a:p>
            <a:pPr>
              <a:spcBef>
                <a:spcPts val="400"/>
              </a:spcBef>
            </a:pPr>
            <a:r>
              <a:rPr sz="1500" b="0" i="1">
                <a:solidFill>
                  <a:srgbClr val="CF3338"/>
                </a:solidFill>
                <a:latin typeface="Arial"/>
              </a:rPr>
              <a:t>The guerrilla hook, day 5</a:t>
            </a:r>
          </a:p>
        </p:txBody>
      </p:sp>
      <p:sp>
        <p:nvSpPr>
          <p:cNvPr id="3" name="TextBox 2"/>
          <p:cNvSpPr txBox="1"/>
          <p:nvPr/>
        </p:nvSpPr>
        <p:spPr>
          <a:xfrm>
            <a:off x="640080" y="1783080"/>
            <a:ext cx="10881360" cy="4846320"/>
          </a:xfrm>
          <a:prstGeom prst="rect">
            <a:avLst/>
          </a:prstGeom>
          <a:noFill/>
        </p:spPr>
        <p:txBody>
          <a:bodyPr wrap="square" lIns="0" rIns="0" tIns="0" bIns="0">
            <a:spAutoFit/>
          </a:bodyPr>
          <a:lstStyle/>
          <a:p>
            <a:pPr>
              <a:spcAft>
                <a:spcPts val="700"/>
              </a:spcAft>
            </a:pPr>
            <a:r>
              <a:rPr sz="1200" b="1" i="0">
                <a:solidFill>
                  <a:srgbClr val="CF3338"/>
                </a:solidFill>
                <a:latin typeface="Arial"/>
              </a:rPr>
              <a:t>▶  </a:t>
            </a:r>
            <a:r>
              <a:rPr sz="1600" b="0" i="0">
                <a:solidFill>
                  <a:srgbClr val="1F2120"/>
                </a:solidFill>
                <a:latin typeface="Arial"/>
              </a:rPr>
              <a:t>Prompts, Copilot output, chatbot answers, and agent instruction files are all Markdown.</a:t>
            </a:r>
          </a:p>
          <a:p>
            <a:pPr>
              <a:spcAft>
                <a:spcPts val="700"/>
              </a:spcAft>
            </a:pPr>
            <a:r>
              <a:rPr sz="1200" b="1" i="0">
                <a:solidFill>
                  <a:srgbClr val="CF3338"/>
                </a:solidFill>
                <a:latin typeface="Arial"/>
              </a:rPr>
              <a:t>▶  </a:t>
            </a:r>
            <a:r>
              <a:rPr sz="1600" b="0" i="0">
                <a:solidFill>
                  <a:srgbClr val="1F2120"/>
                </a:solidFill>
                <a:latin typeface="Arial"/>
              </a:rPr>
              <a:t>Twenty minutes of syntax makes every AI tool easier to steer and its output easier to reuse.</a:t>
            </a:r>
          </a:p>
          <a:p>
            <a:pPr>
              <a:spcAft>
                <a:spcPts val="700"/>
              </a:spcAft>
            </a:pPr>
            <a:r>
              <a:rPr sz="1200" b="1" i="0">
                <a:solidFill>
                  <a:srgbClr val="CF3338"/>
                </a:solidFill>
                <a:latin typeface="Arial"/>
              </a:rPr>
              <a:t>▶  </a:t>
            </a:r>
            <a:r>
              <a:rPr sz="1600" b="0" i="0">
                <a:solidFill>
                  <a:srgbClr val="1F2120"/>
                </a:solidFill>
                <a:latin typeface="Arial"/>
              </a:rPr>
              <a:t>Tables round-trip between Excel and chatbots cleanly as Markdown.</a:t>
            </a:r>
          </a:p>
          <a:p>
            <a:pPr>
              <a:spcAft>
                <a:spcPts val="700"/>
              </a:spcAft>
            </a:pPr>
            <a:r>
              <a:rPr sz="1200" b="1" i="0">
                <a:solidFill>
                  <a:srgbClr val="CF3338"/>
                </a:solidFill>
                <a:latin typeface="Arial"/>
              </a:rPr>
              <a:t>▶  </a:t>
            </a:r>
            <a:r>
              <a:rPr sz="1600" b="0" i="0">
                <a:solidFill>
                  <a:srgbClr val="1F2120"/>
                </a:solidFill>
                <a:latin typeface="Arial"/>
              </a:rPr>
              <a:t>No connectors, no licenses, no IT ticket. Just structure.</a:t>
            </a:r>
          </a:p>
          <a:p>
            <a:pPr>
              <a:spcAft>
                <a:spcPts val="700"/>
              </a:spcAft>
            </a:pPr>
            <a:r>
              <a:rPr sz="1200" b="1" i="0">
                <a:solidFill>
                  <a:srgbClr val="CF3338"/>
                </a:solidFill>
                <a:latin typeface="Arial"/>
              </a:rPr>
              <a:t>▶  </a:t>
            </a:r>
            <a:r>
              <a:rPr sz="1600" b="0" i="0">
                <a:solidFill>
                  <a:srgbClr val="1F2120"/>
                </a:solidFill>
                <a:latin typeface="Arial"/>
              </a:rPr>
              <a:t>Speaking the machine's language is the cheapest AI upgrade there 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Rectangle 1"/>
          <p:cNvSpPr/>
          <p:nvPr/>
        </p:nvSpPr>
        <p:spPr>
          <a:xfrm>
            <a:off x="9082735" y="0"/>
            <a:ext cx="3108960" cy="6858000"/>
          </a:xfrm>
          <a:prstGeom prst="rect">
            <a:avLst/>
          </a:prstGeom>
          <a:solidFill>
            <a:srgbClr val="CF3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311335" y="640080"/>
            <a:ext cx="2468880" cy="1828800"/>
          </a:xfrm>
          <a:prstGeom prst="rect">
            <a:avLst/>
          </a:prstGeom>
          <a:noFill/>
        </p:spPr>
        <p:txBody>
          <a:bodyPr wrap="square" lIns="0" rIns="0" tIns="0" bIns="0">
            <a:spAutoFit/>
          </a:bodyPr>
          <a:lstStyle/>
          <a:p>
            <a:r>
              <a:rPr sz="2600" b="1" i="0">
                <a:solidFill>
                  <a:srgbClr val="FFFFFF"/>
                </a:solidFill>
                <a:latin typeface="Arial Black"/>
              </a:rPr>
              <a:t>LIVE</a:t>
            </a:r>
          </a:p>
          <a:p>
            <a:r>
              <a:rPr sz="2600" b="1" i="0">
                <a:solidFill>
                  <a:srgbClr val="FFFFFF"/>
                </a:solidFill>
                <a:latin typeface="Arial Black"/>
              </a:rPr>
              <a:t>DEMO</a:t>
            </a:r>
          </a:p>
        </p:txBody>
      </p:sp>
      <p:sp>
        <p:nvSpPr>
          <p:cNvPr id="4" name="TextBox 3"/>
          <p:cNvSpPr txBox="1"/>
          <p:nvPr/>
        </p:nvSpPr>
        <p:spPr>
          <a:xfrm>
            <a:off x="548640" y="411480"/>
            <a:ext cx="8229600" cy="1097280"/>
          </a:xfrm>
          <a:prstGeom prst="rect">
            <a:avLst/>
          </a:prstGeom>
          <a:noFill/>
        </p:spPr>
        <p:txBody>
          <a:bodyPr wrap="square" lIns="0" rIns="0" tIns="0" bIns="0">
            <a:spAutoFit/>
          </a:bodyPr>
          <a:lstStyle/>
          <a:p>
            <a:r>
              <a:rPr sz="2500" b="1" i="0">
                <a:solidFill>
                  <a:srgbClr val="CF3338"/>
                </a:solidFill>
                <a:latin typeface="Arial Black"/>
              </a:rPr>
              <a:t>Live demo: structure beats the blob</a:t>
            </a:r>
          </a:p>
          <a:p>
            <a:pPr>
              <a:spcBef>
                <a:spcPts val="300"/>
              </a:spcBef>
            </a:pPr>
            <a:r>
              <a:rPr sz="1450" b="0" i="1">
                <a:solidFill>
                  <a:srgbClr val="707070"/>
                </a:solidFill>
                <a:latin typeface="Arial"/>
              </a:rPr>
              <a:t>Same request, two prompts. Watch the quality gap.</a:t>
            </a:r>
          </a:p>
        </p:txBody>
      </p:sp>
      <p:sp>
        <p:nvSpPr>
          <p:cNvPr id="5" name="Rounded Rectangle 4"/>
          <p:cNvSpPr/>
          <p:nvPr/>
        </p:nvSpPr>
        <p:spPr>
          <a:xfrm>
            <a:off x="548640" y="1600200"/>
            <a:ext cx="8229600" cy="4023360"/>
          </a:xfrm>
          <a:prstGeom prst="round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182880" tIns="182880" bIns="109728"/>
          <a:lstStyle/>
          <a:p>
            <a:pPr algn="l">
              <a:spcAft>
                <a:spcPts val="100"/>
              </a:spcAft>
            </a:pPr>
            <a:r>
              <a:rPr sz="1300" b="0" i="0">
                <a:solidFill>
                  <a:srgbClr val="9EC57A"/>
                </a:solidFill>
                <a:latin typeface="Consolas"/>
              </a:rPr>
              <a:t># The blob prompt (what most people send)</a:t>
            </a:r>
          </a:p>
          <a:p>
            <a:pPr algn="l">
              <a:spcAft>
                <a:spcPts val="100"/>
              </a:spcAft>
            </a:pPr>
            <a:r>
              <a:rPr sz="1300" b="0" i="0">
                <a:solidFill>
                  <a:srgbClr val="F5F5F5"/>
                </a:solidFill>
                <a:latin typeface="Consolas"/>
              </a:rPr>
              <a:t>summarize this sales data and tell me whats important</a:t>
            </a:r>
          </a:p>
          <a:p>
            <a:pPr algn="l">
              <a:spcAft>
                <a:spcPts val="100"/>
              </a:spcAft>
            </a:pPr>
            <a:r>
              <a:rPr sz="1300" b="0" i="0">
                <a:solidFill>
                  <a:srgbClr val="F5F5F5"/>
                </a:solidFill>
                <a:latin typeface="Consolas"/>
              </a:rPr>
              <a:t>[messy paste of the whole export]</a:t>
            </a:r>
          </a:p>
          <a:p>
            <a:pPr algn="l">
              <a:spcAft>
                <a:spcPts val="100"/>
              </a:spcAft>
            </a:pPr>
            <a:r>
              <a:rPr sz="1300" b="0" i="0">
                <a:solidFill>
                  <a:srgbClr val="F5F5F5"/>
                </a:solidFill>
                <a:latin typeface="Consolas"/>
              </a:rPr>
              <a:t> </a:t>
            </a:r>
          </a:p>
          <a:p>
            <a:pPr algn="l">
              <a:spcAft>
                <a:spcPts val="100"/>
              </a:spcAft>
            </a:pPr>
            <a:r>
              <a:rPr sz="1300" b="0" i="0">
                <a:solidFill>
                  <a:srgbClr val="9EC57A"/>
                </a:solidFill>
                <a:latin typeface="Consolas"/>
              </a:rPr>
              <a:t># Quarterly regional sales review</a:t>
            </a:r>
          </a:p>
          <a:p>
            <a:pPr algn="l">
              <a:spcAft>
                <a:spcPts val="100"/>
              </a:spcAft>
            </a:pPr>
            <a:r>
              <a:rPr sz="1300" b="0" i="0">
                <a:solidFill>
                  <a:srgbClr val="9EC57A"/>
                </a:solidFill>
                <a:latin typeface="Consolas"/>
              </a:rPr>
              <a:t>## Role</a:t>
            </a:r>
          </a:p>
          <a:p>
            <a:pPr algn="l">
              <a:spcAft>
                <a:spcPts val="100"/>
              </a:spcAft>
            </a:pPr>
            <a:r>
              <a:rPr sz="1300" b="0" i="0">
                <a:solidFill>
                  <a:srgbClr val="F5F5F5"/>
                </a:solidFill>
                <a:latin typeface="Consolas"/>
              </a:rPr>
              <a:t>You are an FP&amp;A analyst reviewing regional sales.</a:t>
            </a:r>
          </a:p>
          <a:p>
            <a:pPr algn="l">
              <a:spcAft>
                <a:spcPts val="100"/>
              </a:spcAft>
            </a:pPr>
            <a:r>
              <a:rPr sz="1300" b="0" i="0">
                <a:solidFill>
                  <a:srgbClr val="9EC57A"/>
                </a:solidFill>
                <a:latin typeface="Consolas"/>
              </a:rPr>
              <a:t>## Task</a:t>
            </a:r>
          </a:p>
          <a:p>
            <a:pPr algn="l">
              <a:spcAft>
                <a:spcPts val="100"/>
              </a:spcAft>
            </a:pPr>
            <a:r>
              <a:rPr sz="1300" b="0" i="0">
                <a:solidFill>
                  <a:srgbClr val="F5F5F5"/>
                </a:solidFill>
                <a:latin typeface="Consolas"/>
              </a:rPr>
              <a:t>- Summarize performance by region</a:t>
            </a:r>
          </a:p>
          <a:p>
            <a:pPr algn="l">
              <a:spcAft>
                <a:spcPts val="100"/>
              </a:spcAft>
            </a:pPr>
            <a:r>
              <a:rPr sz="1300" b="0" i="0">
                <a:solidFill>
                  <a:srgbClr val="F5F5F5"/>
                </a:solidFill>
                <a:latin typeface="Consolas"/>
              </a:rPr>
              <a:t>- Flag any region trailing the others</a:t>
            </a:r>
          </a:p>
          <a:p>
            <a:pPr algn="l">
              <a:spcAft>
                <a:spcPts val="100"/>
              </a:spcAft>
            </a:pPr>
            <a:r>
              <a:rPr sz="1300" b="0" i="0">
                <a:solidFill>
                  <a:srgbClr val="F5F5F5"/>
                </a:solidFill>
                <a:latin typeface="Consolas"/>
              </a:rPr>
              <a:t>- Suggest two follow-up questions</a:t>
            </a:r>
          </a:p>
          <a:p>
            <a:pPr algn="l">
              <a:spcAft>
                <a:spcPts val="100"/>
              </a:spcAft>
            </a:pPr>
            <a:r>
              <a:rPr sz="1300" b="0" i="0">
                <a:solidFill>
                  <a:srgbClr val="9EC57A"/>
                </a:solidFill>
                <a:latin typeface="Consolas"/>
              </a:rPr>
              <a:t>## Data</a:t>
            </a:r>
          </a:p>
          <a:p>
            <a:pPr algn="l">
              <a:spcAft>
                <a:spcPts val="100"/>
              </a:spcAft>
            </a:pPr>
            <a:r>
              <a:rPr sz="1300" b="0" i="0">
                <a:solidFill>
                  <a:srgbClr val="F5F5F5"/>
                </a:solidFill>
                <a:latin typeface="Consolas"/>
              </a:rPr>
              <a:t>... (full prompt in today's demo file)</a:t>
            </a:r>
          </a:p>
        </p:txBody>
      </p:sp>
      <p:sp>
        <p:nvSpPr>
          <p:cNvPr id="6" name="TextBox 5"/>
          <p:cNvSpPr txBox="1"/>
          <p:nvPr/>
        </p:nvSpPr>
        <p:spPr>
          <a:xfrm>
            <a:off x="548640" y="5806440"/>
            <a:ext cx="8229600" cy="777240"/>
          </a:xfrm>
          <a:prstGeom prst="rect">
            <a:avLst/>
          </a:prstGeom>
          <a:noFill/>
        </p:spPr>
        <p:txBody>
          <a:bodyPr wrap="square" lIns="0" rIns="0" tIns="0" bIns="0">
            <a:spAutoFit/>
          </a:bodyPr>
          <a:lstStyle/>
          <a:p>
            <a:r>
              <a:rPr sz="1300" b="1" i="0">
                <a:solidFill>
                  <a:srgbClr val="CF3338"/>
                </a:solidFill>
                <a:latin typeface="Arial"/>
              </a:rPr>
              <a:t>▶  Headings and bullets are steering, and steering is free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Rectangle 1"/>
          <p:cNvSpPr/>
          <p:nvPr/>
        </p:nvSpPr>
        <p:spPr>
          <a:xfrm>
            <a:off x="9082735" y="0"/>
            <a:ext cx="3108960" cy="6858000"/>
          </a:xfrm>
          <a:prstGeom prst="rect">
            <a:avLst/>
          </a:prstGeom>
          <a:solidFill>
            <a:srgbClr val="CF3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311335" y="640080"/>
            <a:ext cx="2468880" cy="1828800"/>
          </a:xfrm>
          <a:prstGeom prst="rect">
            <a:avLst/>
          </a:prstGeom>
          <a:noFill/>
        </p:spPr>
        <p:txBody>
          <a:bodyPr wrap="square" lIns="0" rIns="0" tIns="0" bIns="0">
            <a:spAutoFit/>
          </a:bodyPr>
          <a:lstStyle/>
          <a:p>
            <a:r>
              <a:rPr sz="2600" b="1" i="0">
                <a:solidFill>
                  <a:srgbClr val="FFFFFF"/>
                </a:solidFill>
                <a:latin typeface="Arial Black"/>
              </a:rPr>
              <a:t>LIVE</a:t>
            </a:r>
          </a:p>
          <a:p>
            <a:r>
              <a:rPr sz="2600" b="1" i="0">
                <a:solidFill>
                  <a:srgbClr val="FFFFFF"/>
                </a:solidFill>
                <a:latin typeface="Arial Black"/>
              </a:rPr>
              <a:t>DEMO</a:t>
            </a:r>
          </a:p>
        </p:txBody>
      </p:sp>
      <p:sp>
        <p:nvSpPr>
          <p:cNvPr id="4" name="TextBox 3"/>
          <p:cNvSpPr txBox="1"/>
          <p:nvPr/>
        </p:nvSpPr>
        <p:spPr>
          <a:xfrm>
            <a:off x="548640" y="411480"/>
            <a:ext cx="8229600" cy="1097280"/>
          </a:xfrm>
          <a:prstGeom prst="rect">
            <a:avLst/>
          </a:prstGeom>
          <a:noFill/>
        </p:spPr>
        <p:txBody>
          <a:bodyPr wrap="square" lIns="0" rIns="0" tIns="0" bIns="0">
            <a:spAutoFit/>
          </a:bodyPr>
          <a:lstStyle/>
          <a:p>
            <a:r>
              <a:rPr sz="2500" b="1" i="0">
                <a:solidFill>
                  <a:srgbClr val="CF3338"/>
                </a:solidFill>
                <a:latin typeface="Arial Black"/>
              </a:rPr>
              <a:t>Live demo: the Excel round-trip</a:t>
            </a:r>
          </a:p>
          <a:p>
            <a:pPr>
              <a:spcBef>
                <a:spcPts val="300"/>
              </a:spcBef>
            </a:pPr>
            <a:r>
              <a:rPr sz="1450" b="0" i="1">
                <a:solidFill>
                  <a:srgbClr val="707070"/>
                </a:solidFill>
                <a:latin typeface="Arial"/>
              </a:rPr>
              <a:t>Copy out, Markdown back, Text to Columns. No connectors.</a:t>
            </a:r>
          </a:p>
        </p:txBody>
      </p:sp>
      <p:sp>
        <p:nvSpPr>
          <p:cNvPr id="5" name="Rounded Rectangle 4"/>
          <p:cNvSpPr/>
          <p:nvPr/>
        </p:nvSpPr>
        <p:spPr>
          <a:xfrm>
            <a:off x="548640" y="1600200"/>
            <a:ext cx="8229600" cy="4023360"/>
          </a:xfrm>
          <a:prstGeom prst="round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182880" tIns="182880" bIns="109728"/>
          <a:lstStyle/>
          <a:p>
            <a:pPr algn="l">
              <a:spcAft>
                <a:spcPts val="100"/>
              </a:spcAft>
            </a:pPr>
            <a:r>
              <a:rPr sz="1300" b="0" i="0">
                <a:solidFill>
                  <a:srgbClr val="9EC57A"/>
                </a:solidFill>
                <a:latin typeface="Consolas"/>
              </a:rPr>
              <a:t># Move tables in and out of AI tools</a:t>
            </a:r>
          </a:p>
          <a:p>
            <a:pPr algn="l">
              <a:spcAft>
                <a:spcPts val="100"/>
              </a:spcAft>
            </a:pPr>
            <a:r>
              <a:rPr sz="1300" b="0" i="0">
                <a:solidFill>
                  <a:srgbClr val="F5F5F5"/>
                </a:solidFill>
                <a:latin typeface="Consolas"/>
              </a:rPr>
              <a:t>1. Copy the RegionSummary table in Excel, paste to a chatbot</a:t>
            </a:r>
          </a:p>
          <a:p>
            <a:pPr algn="l">
              <a:spcAft>
                <a:spcPts val="100"/>
              </a:spcAft>
            </a:pPr>
            <a:r>
              <a:rPr sz="1300" b="0" i="0">
                <a:solidFill>
                  <a:srgbClr val="F5F5F5"/>
                </a:solidFill>
                <a:latin typeface="Consolas"/>
              </a:rPr>
              <a:t>2. It arrives as a table the model reads cleanly</a:t>
            </a:r>
          </a:p>
          <a:p>
            <a:pPr algn="l">
              <a:spcAft>
                <a:spcPts val="100"/>
              </a:spcAft>
            </a:pPr>
            <a:r>
              <a:rPr sz="1300" b="0" i="0">
                <a:solidFill>
                  <a:srgbClr val="F5F5F5"/>
                </a:solidFill>
                <a:latin typeface="Consolas"/>
              </a:rPr>
              <a:t>3. Ask for results 'as a Markdown table'</a:t>
            </a:r>
          </a:p>
          <a:p>
            <a:pPr algn="l">
              <a:spcAft>
                <a:spcPts val="100"/>
              </a:spcAft>
            </a:pPr>
            <a:r>
              <a:rPr sz="1300" b="0" i="0">
                <a:solidFill>
                  <a:srgbClr val="F5F5F5"/>
                </a:solidFill>
                <a:latin typeface="Consolas"/>
              </a:rPr>
              <a:t>4. Paste the reply into Excel, then Data &gt; Text to Columns</a:t>
            </a:r>
          </a:p>
          <a:p>
            <a:pPr algn="l">
              <a:spcAft>
                <a:spcPts val="100"/>
              </a:spcAft>
            </a:pPr>
            <a:r>
              <a:rPr sz="1300" b="0" i="0">
                <a:solidFill>
                  <a:srgbClr val="F5F5F5"/>
                </a:solidFill>
                <a:latin typeface="Consolas"/>
              </a:rPr>
              <a:t>5. Delimiter: | (pipe), then trim the empty edge columns</a:t>
            </a:r>
          </a:p>
        </p:txBody>
      </p:sp>
      <p:sp>
        <p:nvSpPr>
          <p:cNvPr id="6" name="TextBox 5"/>
          <p:cNvSpPr txBox="1"/>
          <p:nvPr/>
        </p:nvSpPr>
        <p:spPr>
          <a:xfrm>
            <a:off x="548640" y="5806440"/>
            <a:ext cx="8229600" cy="777240"/>
          </a:xfrm>
          <a:prstGeom prst="rect">
            <a:avLst/>
          </a:prstGeom>
          <a:noFill/>
        </p:spPr>
        <p:txBody>
          <a:bodyPr wrap="square" lIns="0" rIns="0" tIns="0" bIns="0">
            <a:spAutoFit/>
          </a:bodyPr>
          <a:lstStyle/>
          <a:p>
            <a:r>
              <a:rPr sz="1300" b="1" i="0">
                <a:solidFill>
                  <a:srgbClr val="CF3338"/>
                </a:solidFill>
                <a:latin typeface="Arial"/>
              </a:rPr>
              <a:t>▶  The guerrilla data pipeline: copy, paste, pipe, done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188720"/>
          </a:xfrm>
          <a:prstGeom prst="rect">
            <a:avLst/>
          </a:prstGeom>
          <a:noFill/>
        </p:spPr>
        <p:txBody>
          <a:bodyPr wrap="square" lIns="0" rIns="0" tIns="0" bIns="0">
            <a:spAutoFit/>
          </a:bodyPr>
          <a:lstStyle/>
          <a:p>
            <a:r>
              <a:rPr sz="3000" b="1" i="0">
                <a:solidFill>
                  <a:srgbClr val="1F2120"/>
                </a:solidFill>
                <a:latin typeface="Arial Black"/>
              </a:rPr>
              <a:t>Do this at your desk today</a:t>
            </a:r>
          </a:p>
          <a:p>
            <a:pPr>
              <a:spcBef>
                <a:spcPts val="400"/>
              </a:spcBef>
            </a:pPr>
            <a:r>
              <a:rPr sz="1500" b="0" i="1">
                <a:solidFill>
                  <a:srgbClr val="CF3338"/>
                </a:solidFill>
                <a:latin typeface="Arial"/>
              </a:rPr>
              <a:t>The habit that outlasts the week</a:t>
            </a:r>
          </a:p>
        </p:txBody>
      </p:sp>
      <p:sp>
        <p:nvSpPr>
          <p:cNvPr id="3" name="TextBox 2"/>
          <p:cNvSpPr txBox="1"/>
          <p:nvPr/>
        </p:nvSpPr>
        <p:spPr>
          <a:xfrm>
            <a:off x="640080" y="1783080"/>
            <a:ext cx="10881360" cy="4846320"/>
          </a:xfrm>
          <a:prstGeom prst="rect">
            <a:avLst/>
          </a:prstGeom>
          <a:noFill/>
        </p:spPr>
        <p:txBody>
          <a:bodyPr wrap="square" lIns="0" rIns="0" tIns="0" bIns="0">
            <a:spAutoFit/>
          </a:bodyPr>
          <a:lstStyle/>
          <a:p>
            <a:pPr>
              <a:spcAft>
                <a:spcPts val="700"/>
              </a:spcAft>
            </a:pPr>
            <a:r>
              <a:rPr sz="1200" b="1" i="0">
                <a:solidFill>
                  <a:srgbClr val="CF3338"/>
                </a:solidFill>
                <a:latin typeface="Arial"/>
              </a:rPr>
              <a:t>▶  </a:t>
            </a:r>
            <a:r>
              <a:rPr sz="1600" b="0" i="0">
                <a:solidFill>
                  <a:srgbClr val="1F2120"/>
                </a:solidFill>
                <a:latin typeface="Arial"/>
              </a:rPr>
              <a:t>Rewrite your next AI prompt with a heading, a bulleted task list, and a Format section. Compare the answer.</a:t>
            </a:r>
          </a:p>
          <a:p>
            <a:pPr>
              <a:spcAft>
                <a:spcPts val="700"/>
              </a:spcAft>
            </a:pPr>
            <a:r>
              <a:rPr sz="1200" b="1" i="0">
                <a:solidFill>
                  <a:srgbClr val="CF3338"/>
                </a:solidFill>
                <a:latin typeface="Arial"/>
              </a:rPr>
              <a:t>▶  </a:t>
            </a:r>
            <a:r>
              <a:rPr sz="1600" b="0" i="0">
                <a:solidFill>
                  <a:srgbClr val="1F2120"/>
                </a:solidFill>
                <a:latin typeface="Arial"/>
              </a:rPr>
              <a:t>Paste one small Excel table into a chatbot and ask for the reply as a Markdown table.</a:t>
            </a:r>
          </a:p>
          <a:p>
            <a:pPr>
              <a:spcAft>
                <a:spcPts val="700"/>
              </a:spcAft>
            </a:pPr>
            <a:r>
              <a:rPr sz="1200" b="1" i="0">
                <a:solidFill>
                  <a:srgbClr val="CF3338"/>
                </a:solidFill>
                <a:latin typeface="Arial"/>
              </a:rPr>
              <a:t>▶  </a:t>
            </a:r>
            <a:r>
              <a:rPr sz="1600" b="0" i="0">
                <a:solidFill>
                  <a:srgbClr val="1F2120"/>
                </a:solidFill>
                <a:latin typeface="Arial"/>
              </a:rPr>
              <a:t>Save your best prompt as a .md file. That file is reusable craft.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640080"/>
            <a:ext cx="10881360" cy="914400"/>
          </a:xfrm>
          <a:prstGeom prst="rect">
            <a:avLst/>
          </a:prstGeom>
          <a:noFill/>
        </p:spPr>
        <p:txBody>
          <a:bodyPr wrap="square" lIns="0" rIns="0" tIns="0" bIns="0">
            <a:spAutoFit/>
          </a:bodyPr>
          <a:lstStyle/>
          <a:p>
            <a:r>
              <a:rPr sz="2900" b="1" i="0">
                <a:solidFill>
                  <a:srgbClr val="1F2120"/>
                </a:solidFill>
                <a:latin typeface="Arial Black"/>
              </a:rPr>
              <a:t>The week, in numbers</a:t>
            </a:r>
          </a:p>
        </p:txBody>
      </p:sp>
      <p:sp>
        <p:nvSpPr>
          <p:cNvPr id="3" name="TextBox 2"/>
          <p:cNvSpPr txBox="1"/>
          <p:nvPr/>
        </p:nvSpPr>
        <p:spPr>
          <a:xfrm>
            <a:off x="640080" y="2468880"/>
            <a:ext cx="2446020" cy="2560320"/>
          </a:xfrm>
          <a:prstGeom prst="rect">
            <a:avLst/>
          </a:prstGeom>
          <a:noFill/>
        </p:spPr>
        <p:txBody>
          <a:bodyPr wrap="square" lIns="0" rIns="0" tIns="0" bIns="0">
            <a:spAutoFit/>
          </a:bodyPr>
          <a:lstStyle/>
          <a:p>
            <a:r>
              <a:rPr sz="5800" b="1" i="0">
                <a:solidFill>
                  <a:srgbClr val="CF3338"/>
                </a:solidFill>
                <a:latin typeface="Arial Black"/>
              </a:rPr>
              <a:t>5</a:t>
            </a:r>
          </a:p>
          <a:p>
            <a:pPr>
              <a:spcBef>
                <a:spcPts val="600"/>
              </a:spcBef>
            </a:pPr>
            <a:r>
              <a:rPr sz="1500" b="0" i="0">
                <a:solidFill>
                  <a:srgbClr val="707070"/>
                </a:solidFill>
                <a:latin typeface="Arial"/>
              </a:rPr>
              <a:t>twenty-minute wins</a:t>
            </a:r>
          </a:p>
        </p:txBody>
      </p:sp>
      <p:sp>
        <p:nvSpPr>
          <p:cNvPr id="4" name="TextBox 3"/>
          <p:cNvSpPr txBox="1"/>
          <p:nvPr/>
        </p:nvSpPr>
        <p:spPr>
          <a:xfrm>
            <a:off x="3360420" y="2468880"/>
            <a:ext cx="2446020" cy="2560320"/>
          </a:xfrm>
          <a:prstGeom prst="rect">
            <a:avLst/>
          </a:prstGeom>
          <a:noFill/>
        </p:spPr>
        <p:txBody>
          <a:bodyPr wrap="square" lIns="0" rIns="0" tIns="0" bIns="0">
            <a:spAutoFit/>
          </a:bodyPr>
          <a:lstStyle/>
          <a:p>
            <a:r>
              <a:rPr sz="5800" b="1" i="0">
                <a:solidFill>
                  <a:srgbClr val="CF3338"/>
                </a:solidFill>
                <a:latin typeface="Arial Black"/>
              </a:rPr>
              <a:t>0</a:t>
            </a:r>
          </a:p>
          <a:p>
            <a:pPr>
              <a:spcBef>
                <a:spcPts val="600"/>
              </a:spcBef>
            </a:pPr>
            <a:r>
              <a:rPr sz="1500" b="0" i="0">
                <a:solidFill>
                  <a:srgbClr val="707070"/>
                </a:solidFill>
                <a:latin typeface="Arial"/>
              </a:rPr>
              <a:t>licenses required</a:t>
            </a:r>
          </a:p>
        </p:txBody>
      </p:sp>
      <p:sp>
        <p:nvSpPr>
          <p:cNvPr id="5" name="TextBox 4"/>
          <p:cNvSpPr txBox="1"/>
          <p:nvPr/>
        </p:nvSpPr>
        <p:spPr>
          <a:xfrm>
            <a:off x="6080760" y="2468880"/>
            <a:ext cx="2446020" cy="2560320"/>
          </a:xfrm>
          <a:prstGeom prst="rect">
            <a:avLst/>
          </a:prstGeom>
          <a:noFill/>
        </p:spPr>
        <p:txBody>
          <a:bodyPr wrap="square" lIns="0" rIns="0" tIns="0" bIns="0">
            <a:spAutoFit/>
          </a:bodyPr>
          <a:lstStyle/>
          <a:p>
            <a:r>
              <a:rPr sz="5800" b="1" i="0">
                <a:solidFill>
                  <a:srgbClr val="CF3338"/>
                </a:solidFill>
                <a:latin typeface="Arial Black"/>
              </a:rPr>
              <a:t>$0</a:t>
            </a:r>
          </a:p>
          <a:p>
            <a:pPr>
              <a:spcBef>
                <a:spcPts val="600"/>
              </a:spcBef>
            </a:pPr>
            <a:r>
              <a:rPr sz="1500" b="0" i="0">
                <a:solidFill>
                  <a:srgbClr val="707070"/>
                </a:solidFill>
                <a:latin typeface="Arial"/>
              </a:rPr>
              <a:t>spent on tools</a:t>
            </a:r>
          </a:p>
        </p:txBody>
      </p:sp>
      <p:sp>
        <p:nvSpPr>
          <p:cNvPr id="6" name="TextBox 5"/>
          <p:cNvSpPr txBox="1"/>
          <p:nvPr/>
        </p:nvSpPr>
        <p:spPr>
          <a:xfrm>
            <a:off x="8801100" y="2468880"/>
            <a:ext cx="2446020" cy="2560320"/>
          </a:xfrm>
          <a:prstGeom prst="rect">
            <a:avLst/>
          </a:prstGeom>
          <a:noFill/>
        </p:spPr>
        <p:txBody>
          <a:bodyPr wrap="square" lIns="0" rIns="0" tIns="0" bIns="0">
            <a:spAutoFit/>
          </a:bodyPr>
          <a:lstStyle/>
          <a:p>
            <a:r>
              <a:rPr sz="5800" b="1" i="0">
                <a:solidFill>
                  <a:srgbClr val="CF3338"/>
                </a:solidFill>
                <a:latin typeface="Arial Black"/>
              </a:rPr>
              <a:t>1</a:t>
            </a:r>
          </a:p>
          <a:p>
            <a:pPr>
              <a:spcBef>
                <a:spcPts val="600"/>
              </a:spcBef>
            </a:pPr>
            <a:r>
              <a:rPr sz="1500" b="0" i="0">
                <a:solidFill>
                  <a:srgbClr val="707070"/>
                </a:solidFill>
                <a:latin typeface="Arial"/>
              </a:rPr>
              <a:t>ugly export, fully tamed</a:t>
            </a:r>
          </a:p>
        </p:txBody>
      </p:sp>
      <p:sp>
        <p:nvSpPr>
          <p:cNvPr id="7" name="TextBox 6"/>
          <p:cNvSpPr txBox="1"/>
          <p:nvPr/>
        </p:nvSpPr>
        <p:spPr>
          <a:xfrm>
            <a:off x="640080" y="5486400"/>
            <a:ext cx="10881360" cy="822960"/>
          </a:xfrm>
          <a:prstGeom prst="rect">
            <a:avLst/>
          </a:prstGeom>
          <a:noFill/>
        </p:spPr>
        <p:txBody>
          <a:bodyPr wrap="square" lIns="0" rIns="0" tIns="0" bIns="0">
            <a:spAutoFit/>
          </a:bodyPr>
          <a:lstStyle/>
          <a:p>
            <a:r>
              <a:rPr sz="1500" b="0" i="1">
                <a:solidFill>
                  <a:srgbClr val="1F2120"/>
                </a:solidFill>
                <a:latin typeface="Arial"/>
              </a:rPr>
              <a:t>Flash Fill. Tables. Power Query. Python. Markdown. All already on your machine.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005840"/>
          </a:xfrm>
          <a:prstGeom prst="rect">
            <a:avLst/>
          </a:prstGeom>
          <a:noFill/>
        </p:spPr>
        <p:txBody>
          <a:bodyPr wrap="square" lIns="0" rIns="0" tIns="0" bIns="0">
            <a:spAutoFit/>
          </a:bodyPr>
          <a:lstStyle/>
          <a:p>
            <a:r>
              <a:rPr sz="3000" b="1" i="0">
                <a:solidFill>
                  <a:srgbClr val="1F2120"/>
                </a:solidFill>
                <a:latin typeface="Arial Black"/>
              </a:rPr>
              <a:t>Where to go from here</a:t>
            </a:r>
          </a:p>
          <a:p>
            <a:pPr>
              <a:spcBef>
                <a:spcPts val="300"/>
              </a:spcBef>
            </a:pPr>
            <a:r>
              <a:rPr sz="1500" b="0" i="1">
                <a:solidFill>
                  <a:srgbClr val="CF3338"/>
                </a:solidFill>
                <a:latin typeface="Arial"/>
              </a:rPr>
              <a:t>Two paths, and they stack</a:t>
            </a:r>
          </a:p>
        </p:txBody>
      </p:sp>
      <p:sp>
        <p:nvSpPr>
          <p:cNvPr id="3" name="Rounded Rectangle 2"/>
          <p:cNvSpPr/>
          <p:nvPr/>
        </p:nvSpPr>
        <p:spPr>
          <a:xfrm>
            <a:off x="640080" y="1828800"/>
            <a:ext cx="5212080" cy="4389120"/>
          </a:xfrm>
          <a:prstGeom prst="roundRect">
            <a:avLst/>
          </a:prstGeom>
          <a:solidFill>
            <a:srgbClr val="FFFFFF"/>
          </a:solidFill>
          <a:ln w="19050">
            <a:solidFill>
              <a:srgbClr val="CF33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2057400"/>
            <a:ext cx="4617720" cy="3931920"/>
          </a:xfrm>
          <a:prstGeom prst="rect">
            <a:avLst/>
          </a:prstGeom>
          <a:noFill/>
        </p:spPr>
        <p:txBody>
          <a:bodyPr wrap="square" lIns="0" rIns="0" tIns="0" bIns="0">
            <a:spAutoFit/>
          </a:bodyPr>
          <a:lstStyle/>
          <a:p>
            <a:r>
              <a:rPr sz="1800" b="1" i="0">
                <a:solidFill>
                  <a:srgbClr val="CF3338"/>
                </a:solidFill>
                <a:latin typeface="Arial Black"/>
              </a:rPr>
              <a:t>Keep the momentum</a:t>
            </a:r>
          </a:p>
          <a:p>
            <a:pPr>
              <a:spcBef>
                <a:spcPts val="700"/>
              </a:spcBef>
            </a:pPr>
            <a:r>
              <a:rPr sz="1100" b="1" i="0">
                <a:solidFill>
                  <a:srgbClr val="CF3338"/>
                </a:solidFill>
                <a:latin typeface="Arial"/>
              </a:rPr>
              <a:t>▶  </a:t>
            </a:r>
            <a:r>
              <a:rPr sz="1400" b="0" i="0">
                <a:solidFill>
                  <a:srgbClr val="1F2120"/>
                </a:solidFill>
                <a:latin typeface="Arial"/>
              </a:rPr>
              <a:t>Replays of all five sessions live in the membership vault.</a:t>
            </a:r>
          </a:p>
          <a:p>
            <a:pPr>
              <a:spcBef>
                <a:spcPts val="700"/>
              </a:spcBef>
            </a:pPr>
            <a:r>
              <a:rPr sz="1100" b="1" i="0">
                <a:solidFill>
                  <a:srgbClr val="CF3338"/>
                </a:solidFill>
                <a:latin typeface="Arial"/>
              </a:rPr>
              <a:t>▶  </a:t>
            </a:r>
            <a:r>
              <a:rPr sz="1400" b="0" i="0">
                <a:solidFill>
                  <a:srgbClr val="1F2120"/>
                </a:solidFill>
                <a:latin typeface="Arial"/>
              </a:rPr>
              <a:t>Ten dollars a month, cancel anytime, full back catalog included.</a:t>
            </a:r>
          </a:p>
          <a:p>
            <a:pPr>
              <a:spcBef>
                <a:spcPts val="700"/>
              </a:spcBef>
            </a:pPr>
            <a:r>
              <a:rPr sz="1100" b="1" i="0">
                <a:solidFill>
                  <a:srgbClr val="CF3338"/>
                </a:solidFill>
                <a:latin typeface="Arial"/>
              </a:rPr>
              <a:t>▶  </a:t>
            </a:r>
            <a:r>
              <a:rPr sz="1400" b="0" i="0">
                <a:solidFill>
                  <a:srgbClr val="1F2120"/>
                </a:solidFill>
                <a:latin typeface="Arial"/>
              </a:rPr>
              <a:t>Rewatch the demos with the files in front of you.</a:t>
            </a:r>
          </a:p>
        </p:txBody>
      </p:sp>
      <p:sp>
        <p:nvSpPr>
          <p:cNvPr id="5" name="Rounded Rectangle 4"/>
          <p:cNvSpPr/>
          <p:nvPr/>
        </p:nvSpPr>
        <p:spPr>
          <a:xfrm>
            <a:off x="6400800" y="1828800"/>
            <a:ext cx="5212080" cy="4389120"/>
          </a:xfrm>
          <a:prstGeom prst="roundRect">
            <a:avLst/>
          </a:prstGeom>
          <a:solidFill>
            <a:srgbClr val="FFFFFF"/>
          </a:solidFill>
          <a:ln w="19050">
            <a:solidFill>
              <a:srgbClr val="CF33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720840" y="2057400"/>
            <a:ext cx="4617720" cy="3931920"/>
          </a:xfrm>
          <a:prstGeom prst="rect">
            <a:avLst/>
          </a:prstGeom>
          <a:noFill/>
        </p:spPr>
        <p:txBody>
          <a:bodyPr wrap="square" lIns="0" rIns="0" tIns="0" bIns="0">
            <a:spAutoFit/>
          </a:bodyPr>
          <a:lstStyle/>
          <a:p>
            <a:r>
              <a:rPr sz="1800" b="1" i="0">
                <a:solidFill>
                  <a:srgbClr val="CF3338"/>
                </a:solidFill>
                <a:latin typeface="Arial Black"/>
              </a:rPr>
              <a:t>Go deeper in December</a:t>
            </a:r>
          </a:p>
          <a:p>
            <a:pPr>
              <a:spcBef>
                <a:spcPts val="700"/>
              </a:spcBef>
            </a:pPr>
            <a:r>
              <a:rPr sz="1100" b="1" i="0">
                <a:solidFill>
                  <a:srgbClr val="CF3338"/>
                </a:solidFill>
                <a:latin typeface="Arial"/>
              </a:rPr>
              <a:t>▶  </a:t>
            </a:r>
            <a:r>
              <a:rPr sz="1400" b="0" i="0">
                <a:solidFill>
                  <a:srgbClr val="1F2120"/>
                </a:solidFill>
                <a:latin typeface="Arial"/>
              </a:rPr>
              <a:t>AI for Excel in a Week: five live 60-minute sessions.</a:t>
            </a:r>
          </a:p>
          <a:p>
            <a:pPr>
              <a:spcBef>
                <a:spcPts val="700"/>
              </a:spcBef>
            </a:pPr>
            <a:r>
              <a:rPr sz="1100" b="1" i="0">
                <a:solidFill>
                  <a:srgbClr val="CF3338"/>
                </a:solidFill>
                <a:latin typeface="Arial"/>
              </a:rPr>
              <a:t>▶  </a:t>
            </a:r>
            <a:r>
              <a:rPr sz="1400" b="0" i="0">
                <a:solidFill>
                  <a:srgbClr val="1F2120"/>
                </a:solidFill>
                <a:latin typeface="Arial"/>
              </a:rPr>
              <a:t>Everything from this week, hands-on and in depth.</a:t>
            </a:r>
          </a:p>
          <a:p>
            <a:pPr>
              <a:spcBef>
                <a:spcPts val="700"/>
              </a:spcBef>
            </a:pPr>
            <a:r>
              <a:rPr sz="1100" b="1" i="0">
                <a:solidFill>
                  <a:srgbClr val="CF3338"/>
                </a:solidFill>
                <a:latin typeface="Arial"/>
              </a:rPr>
              <a:t>▶  </a:t>
            </a:r>
            <a:r>
              <a:rPr sz="1400" b="0" i="0">
                <a:solidFill>
                  <a:srgbClr val="1F2120"/>
                </a:solidFill>
                <a:latin typeface="Arial"/>
              </a:rPr>
              <a:t>Registration link lands in tomorrow's thank-you email.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C00000"/>
        </a:solidFill>
        <a:effectLst/>
      </p:bgPr>
    </p:bg>
    <p:spTree>
      <p:nvGrpSpPr>
        <p:cNvPr id="1" name=""/>
        <p:cNvGrpSpPr/>
        <p:nvPr/>
      </p:nvGrpSpPr>
      <p:grpSpPr/>
      <p:sp>
        <p:nvSpPr>
          <p:cNvPr id="2" name="TextBox 1"/>
          <p:cNvSpPr txBox="1"/>
          <p:nvPr/>
        </p:nvSpPr>
        <p:spPr>
          <a:xfrm>
            <a:off x="822960" y="2286000"/>
            <a:ext cx="10332720" cy="2743200"/>
          </a:xfrm>
          <a:prstGeom prst="rect">
            <a:avLst/>
          </a:prstGeom>
          <a:noFill/>
        </p:spPr>
        <p:txBody>
          <a:bodyPr wrap="square" lIns="0" rIns="0" tIns="0" bIns="0">
            <a:spAutoFit/>
          </a:bodyPr>
          <a:lstStyle/>
          <a:p>
            <a:r>
              <a:rPr sz="1600" b="1" i="0">
                <a:solidFill>
                  <a:srgbClr val="FFFFFF"/>
                </a:solidFill>
                <a:latin typeface="Arial Black"/>
              </a:rPr>
              <a:t>THANK YOU</a:t>
            </a:r>
          </a:p>
          <a:p>
            <a:pPr>
              <a:spcBef>
                <a:spcPts val="800"/>
              </a:spcBef>
            </a:pPr>
            <a:r>
              <a:rPr sz="3600" b="1" i="0">
                <a:solidFill>
                  <a:srgbClr val="FFFFFF"/>
                </a:solidFill>
                <a:latin typeface="Arial Black"/>
              </a:rPr>
              <a:t>Five days, five wins, zero licenses</a:t>
            </a:r>
          </a:p>
          <a:p>
            <a:pPr>
              <a:spcBef>
                <a:spcPts val="1400"/>
              </a:spcBef>
            </a:pPr>
            <a:r>
              <a:rPr sz="1800" b="0" i="0">
                <a:solidFill>
                  <a:srgbClr val="FFFFFF"/>
                </a:solidFill>
                <a:latin typeface="Arial"/>
              </a:rPr>
              <a:t>Watch your inbox for the thank-you email with links, files, and the December cohort.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
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is Guerrilla AI for Excel, day 4 of 5. I'm George Mount from Stringfest Analytics. Here is the idea behind this whole series. You do not need a Copilot license, a budget line, or IT's permission to work like an AI-powered analyst. Guerrilla AI means being crafty with what is already installed on your machine: the machine learning Excel has quietly shipped for years, the structural habits that make any AI dramatically better at reading your work, and the free tools that close the gap. Today's twenty-minute win: running real Python, pandas and seaborn, inside Excel with no install and no permission slip. We have one live demo block and then two or three things you can do at your own desk this afternoon. Let's go. If you have ever been told data science requires a whole new toolchain, today is for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in thirty seconds. Monday, the machine learning already in Excel. Tuesday, tables and structured references made the workbook machine-readable. Yesterday, Power Query recorded the cleanup once, and one Refresh click replayed it on June's data. The takeaway: one hour of Power Query replaces a recurring chore forever. Today we point something much more powerful at that clean SalesClean table, and it has been hiding behind an equals sign the whole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guerrilla hook. Inside current Microsoft 365 Excel there is a formula called PY, and behind it sits a full Python runtime with pandas and seaborn, the same libraries professional data scientists use every day. It runs in Microsoft's cloud, which means no install, no admin rights, and no IT ticket. You type equals PY and you are in. Now the guerrilla part. The classic objection to Python is that you have to learn to write it. But free chatbots write competent Python, and they are especially good at exactly the small, well-described analysis tasks an analyst needs. So the workflow is: describe what you want in plain English, let the chatbot draft the code, paste it into a PY cell, run it against your table, and judge the result. You already have a data science environment. The craft is knowing how to ask for the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of orientation before the demo. When I type equals PY and an open paren in a cell, the formula bar becomes a small Python editor. The bridge between the grid and Python is a function called xl. When I write xl of SalesClean bracket hash All, headers true, Excel hands the whole table to pandas as a DataFrame, which is just Python's word for a table. The essentials are preloaded: pandas is already there as pd, seaborn as sns, so today's demo needs zero import statements. Whatever the code produces, a table of numbers or a chart, spills back into the grid like any other formula result. And notice: it wants a clean, named table. Wednesday's work was the price of admission, and we already paid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block. I click a cell to the right of the data, type equals PY, and enter two lines: df equals xl SalesClean hash All, headers true, then df dot describe. Control Enter runs it. Out spills a statistical profile of every numeric column: count, mean, standard deviation, min, max, quartiles. That summary would take a dozen formulas the manual way. Second block, in the next cell down: df dot groupby Region, take Amount, sum it, sort it descending. One line, and it answers the question we have asked all week, total sales by region, biggest first. Compare that with Monday, when we needed a PivotTable, and notice the answer is finally trustworthy because the regions are clean. Same question all week, better tools every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block, and this is the workflow slide. Suppose I do not know seaborn. I ask a free chatbot: I have an Excel table called SalesClean with Region and Amount columns, give me Python for a bar chart of total sales by region, for a PY cell in Excel, colored CF3338. That hex code is Stringfest red, because brand matters even in a demo. The chatbot returns roughly what you see here: group the totals, then sns dot barplot. I paste it into a PY cell, run it, and a chart spills into the grid. Right-click, display plot over cells, and there it is, a presentable chart. The skill I actually used was describing my table and my goal precisely. Tomorrow is entirely about getting better at that describing, because it turns out there is a language for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 actions. One: type equals PY open paren in any cell of a current Microsoft 365 workbook, just to watch the editor appear. If it does not, note that availability depends on your Microsoft 365 plan and channel, worth one question to IT, and everything else this week still works. Two: point df equals xl at a table you own, run df dot describe, and read the profile. Three: ask a free chatbot for one seaborn chart of your table and paste the code into a PY cell. Describe your columns when you ask. That one-sentence description is tomorrow's topic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we close the week with the cheapest upgrade in the whole series: Markdown, the formatting language every AI tool reads and writes. Twenty minutes of syntax that makes every prompt sharper and every answer easier to reuse, including a trick for moving tables between Excel and any chatbot with no connectors at all. Noon Eastern, one last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day 4. Recap: a real Python lab lives behind equals PY, xl hands it your clean tables, and free chatbots will write the code if you describe the goal well. Replay in the membership vault. Thanks, everyone. Tomorrow we finish the week strong.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2103120"/>
            <a:ext cx="10607040" cy="3291840"/>
          </a:xfrm>
          <a:prstGeom prst="rect">
            <a:avLst/>
          </a:prstGeom>
          <a:noFill/>
        </p:spPr>
        <p:txBody>
          <a:bodyPr wrap="square" lIns="0" rIns="0" tIns="0" bIns="0">
            <a:spAutoFit/>
          </a:bodyPr>
          <a:lstStyle/>
          <a:p>
            <a:r>
              <a:rPr sz="1500" b="1" i="0">
                <a:solidFill>
                  <a:srgbClr val="CF3338"/>
                </a:solidFill>
                <a:latin typeface="Arial Black"/>
              </a:rPr>
              <a:t>GUERRILLA AI FOR EXCEL. A LIVE SERIES, DAY 4 OF 5</a:t>
            </a:r>
          </a:p>
          <a:p>
            <a:pPr>
              <a:spcBef>
                <a:spcPts val="1000"/>
              </a:spcBef>
            </a:pPr>
            <a:r>
              <a:rPr sz="4200" b="1" i="0">
                <a:solidFill>
                  <a:srgbClr val="1F2120"/>
                </a:solidFill>
                <a:latin typeface="Arial Black"/>
              </a:rPr>
              <a:t>A data science lab behind =PY()</a:t>
            </a:r>
          </a:p>
          <a:p>
            <a:pPr>
              <a:spcBef>
                <a:spcPts val="1400"/>
              </a:spcBef>
            </a:pPr>
            <a:r>
              <a:rPr sz="2000" b="0" i="0">
                <a:solidFill>
                  <a:srgbClr val="707070"/>
                </a:solidFill>
                <a:latin typeface="Arial"/>
              </a:rPr>
              <a:t>pandas, seaborn, and a chatbot that writes the code for you.</a:t>
            </a:r>
          </a:p>
        </p:txBody>
      </p:sp>
      <p:sp>
        <p:nvSpPr>
          <p:cNvPr id="3" name="TextBox 2"/>
          <p:cNvSpPr txBox="1"/>
          <p:nvPr/>
        </p:nvSpPr>
        <p:spPr>
          <a:xfrm>
            <a:off x="640080" y="6080760"/>
            <a:ext cx="10972800" cy="457200"/>
          </a:xfrm>
          <a:prstGeom prst="rect">
            <a:avLst/>
          </a:prstGeom>
          <a:noFill/>
        </p:spPr>
        <p:txBody>
          <a:bodyPr wrap="square" lIns="0" rIns="0" tIns="0" bIns="0">
            <a:spAutoFit/>
          </a:bodyPr>
          <a:lstStyle/>
          <a:p>
            <a:r>
              <a:rPr sz="1300" b="0" i="1">
                <a:solidFill>
                  <a:srgbClr val="707070"/>
                </a:solidFill>
                <a:latin typeface="Arial"/>
              </a:rPr>
              <a:t>Live Mon Sep 28 to Fri Oct 2, 12:00 to 12:20 PM ET. Sessions are recorded.</a:t>
            </a:r>
          </a:p>
        </p:txBody>
      </p:sp>
      <p:sp>
        <p:nvSpPr>
          <p:cNvPr id="4" name="TextBox 3"/>
          <p:cNvSpPr txBox="1"/>
          <p:nvPr/>
        </p:nvSpPr>
        <p:spPr>
          <a:xfrm>
            <a:off x="457200" y="384048"/>
            <a:ext cx="4114800" cy="365760"/>
          </a:xfrm>
          <a:prstGeom prst="rect">
            <a:avLst/>
          </a:prstGeom>
          <a:noFill/>
        </p:spPr>
        <p:txBody>
          <a:bodyPr wrap="square" lIns="0" rIns="0" tIns="0" bIns="0">
            <a:spAutoFit/>
          </a:bodyPr>
          <a:lstStyle/>
          <a:p>
            <a:r>
              <a:rPr sz="1300" b="1" i="0">
                <a:solidFill>
                  <a:srgbClr val="CF3338"/>
                </a:solidFill>
                <a:latin typeface="Arial Black"/>
              </a:rPr>
              <a:t>STRINGFEST ANALYTICS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Yesterday in 30 seconds</a:t>
            </a:r>
          </a:p>
          <a:p>
            <a:pPr>
              <a:spcBef>
                <a:spcPts val="400"/>
              </a:spcBef>
            </a:pPr>
            <a:r>
              <a:rPr sz="1500" b="0" i="1">
                <a:solidFill>
                  <a:srgbClr val="CF3338"/>
                </a:solidFill>
                <a:latin typeface="Arial"/>
              </a:rPr>
              <a:t>One dataset, five wins, zero licenses</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Day 3 was Clean data so AI doesn't lie to you.</a:t>
            </a:r>
          </a:p>
          <a:p>
            <a:pPr>
              <a:spcAft>
                <a:spcPts val="700"/>
              </a:spcAft>
            </a:pPr>
            <a:r>
              <a:rPr sz="1200" b="1" i="0">
                <a:solidFill>
                  <a:srgbClr val="CF3338"/>
                </a:solidFill>
                <a:latin typeface="Arial"/>
              </a:rPr>
              <a:t>▶  </a:t>
            </a:r>
            <a:r>
              <a:rPr sz="1600" b="0" i="0">
                <a:solidFill>
                  <a:srgbClr val="1F2120"/>
                </a:solidFill>
                <a:latin typeface="Arial"/>
              </a:rPr>
              <a:t>One hour of Power Query replaces a recurring cleanup chore forever.</a:t>
            </a:r>
          </a:p>
          <a:p>
            <a:pPr>
              <a:spcAft>
                <a:spcPts val="700"/>
              </a:spcAft>
            </a:pPr>
            <a:r>
              <a:rPr sz="1200" b="1" i="0">
                <a:solidFill>
                  <a:srgbClr val="CF3338"/>
                </a:solidFill>
                <a:latin typeface="Arial"/>
              </a:rPr>
              <a:t>▶  </a:t>
            </a:r>
            <a:r>
              <a:rPr sz="1600" b="0" i="0">
                <a:solidFill>
                  <a:srgbClr val="1F2120"/>
                </a:solidFill>
                <a:latin typeface="Arial"/>
              </a:rPr>
              <a:t>Same dataset today. Every day builds on the last.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Why this counts as AI</a:t>
            </a:r>
          </a:p>
          <a:p>
            <a:pPr>
              <a:spcBef>
                <a:spcPts val="400"/>
              </a:spcBef>
            </a:pPr>
            <a:r>
              <a:rPr sz="1500" b="0" i="1">
                <a:solidFill>
                  <a:srgbClr val="CF3338"/>
                </a:solidFill>
                <a:latin typeface="Arial"/>
              </a:rPr>
              <a:t>The guerrilla hook, day 4</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A full Python runtime with pandas and seaborn ships inside Excel. It runs in Microsoft's cloud.</a:t>
            </a:r>
          </a:p>
          <a:p>
            <a:pPr>
              <a:spcAft>
                <a:spcPts val="700"/>
              </a:spcAft>
            </a:pPr>
            <a:r>
              <a:rPr sz="1200" b="1" i="0">
                <a:solidFill>
                  <a:srgbClr val="CF3338"/>
                </a:solidFill>
                <a:latin typeface="Arial"/>
              </a:rPr>
              <a:t>▶  </a:t>
            </a:r>
            <a:r>
              <a:rPr sz="1600" b="0" i="0">
                <a:solidFill>
                  <a:srgbClr val="1F2120"/>
                </a:solidFill>
                <a:latin typeface="Arial"/>
              </a:rPr>
              <a:t>No install, no admin rights, no IT ticket.</a:t>
            </a:r>
          </a:p>
          <a:p>
            <a:pPr>
              <a:spcAft>
                <a:spcPts val="700"/>
              </a:spcAft>
            </a:pPr>
            <a:r>
              <a:rPr sz="1200" b="1" i="0">
                <a:solidFill>
                  <a:srgbClr val="CF3338"/>
                </a:solidFill>
                <a:latin typeface="Arial"/>
              </a:rPr>
              <a:t>▶  </a:t>
            </a:r>
            <a:r>
              <a:rPr sz="1600" b="0" i="0">
                <a:solidFill>
                  <a:srgbClr val="1F2120"/>
                </a:solidFill>
                <a:latin typeface="Arial"/>
              </a:rPr>
              <a:t>Free chatbots write competent Python. Describe what you want, paste it into a PY cell, run it.</a:t>
            </a:r>
          </a:p>
          <a:p>
            <a:pPr>
              <a:spcAft>
                <a:spcPts val="700"/>
              </a:spcAft>
            </a:pPr>
            <a:r>
              <a:rPr sz="1200" b="1" i="0">
                <a:solidFill>
                  <a:srgbClr val="CF3338"/>
                </a:solidFill>
                <a:latin typeface="Arial"/>
              </a:rPr>
              <a:t>▶  </a:t>
            </a:r>
            <a:r>
              <a:rPr sz="1600" b="0" i="0">
                <a:solidFill>
                  <a:srgbClr val="1F2120"/>
                </a:solidFill>
                <a:latin typeface="Arial"/>
              </a:rPr>
              <a:t>This is where AI code generation pays off even without Copilot.</a:t>
            </a:r>
          </a:p>
          <a:p>
            <a:pPr>
              <a:spcAft>
                <a:spcPts val="700"/>
              </a:spcAft>
            </a:pPr>
            <a:r>
              <a:rPr sz="1200" b="1" i="0">
                <a:solidFill>
                  <a:srgbClr val="CF3338"/>
                </a:solidFill>
                <a:latin typeface="Arial"/>
              </a:rPr>
              <a:t>▶  </a:t>
            </a:r>
            <a:r>
              <a:rPr sz="1600" b="0" i="0">
                <a:solidFill>
                  <a:srgbClr val="1F2120"/>
                </a:solidFill>
                <a:latin typeface="Arial"/>
              </a:rPr>
              <a:t>You already have a data science environment. The craft is knowing how to ask for the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How PY() sees your workbook</a:t>
            </a:r>
          </a:p>
          <a:p>
            <a:pPr>
              <a:spcBef>
                <a:spcPts val="400"/>
              </a:spcBef>
            </a:pPr>
            <a:r>
              <a:rPr sz="1500" b="0" i="1">
                <a:solidFill>
                  <a:srgbClr val="CF3338"/>
                </a:solidFill>
                <a:latin typeface="Arial"/>
              </a:rPr>
              <a:t>Two code blocks and one chart, all live</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Type =PY( in a cell and Excel switches to a Python editor.</a:t>
            </a:r>
          </a:p>
          <a:p>
            <a:pPr>
              <a:spcAft>
                <a:spcPts val="700"/>
              </a:spcAft>
            </a:pPr>
            <a:r>
              <a:rPr sz="1200" b="1" i="0">
                <a:solidFill>
                  <a:srgbClr val="CF3338"/>
                </a:solidFill>
                <a:latin typeface="Arial"/>
              </a:rPr>
              <a:t>▶  </a:t>
            </a:r>
            <a:r>
              <a:rPr sz="1600" b="0" i="0">
                <a:solidFill>
                  <a:srgbClr val="1F2120"/>
                </a:solidFill>
                <a:latin typeface="Arial"/>
              </a:rPr>
              <a:t>xl("SalesClean[#All]", headers=True) hands your table to pandas as a DataFrame.</a:t>
            </a:r>
          </a:p>
          <a:p>
            <a:pPr>
              <a:spcAft>
                <a:spcPts val="700"/>
              </a:spcAft>
            </a:pPr>
            <a:r>
              <a:rPr sz="1200" b="1" i="0">
                <a:solidFill>
                  <a:srgbClr val="CF3338"/>
                </a:solidFill>
                <a:latin typeface="Arial"/>
              </a:rPr>
              <a:t>▶  </a:t>
            </a:r>
            <a:r>
              <a:rPr sz="1600" b="0" i="0">
                <a:solidFill>
                  <a:srgbClr val="1F2120"/>
                </a:solidFill>
                <a:latin typeface="Arial"/>
              </a:rPr>
              <a:t>pandas is preloaded as pd, seaborn as sns. No imports needed for today's demo.</a:t>
            </a:r>
          </a:p>
          <a:p>
            <a:pPr>
              <a:spcAft>
                <a:spcPts val="700"/>
              </a:spcAft>
            </a:pPr>
            <a:r>
              <a:rPr sz="1200" b="1" i="0">
                <a:solidFill>
                  <a:srgbClr val="CF3338"/>
                </a:solidFill>
                <a:latin typeface="Arial"/>
              </a:rPr>
              <a:t>▶  </a:t>
            </a:r>
            <a:r>
              <a:rPr sz="1600" b="0" i="0">
                <a:solidFill>
                  <a:srgbClr val="1F2120"/>
                </a:solidFill>
                <a:latin typeface="Arial"/>
              </a:rPr>
              <a:t>Results spill back into the grid, numbers or charts.</a:t>
            </a:r>
          </a:p>
          <a:p>
            <a:pPr>
              <a:spcAft>
                <a:spcPts val="700"/>
              </a:spcAft>
            </a:pPr>
            <a:r>
              <a:rPr sz="1200" b="1" i="0">
                <a:solidFill>
                  <a:srgbClr val="CF3338"/>
                </a:solidFill>
                <a:latin typeface="Arial"/>
              </a:rPr>
              <a:t>▶  </a:t>
            </a:r>
            <a:r>
              <a:rPr sz="1600" b="0" i="0">
                <a:solidFill>
                  <a:srgbClr val="1F2120"/>
                </a:solidFill>
                <a:latin typeface="Arial"/>
              </a:rPr>
              <a:t>Yesterday's clean table is exactly the input Python wants.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stats in one cell</a:t>
            </a:r>
          </a:p>
          <a:p>
            <a:pPr>
              <a:spcBef>
                <a:spcPts val="300"/>
              </a:spcBef>
            </a:pPr>
            <a:r>
              <a:rPr sz="1450" b="0" i="1">
                <a:solidFill>
                  <a:srgbClr val="707070"/>
                </a:solidFill>
                <a:latin typeface="Arial"/>
              </a:rPr>
              <a:t>describe(), then a groupby that replaces a pivot.</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Point pandas at the clean table</a:t>
            </a:r>
          </a:p>
          <a:p>
            <a:pPr algn="l">
              <a:spcAft>
                <a:spcPts val="100"/>
              </a:spcAft>
            </a:pPr>
            <a:r>
              <a:rPr sz="1300" b="0" i="0">
                <a:solidFill>
                  <a:srgbClr val="F5F5F5"/>
                </a:solidFill>
                <a:latin typeface="Consolas"/>
              </a:rPr>
              <a:t>df = xl("SalesClean[#All]", headers=True)</a:t>
            </a:r>
          </a:p>
          <a:p>
            <a:pPr algn="l">
              <a:spcAft>
                <a:spcPts val="100"/>
              </a:spcAft>
            </a:pPr>
            <a:r>
              <a:rPr sz="1300" b="0" i="0">
                <a:solidFill>
                  <a:srgbClr val="F5F5F5"/>
                </a:solidFill>
                <a:latin typeface="Consolas"/>
              </a:rPr>
              <a:t>df.describe()</a:t>
            </a:r>
          </a:p>
          <a:p>
            <a:pPr algn="l">
              <a:spcAft>
                <a:spcPts val="100"/>
              </a:spcAft>
            </a:pPr>
            <a:r>
              <a:rPr sz="1300" b="0" i="0">
                <a:solidFill>
                  <a:srgbClr val="9EC57A"/>
                </a:solidFill>
                <a:latin typeface="Consolas"/>
              </a:rPr>
              <a:t># Total sales by region, biggest first</a:t>
            </a:r>
          </a:p>
          <a:p>
            <a:pPr algn="l">
              <a:spcAft>
                <a:spcPts val="100"/>
              </a:spcAft>
            </a:pPr>
            <a:r>
              <a:rPr sz="1300" b="0" i="0">
                <a:solidFill>
                  <a:srgbClr val="F5F5F5"/>
                </a:solidFill>
                <a:latin typeface="Consolas"/>
              </a:rPr>
              <a:t>df.groupby("Region")["Amount"].sum().sort_values(ascending=False)</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Analysis that took a pivot and six clicks, in one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Rectangle 1"/>
          <p:cNvSpPr/>
          <p:nvPr/>
        </p:nvSpPr>
        <p:spPr>
          <a:xfrm>
            <a:off x="9082735" y="0"/>
            <a:ext cx="3108960" cy="6858000"/>
          </a:xfrm>
          <a:prstGeom prst="rect">
            <a:avLst/>
          </a:prstGeom>
          <a:solidFill>
            <a:srgbClr val="CF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311335" y="640080"/>
            <a:ext cx="2468880" cy="1828800"/>
          </a:xfrm>
          <a:prstGeom prst="rect">
            <a:avLst/>
          </a:prstGeom>
          <a:noFill/>
        </p:spPr>
        <p:txBody>
          <a:bodyPr wrap="square" lIns="0" rIns="0" tIns="0" bIns="0">
            <a:spAutoFit/>
          </a:bodyPr>
          <a:lstStyle/>
          <a:p>
            <a:r>
              <a:rPr sz="2600" b="1" i="0">
                <a:solidFill>
                  <a:srgbClr val="FFFFFF"/>
                </a:solidFill>
                <a:latin typeface="Arial Black"/>
              </a:rPr>
              <a:t>LIVE</a:t>
            </a:r>
          </a:p>
          <a:p>
            <a:r>
              <a:rPr sz="2600" b="1" i="0">
                <a:solidFill>
                  <a:srgbClr val="FFFFFF"/>
                </a:solidFill>
                <a:latin typeface="Arial Black"/>
              </a:rPr>
              <a:t>DEMO</a:t>
            </a:r>
          </a:p>
        </p:txBody>
      </p:sp>
      <p:sp>
        <p:nvSpPr>
          <p:cNvPr id="4" name="TextBox 3"/>
          <p:cNvSpPr txBox="1"/>
          <p:nvPr/>
        </p:nvSpPr>
        <p:spPr>
          <a:xfrm>
            <a:off x="548640" y="411480"/>
            <a:ext cx="8229600" cy="1097280"/>
          </a:xfrm>
          <a:prstGeom prst="rect">
            <a:avLst/>
          </a:prstGeom>
          <a:noFill/>
        </p:spPr>
        <p:txBody>
          <a:bodyPr wrap="square" lIns="0" rIns="0" tIns="0" bIns="0">
            <a:spAutoFit/>
          </a:bodyPr>
          <a:lstStyle/>
          <a:p>
            <a:r>
              <a:rPr sz="2500" b="1" i="0">
                <a:solidFill>
                  <a:srgbClr val="CF3338"/>
                </a:solidFill>
                <a:latin typeface="Arial Black"/>
              </a:rPr>
              <a:t>Live demo: the chart a chatbot wrote</a:t>
            </a:r>
          </a:p>
          <a:p>
            <a:pPr>
              <a:spcBef>
                <a:spcPts val="300"/>
              </a:spcBef>
            </a:pPr>
            <a:r>
              <a:rPr sz="1450" b="0" i="1">
                <a:solidFill>
                  <a:srgbClr val="707070"/>
                </a:solidFill>
                <a:latin typeface="Arial"/>
              </a:rPr>
              <a:t>The describe-to-chatbot, paste-to-cell workflow, live.</a:t>
            </a:r>
          </a:p>
        </p:txBody>
      </p:sp>
      <p:sp>
        <p:nvSpPr>
          <p:cNvPr id="5" name="Rounded Rectangle 4"/>
          <p:cNvSpPr/>
          <p:nvPr/>
        </p:nvSpPr>
        <p:spPr>
          <a:xfrm>
            <a:off x="548640" y="1600200"/>
            <a:ext cx="8229600" cy="4023360"/>
          </a:xfrm>
          <a:prstGeom prst="round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182880" tIns="182880" bIns="109728"/>
          <a:lstStyle/>
          <a:p>
            <a:pPr algn="l">
              <a:spcAft>
                <a:spcPts val="100"/>
              </a:spcAft>
            </a:pPr>
            <a:r>
              <a:rPr sz="1300" b="0" i="0">
                <a:solidFill>
                  <a:srgbClr val="9EC57A"/>
                </a:solidFill>
                <a:latin typeface="Consolas"/>
              </a:rPr>
              <a:t># One chart, straight from the table</a:t>
            </a:r>
          </a:p>
          <a:p>
            <a:pPr algn="l">
              <a:spcAft>
                <a:spcPts val="100"/>
              </a:spcAft>
            </a:pPr>
            <a:r>
              <a:rPr sz="1300" b="0" i="0">
                <a:solidFill>
                  <a:srgbClr val="F5F5F5"/>
                </a:solidFill>
                <a:latin typeface="Consolas"/>
              </a:rPr>
              <a:t>totals = df.groupby("Region", as_index=False)["Amount"].sum()</a:t>
            </a:r>
          </a:p>
          <a:p>
            <a:pPr algn="l">
              <a:spcAft>
                <a:spcPts val="100"/>
              </a:spcAft>
            </a:pPr>
            <a:r>
              <a:rPr sz="1300" b="0" i="0">
                <a:solidFill>
                  <a:srgbClr val="F5F5F5"/>
                </a:solidFill>
                <a:latin typeface="Consolas"/>
              </a:rPr>
              <a:t>sns.barplot(data=totals, x="Region", y="Amount", color="#CF3338")</a:t>
            </a:r>
          </a:p>
        </p:txBody>
      </p:sp>
      <p:sp>
        <p:nvSpPr>
          <p:cNvPr id="6" name="TextBox 5"/>
          <p:cNvSpPr txBox="1"/>
          <p:nvPr/>
        </p:nvSpPr>
        <p:spPr>
          <a:xfrm>
            <a:off x="548640" y="5806440"/>
            <a:ext cx="8229600" cy="777240"/>
          </a:xfrm>
          <a:prstGeom prst="rect">
            <a:avLst/>
          </a:prstGeom>
          <a:noFill/>
        </p:spPr>
        <p:txBody>
          <a:bodyPr wrap="square" lIns="0" rIns="0" tIns="0" bIns="0">
            <a:spAutoFit/>
          </a:bodyPr>
          <a:lstStyle/>
          <a:p>
            <a:r>
              <a:rPr sz="1300" b="1" i="0">
                <a:solidFill>
                  <a:srgbClr val="CF3338"/>
                </a:solidFill>
                <a:latin typeface="Arial"/>
              </a:rPr>
              <a:t>▶  Describe what you want. Paste. Run. Judge.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ECE1"/>
        </a:solidFill>
        <a:effectLst/>
      </p:bgPr>
    </p:bg>
    <p:spTree>
      <p:nvGrpSpPr>
        <p:cNvPr id="1" name=""/>
        <p:cNvGrpSpPr/>
        <p:nvPr/>
      </p:nvGrpSpPr>
      <p:grpSpPr/>
      <p:sp>
        <p:nvSpPr>
          <p:cNvPr id="2" name="TextBox 1"/>
          <p:cNvSpPr txBox="1"/>
          <p:nvPr/>
        </p:nvSpPr>
        <p:spPr>
          <a:xfrm>
            <a:off x="640080" y="457200"/>
            <a:ext cx="10881360" cy="1188720"/>
          </a:xfrm>
          <a:prstGeom prst="rect">
            <a:avLst/>
          </a:prstGeom>
          <a:noFill/>
        </p:spPr>
        <p:txBody>
          <a:bodyPr wrap="square" lIns="0" rIns="0" tIns="0" bIns="0">
            <a:spAutoFit/>
          </a:bodyPr>
          <a:lstStyle/>
          <a:p>
            <a:r>
              <a:rPr sz="3000" b="1" i="0">
                <a:solidFill>
                  <a:srgbClr val="1F2120"/>
                </a:solidFill>
                <a:latin typeface="Arial Black"/>
              </a:rPr>
              <a:t>Do this at your desk today</a:t>
            </a:r>
          </a:p>
          <a:p>
            <a:pPr>
              <a:spcBef>
                <a:spcPts val="400"/>
              </a:spcBef>
            </a:pPr>
            <a:r>
              <a:rPr sz="1500" b="0" i="1">
                <a:solidFill>
                  <a:srgbClr val="CF3338"/>
                </a:solidFill>
                <a:latin typeface="Arial"/>
              </a:rPr>
              <a:t>Prove to yourself it is really there</a:t>
            </a:r>
          </a:p>
        </p:txBody>
      </p:sp>
      <p:sp>
        <p:nvSpPr>
          <p:cNvPr id="3" name="TextBox 2"/>
          <p:cNvSpPr txBox="1"/>
          <p:nvPr/>
        </p:nvSpPr>
        <p:spPr>
          <a:xfrm>
            <a:off x="640080" y="1783080"/>
            <a:ext cx="10881360" cy="4846320"/>
          </a:xfrm>
          <a:prstGeom prst="rect">
            <a:avLst/>
          </a:prstGeom>
          <a:noFill/>
        </p:spPr>
        <p:txBody>
          <a:bodyPr wrap="square" lIns="0" rIns="0" tIns="0" bIns="0">
            <a:spAutoFit/>
          </a:bodyPr>
          <a:lstStyle/>
          <a:p>
            <a:pPr>
              <a:spcAft>
                <a:spcPts val="700"/>
              </a:spcAft>
            </a:pPr>
            <a:r>
              <a:rPr sz="1200" b="1" i="0">
                <a:solidFill>
                  <a:srgbClr val="CF3338"/>
                </a:solidFill>
                <a:latin typeface="Arial"/>
              </a:rPr>
              <a:t>▶  </a:t>
            </a:r>
            <a:r>
              <a:rPr sz="1600" b="0" i="0">
                <a:solidFill>
                  <a:srgbClr val="1F2120"/>
                </a:solidFill>
                <a:latin typeface="Arial"/>
              </a:rPr>
              <a:t>Type =PY( in any cell of a Microsoft 365 workbook and see the editor appear.</a:t>
            </a:r>
          </a:p>
          <a:p>
            <a:pPr>
              <a:spcAft>
                <a:spcPts val="700"/>
              </a:spcAft>
            </a:pPr>
            <a:r>
              <a:rPr sz="1200" b="1" i="0">
                <a:solidFill>
                  <a:srgbClr val="CF3338"/>
                </a:solidFill>
                <a:latin typeface="Arial"/>
              </a:rPr>
              <a:t>▶  </a:t>
            </a:r>
            <a:r>
              <a:rPr sz="1600" b="0" i="0">
                <a:solidFill>
                  <a:srgbClr val="1F2120"/>
                </a:solidFill>
                <a:latin typeface="Arial"/>
              </a:rPr>
              <a:t>Point df = xl("YourTable[#All]", headers=True) at a table you own and run df.describe().</a:t>
            </a:r>
          </a:p>
          <a:p>
            <a:pPr>
              <a:spcAft>
                <a:spcPts val="700"/>
              </a:spcAft>
            </a:pPr>
            <a:r>
              <a:rPr sz="1200" b="1" i="0">
                <a:solidFill>
                  <a:srgbClr val="CF3338"/>
                </a:solidFill>
                <a:latin typeface="Arial"/>
              </a:rPr>
              <a:t>▶  </a:t>
            </a:r>
            <a:r>
              <a:rPr sz="1600" b="0" i="0">
                <a:solidFill>
                  <a:srgbClr val="1F2120"/>
                </a:solidFill>
                <a:latin typeface="Arial"/>
              </a:rPr>
              <a:t>Ask a free chatbot for one seaborn chart of your table and paste the code into a PY cell.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TOMORROW</a:t>
            </a:r>
          </a:p>
          <a:p>
            <a:pPr>
              <a:spcBef>
                <a:spcPts val="800"/>
              </a:spcBef>
            </a:pPr>
            <a:r>
              <a:rPr sz="3600" b="1" i="0">
                <a:solidFill>
                  <a:srgbClr val="FFFFFF"/>
                </a:solidFill>
                <a:latin typeface="Arial Black"/>
              </a:rPr>
              <a:t>Markdown: the language AI speaks</a:t>
            </a:r>
          </a:p>
          <a:p>
            <a:pPr>
              <a:spcBef>
                <a:spcPts val="1400"/>
              </a:spcBef>
            </a:pPr>
            <a:r>
              <a:rPr sz="1800" b="0" i="0">
                <a:solidFill>
                  <a:srgbClr val="FFFFFF"/>
                </a:solidFill>
                <a:latin typeface="Arial"/>
              </a:rPr>
              <a:t>The cheapest AI upgrade there is, and the finale of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00000"/>
        </a:solidFill>
        <a:effectLst/>
      </p:bgPr>
    </p:bg>
    <p:spTree>
      <p:nvGrpSpPr>
        <p:cNvPr id="1" name=""/>
        <p:cNvGrpSpPr/>
        <p:nvPr/>
      </p:nvGrpSpPr>
      <p:grpSpPr/>
      <p:sp>
        <p:nvSpPr>
          <p:cNvPr id="2" name="TextBox 1"/>
          <p:cNvSpPr txBox="1"/>
          <p:nvPr/>
        </p:nvSpPr>
        <p:spPr>
          <a:xfrm>
            <a:off x="822960" y="2286000"/>
            <a:ext cx="10332720" cy="2743200"/>
          </a:xfrm>
          <a:prstGeom prst="rect">
            <a:avLst/>
          </a:prstGeom>
          <a:noFill/>
        </p:spPr>
        <p:txBody>
          <a:bodyPr wrap="square" lIns="0" rIns="0" tIns="0" bIns="0">
            <a:spAutoFit/>
          </a:bodyPr>
          <a:lstStyle/>
          <a:p>
            <a:r>
              <a:rPr sz="1600" b="1" i="0">
                <a:solidFill>
                  <a:srgbClr val="FFFFFF"/>
                </a:solidFill>
                <a:latin typeface="Arial Black"/>
              </a:rPr>
              <a:t>THANK YOU</a:t>
            </a:r>
          </a:p>
          <a:p>
            <a:pPr>
              <a:spcBef>
                <a:spcPts val="800"/>
              </a:spcBef>
            </a:pPr>
            <a:r>
              <a:rPr sz="3600" b="1" i="0">
                <a:solidFill>
                  <a:srgbClr val="FFFFFF"/>
                </a:solidFill>
                <a:latin typeface="Arial Black"/>
              </a:rPr>
              <a:t>See you tomorrow at noon Eastern</a:t>
            </a:r>
          </a:p>
          <a:p>
            <a:pPr>
              <a:spcBef>
                <a:spcPts val="1400"/>
              </a:spcBef>
            </a:pPr>
            <a:r>
              <a:rPr sz="1800" b="0" i="0">
                <a:solidFill>
                  <a:srgbClr val="FFFFFF"/>
                </a:solidFill>
                <a:latin typeface="Arial"/>
              </a:rPr>
              <a:t>Replays live in the Stringfest membership vault.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
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a00645002843ab" /><Relationship Type="http://schemas.openxmlformats.org/officeDocument/2006/relationships/extended-properties" Target="/docProps/app.xml" Id="R7cc40fc29adb419c" /><Relationship Type="http://schemas.openxmlformats.org/officeDocument/2006/relationships/officeDocument" Target="/ppt/presentation.xml" Id="R1ea371fa973b48c0" /></Relationships>
</file>

<file path=ppt/presentation.xml><?xml version="1.0" encoding="utf-8"?>
<p:presentation xmlns:p="http://schemas.openxmlformats.org/presentationml/2006/main">
  <p:sldMasterIdLst>
    <p:sldMasterId xmlns:r="http://schemas.openxmlformats.org/officeDocument/2006/relationships" id="2147483648" r:id="R2f718dee64cd4ebd"/>
  </p:sldMasterIdLst>
  <p:notesMasterIdLst>
    <p:notesMasterId xmlns:r="http://schemas.openxmlformats.org/officeDocument/2006/relationships" r:id="R073971a5b5f24f27"/>
  </p:notesMasterIdLst>
  <p:sldIdLst>
    <p:sldId xmlns:r="http://schemas.openxmlformats.org/officeDocument/2006/relationships" id="256" r:id="R9ef6eba2dde3469c"/>
    <p:sldId xmlns:r="http://schemas.openxmlformats.org/officeDocument/2006/relationships" id="257" r:id="R20d1548e2c0645f3"/>
    <p:sldId xmlns:r="http://schemas.openxmlformats.org/officeDocument/2006/relationships" id="258" r:id="R18483e045fff4f13"/>
    <p:sldId xmlns:r="http://schemas.openxmlformats.org/officeDocument/2006/relationships" id="259" r:id="Rada96eb35fae43ae"/>
    <p:sldId xmlns:r="http://schemas.openxmlformats.org/officeDocument/2006/relationships" id="260" r:id="Rcfadca5772a74e33"/>
    <p:sldId xmlns:r="http://schemas.openxmlformats.org/officeDocument/2006/relationships" id="261" r:id="R961b2841e0ce4b1c"/>
    <p:sldId xmlns:r="http://schemas.openxmlformats.org/officeDocument/2006/relationships" id="262" r:id="R6fde871dc46f409e"/>
    <p:sldId xmlns:r="http://schemas.openxmlformats.org/officeDocument/2006/relationships" id="263" r:id="Re8341098ba5f4d9b"/>
    <p:sldId xmlns:r="http://schemas.openxmlformats.org/officeDocument/2006/relationships" id="264" r:id="R1923bcfca7b84da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28df35399fe48fd" /><Relationship Type="http://schemas.openxmlformats.org/officeDocument/2006/relationships/slideMaster" Target="/ppt/slideMasters/slideMaster1.xml" Id="R2f718dee64cd4ebd" /><Relationship Type="http://schemas.openxmlformats.org/officeDocument/2006/relationships/notesMaster" Target="/ppt/notesMasters/notesMaster1.xml" Id="R073971a5b5f24f27" /><Relationship Type="http://schemas.openxmlformats.org/officeDocument/2006/relationships/presProps" Target="/ppt/presProps.xml" Id="Rcfb55c7d98444563" /><Relationship Type="http://schemas.openxmlformats.org/officeDocument/2006/relationships/viewProps" Target="/ppt/viewProps.xml" Id="R24f9b50b1d9a47b5" /><Relationship Type="http://schemas.openxmlformats.org/officeDocument/2006/relationships/tableStyles" Target="/ppt/tableStyles.xml" Id="Rd5d63720508e4017" /><Relationship Type="http://schemas.openxmlformats.org/officeDocument/2006/relationships/slide" Target="/ppt/slides/slide1.xml" Id="R9ef6eba2dde3469c" /><Relationship Type="http://schemas.openxmlformats.org/officeDocument/2006/relationships/slide" Target="/ppt/slides/slide2.xml" Id="R20d1548e2c0645f3" /><Relationship Type="http://schemas.openxmlformats.org/officeDocument/2006/relationships/slide" Target="/ppt/slides/slide3.xml" Id="R18483e045fff4f13" /><Relationship Type="http://schemas.openxmlformats.org/officeDocument/2006/relationships/slide" Target="/ppt/slides/slide4.xml" Id="Rada96eb35fae43ae" /><Relationship Type="http://schemas.openxmlformats.org/officeDocument/2006/relationships/slide" Target="/ppt/slides/slide5.xml" Id="Rcfadca5772a74e33" /><Relationship Type="http://schemas.openxmlformats.org/officeDocument/2006/relationships/slide" Target="/ppt/slides/slide6.xml" Id="R961b2841e0ce4b1c" /><Relationship Type="http://schemas.openxmlformats.org/officeDocument/2006/relationships/slide" Target="/ppt/slides/slide7.xml" Id="R6fde871dc46f409e" /><Relationship Type="http://schemas.openxmlformats.org/officeDocument/2006/relationships/slide" Target="/ppt/slides/slide8.xml" Id="Re8341098ba5f4d9b" /><Relationship Type="http://schemas.openxmlformats.org/officeDocument/2006/relationships/slide" Target="/ppt/slides/slide9.xml" Id="R1923bcfca7b84d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181a3a3aca4c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db48c3fc80414e" /><Relationship Type="http://schemas.openxmlformats.org/officeDocument/2006/relationships/notesMaster" Target="/ppt/notesMasters/notesMaster1.xml" Id="Rd6a39a8e7eca49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b03d5d7ae74eed" /><Relationship Type="http://schemas.openxmlformats.org/officeDocument/2006/relationships/notesMaster" Target="/ppt/notesMasters/notesMaster1.xml" Id="Rf8cdb94eeb4542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e87841cfb94558" /><Relationship Type="http://schemas.openxmlformats.org/officeDocument/2006/relationships/notesMaster" Target="/ppt/notesMasters/notesMaster1.xml" Id="R59fb01262bbd41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dec2eee8a7a49fe" /><Relationship Type="http://schemas.openxmlformats.org/officeDocument/2006/relationships/notesMaster" Target="/ppt/notesMasters/notesMaster1.xml" Id="Rf3e7d456c66646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85e2259d014884" /><Relationship Type="http://schemas.openxmlformats.org/officeDocument/2006/relationships/notesMaster" Target="/ppt/notesMasters/notesMaster1.xml" Id="Raf05a8d61c0b48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bea7c1db8d47d9" /><Relationship Type="http://schemas.openxmlformats.org/officeDocument/2006/relationships/notesMaster" Target="/ppt/notesMasters/notesMaster1.xml" Id="R325ef5ac6bb7431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c3b498d0314134" /><Relationship Type="http://schemas.openxmlformats.org/officeDocument/2006/relationships/notesMaster" Target="/ppt/notesMasters/notesMaster1.xml" Id="R71c149a90f444d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7fc5ed76984a42" /><Relationship Type="http://schemas.openxmlformats.org/officeDocument/2006/relationships/notesMaster" Target="/ppt/notesMasters/notesMaster1.xml" Id="Rc1c9498d162b48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577d1f1dc314a5d" /><Relationship Type="http://schemas.openxmlformats.org/officeDocument/2006/relationships/notesMaster" Target="/ppt/notesMasters/notesMaster1.xml" Id="Rc8fc6ac8f175458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day four. Today I will use Python inside Excel to summarize sales and make a chart. You can judge the result without memorizing the code. Feature availability varies by Microsoft 365 plan and setup, so watching is a complete way to join today.</a:t>
            </a:r>
          </a:p>
          <a:p xmlns:a="http://schemas.openxmlformats.org/drawingml/2006/main">
            <a:r>
              <a:t/>
            </a:r>
          </a:p>
          <a:p xmlns:a="http://schemas.openxmlformats.org/drawingml/2006/main">
            <a:r>
              <a:t>CHAT CUE (about 0:30; budget 15 seconds total)</a:t>
            </a:r>
          </a:p>
          <a:p xmlns:a="http://schemas.openxmlformats.org/drawingml/2006/main">
            <a:r>
              <a:t>SAY: One word in chat: NEW if Python is new to you, or TRIED if you have used it before. No code required. Watching is welcome too.</a:t>
            </a:r>
          </a:p>
          <a:p xmlns:a="http://schemas.openxmlformats.org/drawingml/2006/main">
            <a:r>
              <a:t>PAUSE: Wait silently for 8 seconds. Do not repeat the request.</a:t>
            </a:r>
          </a:p>
          <a:p xmlns:a="http://schemas.openxmlformats.org/drawingml/2006/main">
            <a:r>
              <a:t>IF SOMEONE REPLIES: Acknowledge an actual answer. 'I'll describe what the result means as we go.'</a:t>
            </a:r>
          </a:p>
          <a:p xmlns:a="http://schemas.openxmlformats.org/drawingml/2006/main">
            <a:r>
              <a:t>IF CHAT IS QUIET: Say, "I'll explain the result in everyday Excel terms."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Keep the opening to 60 seconds. Participation is optional. The learning continues even with no chat replies.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Recap in thirty seconds. Monday, the machine learning already in Excel. Tuesday, tables and structured references made the workbook machine-readable. Yesterday, Power Query recorded the cleanup once, and one Refresh click replayed it on June's data. The takeaway: one hour of Power Query replaces a recurring chore forever. Today we point something much more powerful at that clean SalesClean table, and it has been hiding behind an equals sign the whole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Today's guerrilla hook. Inside current Microsoft 365 Excel there is a formula called PY, and behind it sits a full Python runtime with pandas and seaborn, the same libraries professional data scientists use every day. It runs in Microsoft's cloud, which means no install, no admin rights, and no IT ticket. On a supported account and Excel setup, equals PY opens the editor. Now the guerrilla part. The classic objection to Python is that you have to learn to write it. But free chatbots write competent Python, and they are especially good at exactly the small, well-described analysis tasks an analyst needs. So the workflow is: describe what you want in plain English, let the chatbot draft the code, paste it into a PY cell, run it against your table, and judge the result. If Python is available in your Excel, begin by describing the result you need.</a:t>
            </a:r>
          </a:p>
          <a:p xmlns:a="http://schemas.openxmlformats.org/drawingml/2006/main">
            <a:r>
              <a:t/>
            </a:r>
          </a:p>
          <a:p xmlns:a="http://schemas.openxmlformats.org/drawingml/2006/main">
            <a:r>
              <a:t>AVAILABILITY: Do not promise that everyone has this feature. Analyze Data requires Microsoft 365; Python in Excel availability depends on a qualifying account and supported setup. Watching is enough for this session. Sources checked September 27, 2026: https://support.microsoft.com/en-us/excel/analyze-data-in-excel ; https://support.microsoft.com/en-us/excel/python/python-in-excel-availability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minute of orientation before the demo. When I type equals PY and an open paren in a cell, the formula bar becomes a small Python editor. The bridge between the grid and Python is a function called xl. When I write xl of SalesClean bracket hash All, headers true, Excel hands the whole table to pandas as a DataFrame, which is just Python's word for a table. The essentials are preloaded: pandas is already there as pd, seaborn as sns, so today's demo needs zero import statements. Whatever the code produces, a table of numbers or a chart, spills back into the grid like any other formula result. And notice: it wants a clean, named table. Wednesday's work was the price of admission, and we already paid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 CUE (about 7:00; budget 15 seconds total)</a:t>
            </a:r>
          </a:p>
          <a:p xmlns:a="http://schemas.openxmlformats.org/drawingml/2006/main">
            <a:r>
              <a:t>SAY: For total sales by region, should we SUM the amounts or COUNT the orders? Just type SUM or COUNT.</a:t>
            </a:r>
          </a:p>
          <a:p xmlns:a="http://schemas.openxmlformats.org/drawingml/2006/main">
            <a:r>
              <a:t>PAUSE: Wait silently for 8 seconds. Do not repeat the request.</a:t>
            </a:r>
          </a:p>
          <a:p xmlns:a="http://schemas.openxmlformats.org/drawingml/2006/main">
            <a:r>
              <a:t>IF SOMEONE REPLIES: SUM. COUNT answers how many orders. Point to sum() in the code and the resulting regional totals.</a:t>
            </a:r>
          </a:p>
          <a:p xmlns:a="http://schemas.openxmlformats.org/drawingml/2006/main">
            <a:r>
              <a:t>IF CHAT IS QUIET: Say, "I'll use SUM because our question is about sales dollars."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Use this cue at the indicated demo pause. Keep the Excel window visible when the prompt refers to its result.</a:t>
            </a:r>
          </a:p>
          <a:p xmlns:a="http://schemas.openxmlformats.org/drawingml/2006/main">
            <a:r>
              <a:t/>
            </a:r>
          </a:p>
          <a:p xmlns:a="http://schemas.openxmlformats.org/drawingml/2006/main">
            <a:r>
              <a:t>ORIGINAL TEACHING SCRIPT</a:t>
            </a:r>
          </a:p>
          <a:p xmlns:a="http://schemas.openxmlformats.org/drawingml/2006/main">
            <a:r>
              <a:t>First block. I click a cell to the right of the data, type equals PY, and enter two lines: df equals xl SalesClean hash All, headers true, then df dot describe. Control Enter runs it. Out spills a statistical profile of every numeric column: count, mean, standard deviation, min, max, quartiles. That summary would take a dozen formulas the manual way. Second block, in the next cell down: df dot groupby Region, take Amount, sum it, sort it descending. One line, and it answers the question we have asked all week, total sales by region, biggest first. Compare that with Monday, when we needed a PivotTable, and notice the answer is finally trustworthy because the regions are clean. Same question all week, better tools every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 CUE (about 12:00; budget 15 seconds total)</a:t>
            </a:r>
          </a:p>
          <a:p xmlns:a="http://schemas.openxmlformats.org/drawingml/2006/main">
            <a:r>
              <a:t>SAY: Which would help in your work: a chart of SALES or a chart of ORDERS? One word is plenty.</a:t>
            </a:r>
          </a:p>
          <a:p xmlns:a="http://schemas.openxmlformats.org/drawingml/2006/main">
            <a:r>
              <a:t>PAUSE: Wait silently for 8 seconds. Do not repeat the request.</a:t>
            </a:r>
          </a:p>
          <a:p xmlns:a="http://schemas.openxmlformats.org/drawingml/2006/main">
            <a:r>
              <a:t>IF SOMEONE REPLIES: Acknowledge a real choice. Today's chart shows sales. Explain that an orders chart would count order rows instead. Check the plotted sales against the table before calling the chart correct.</a:t>
            </a:r>
          </a:p>
          <a:p xmlns:a="http://schemas.openxmlformats.org/drawingml/2006/main">
            <a:r>
              <a:t>IF CHAT IS QUIET: Say, "I'll show SALES today, then check the bars against our totals."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Use this cue at the indicated demo pause. Keep the Excel window visible when the prompt refers to its result.</a:t>
            </a:r>
          </a:p>
          <a:p xmlns:a="http://schemas.openxmlformats.org/drawingml/2006/main">
            <a:r>
              <a:t/>
            </a:r>
          </a:p>
          <a:p xmlns:a="http://schemas.openxmlformats.org/drawingml/2006/main">
            <a:r>
              <a:t>ORIGINAL TEACHING SCRIPT</a:t>
            </a:r>
          </a:p>
          <a:p xmlns:a="http://schemas.openxmlformats.org/drawingml/2006/main">
            <a:r>
              <a:t>Last block, and this is the workflow slide. Suppose I do not know seaborn. I ask a free chatbot: I have an Excel table called SalesClean with Region and Amount columns, give me Python for a bar chart of total sales by region, for a PY cell in Excel, colored CF3338. That hex code is Stringfest red, because brand matters even in a demo. The chatbot returns roughly what you see here: group the totals, then sns dot barplot. I paste it into a PY cell, run it, and a chart spills into the grid. Right-click, display plot over cells, and there it is, a presentable chart. The skill I actually used was describing my table and my goal precisely. Tomorrow is entirely about getting better at that describing, because it turns out there is a language for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 CUE (about 16:30; budget 15 seconds total)</a:t>
            </a:r>
          </a:p>
          <a:p xmlns:a="http://schemas.openxmlformats.org/drawingml/2006/main">
            <a:r>
              <a:t>SAY: Pick an outcome for later: SUMMARY or CHART. You can answer even if Python is not available in your Excel.</a:t>
            </a:r>
          </a:p>
          <a:p xmlns:a="http://schemas.openxmlformats.org/drawingml/2006/main">
            <a:r>
              <a:t>PAUSE: Wait silently for 8 seconds. Do not repeat the request.</a:t>
            </a:r>
          </a:p>
          <a:p xmlns:a="http://schemas.openxmlformats.org/drawingml/2006/main">
            <a:r>
              <a:t>IF SOMEONE REPLIES: Acknowledge an actual choice. If PY is available, try one code block. If not, use the displayed results to decide what you would ask the tool to do.</a:t>
            </a:r>
          </a:p>
          <a:p xmlns:a="http://schemas.openxmlformats.org/drawingml/2006/main">
            <a:r>
              <a:t>IF CHAT IS QUIET: Say, "I'll start with SUMMARY. Knowing the question comes before choosing the code."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Use this cue before reading the remaining notes.</a:t>
            </a:r>
          </a:p>
          <a:p xmlns:a="http://schemas.openxmlformats.org/drawingml/2006/main">
            <a:r>
              <a:t/>
            </a:r>
          </a:p>
          <a:p xmlns:a="http://schemas.openxmlformats.org/drawingml/2006/main">
            <a:r>
              <a:t>TEACHING SCRIPT
Pick one small next action. You do not need to complete every option. SUMMARY: If PY is available, run the first code block in today's workbook. CHART: Try the chart after loading the table. Check it against the totals. No PY access? Watch the result and choose what you would ask for.</a:t>
            </a:r>
          </a:p>
          <a:p xmlns:a="http://schemas.openxmlformats.org/drawingml/2006/main">
            <a:r>
              <a:t>Desk actions. One: type equals PY open paren in any cell of a current Microsoft 365 workbook, just to watch the editor appear. If it does not, note that availability depends on your Microsoft 365 plan and channel, worth one question to IT, and everything else this week still works. Two: point df equals xl at a table you own, run df dot describe, and read the profile. Three: ask a free chatbot for one seaborn chart of your table and paste the code into a PY cell. Describe your columns when you ask. That one-sentence description is tomorrow's topic in miniature.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Tomorrow we close the week with the cheapest upgrade in the whole series: Markdown, the formatting language every AI tool reads and writes. Twenty minutes of syntax that makes every prompt sharper and every answer easier to reuse, including a trick for moving tables between Excel and any chatbot with no connectors at all. Noon Eastern, one last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 CUE (about 18:30; budget 15 seconds total)</a:t>
            </a:r>
          </a:p>
          <a:p xmlns:a="http://schemas.openxmlformats.org/drawingml/2006/main">
            <a:r>
              <a:t>SAY: Type SETUP, SUMMARY, or CHART if you want that part again. You do not need to know the Python vocabulary.</a:t>
            </a:r>
          </a:p>
          <a:p xmlns:a="http://schemas.openxmlformats.org/drawingml/2006/main">
            <a:r>
              <a:t>PAUSE: Wait silently for 8 seconds. Do not repeat the request.</a:t>
            </a:r>
          </a:p>
          <a:p xmlns:a="http://schemas.openxmlformats.org/drawingml/2006/main">
            <a:r>
              <a:t>IF SOMEONE REPLIES: Answer one actual request. SETUP: PY availability depends on the account and supported Excel setup. SUMMARY: describe gives a numeric profile, groupby sums sales by region. CHART: compare it with the totals.</a:t>
            </a:r>
          </a:p>
          <a:p xmlns:a="http://schemas.openxmlformats.org/drawingml/2006/main">
            <a:r>
              <a:t>IF CHAT IS QUIET: Say, "A useful check is to compare the chart with the numbers. A chart that runs still needs a review." Then continue. Never imply that somebody replied.</a:t>
            </a:r>
          </a:p>
          <a:p xmlns:a="http://schemas.openxmlformats.org/drawingml/2006/main">
            <a:r>
              <a:t>FACILITATION: Acknowledge at most two actual replies, without calling on anyone by name. Accept a letter, a word, or a longer question. If a reply arrives later, acknowledge it at the next natural pause.</a:t>
            </a:r>
          </a:p>
          <a:p xmlns:a="http://schemas.openxmlformats.org/drawingml/2006/main">
            <a:r>
              <a:t/>
            </a:r>
          </a:p>
          <a:p xmlns:a="http://schemas.openxmlformats.org/drawingml/2006/main">
            <a:r>
              <a:t>Use this cue before reading the remaining notes.</a:t>
            </a:r>
          </a:p>
          <a:p xmlns:a="http://schemas.openxmlformats.org/drawingml/2006/main">
            <a:r>
              <a:t/>
            </a:r>
          </a:p>
          <a:p xmlns:a="http://schemas.openxmlformats.org/drawingml/2006/main">
            <a:r>
              <a:t>ORIGINAL TEACHING SCRIPT</a:t>
            </a:r>
          </a:p>
          <a:p xmlns:a="http://schemas.openxmlformats.org/drawingml/2006/main">
            <a:r>
              <a:t>That is day 4. Recap: a real Python lab lives behind equals PY, xl hands it your clean tables, and free chatbots will write the code if you describe the goal well. Replay in the membership vault. Thanks, everyone. Tomorrow we finish the week strong.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ef9f15f5ec46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1203c9ddf34f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d95f4cd22a4d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6bd8ae108df418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dfc050dec042f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1f04f5257ba489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a674491026b4f6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fa59d7bc8934a6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fef3302b528469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8cc27cb1685450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32d8a4b2da14a0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9070C02-6847-47CB-866C-BB9319A758C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474DD32F-39AA-41EA-851E-282512D2B5E2}"/>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5AB254FB-76A0-4030-906B-4A1C377A0A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D55C7C4-1D1A-4B2C-8BBD-E3610BDD68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0EA0740-832F-4B98-BDC8-085F6A043A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3D81C64-3CF4-49EC-BADF-CD6D077E7C3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6DF66BA-7DE0-4517-8F71-10A73DD52E7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B3F89AC-7E57-4EAE-B0CB-3F74A701F0E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83E62A7-AD73-49CE-ADEC-DD93FAC7AF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23DA202-3076-499F-928A-650F9BBCB0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D6A1A7-1FCE-4E44-9AC6-943826E520C4}"/>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34B06A7-7AAE-4D7A-A7F9-B22A6F80F644}"/>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51776BE-11DC-4195-B058-CF6C5BDC47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F204F98-A600-4A0E-A481-A79F6A9034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E63118B-EEE0-4DAC-8CA2-F0B6D7B4C9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E222C2-EBCA-427F-845C-ABE8D2A3D16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4A662B0-E6B2-4296-A689-A6D1C56AE64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9F540A7-0C77-4702-ABF7-D2B4FD1121F2}"/>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2740ACF6-589B-4741-959E-BD9ECFE2FA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679F898-0A3A-44C7-9B4F-AFD0B60E17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D7D6A59-8A3D-40B5-ACFC-5F672CF6EFB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9148E9-D8BE-49B8-AC2E-CD6142AC7EB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8719938-B635-493E-BDC9-F405A4E3277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1A211C1-2380-4A98-84E9-F9567B501F5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3BE76F9D-F201-44AD-A06A-14D8DC7E5362}"/>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923B5CB-4D1D-4823-9E8B-27B973E9E47D}"/>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C494BED2-135B-4AFE-9B63-1CAF2CEC9F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A9768432-46AB-44C8-ACA8-05928473F3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07ED5B4-AC64-43F3-81B3-C2CD5C26CD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B055B3-99EA-4045-9449-2D8159B8391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BF4EBF76-0DB6-40F4-A872-F08EBAFFD9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157711C-B7BB-4A9C-87E7-5A6C9263A1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F1C9395-917B-4287-864F-F4068D35D2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69D33B3-84D6-4D98-A1D5-207CB9B39B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3922B960-DF61-4FB7-8D49-918F4C2C50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07D47B16-401F-414C-B0B5-A2F9E5A9C71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0F9B11-22DF-4FBF-9993-16E7B3009207}"/>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3A10BBB-4437-45A5-AFF1-DABFC99BBB7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403BDD49-489E-4EA0-8ECF-066C554165E2}"/>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3B7789A-595D-4BA2-B3CE-1E10D65091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1B90A14-9364-4348-9489-89E6366EBC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4B8B8CB4-3F67-4FF4-A839-EDCA63E33C5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B18965E-C282-4541-B962-597FD21CFD5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98CF218-2F2E-4D20-9FED-8F2AC782F506}"/>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E5F1B22B-4F2F-48A0-A259-DE6676A1AF47}"/>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C782E8A-53E5-4517-A541-C9276FE6FB1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CCBAA69-2FBC-48DE-8778-B87DD0BAA2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7FDE755-8901-4805-B439-F8040C0BCD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FD31F9B-41B2-43F1-B103-EA5A99C0EB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1661A43-58CA-419C-8A37-EFF114ED110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0DED718-82E3-4FE3-A86D-3E60AE7D07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78F3310-F8D9-4CD3-8A54-3CEF03B7F5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E8E9567-82A9-4E64-AC77-80EBB3530C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B870C36B-D21D-4E66-884E-38C08B54F98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5C03C95-DEBD-4243-98E5-914CB8701718}"/>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2E91A40F-B48D-4FF7-B6EB-31B71F7BA3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C0C45D51-24A0-416D-90EB-90CA6484F2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F868AF-3D06-4A6A-8488-0B3A44D8D0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211bcc32594803" /><Relationship Type="http://schemas.openxmlformats.org/officeDocument/2006/relationships/slideLayout" Target="/ppt/slideLayouts/slideLayout1.xml" Id="Rd53f5cb8696347f2" /><Relationship Type="http://schemas.openxmlformats.org/officeDocument/2006/relationships/slideLayout" Target="/ppt/slideLayouts/slideLayout2.xml" Id="R9d04cc45209c4a82" /><Relationship Type="http://schemas.openxmlformats.org/officeDocument/2006/relationships/slideLayout" Target="/ppt/slideLayouts/slideLayout3.xml" Id="Ra888061047d24c65" /><Relationship Type="http://schemas.openxmlformats.org/officeDocument/2006/relationships/slideLayout" Target="/ppt/slideLayouts/slideLayout4.xml" Id="R84eeab0cddf44afd" /><Relationship Type="http://schemas.openxmlformats.org/officeDocument/2006/relationships/slideLayout" Target="/ppt/slideLayouts/slideLayout5.xml" Id="R672a2f1122394b4b" /><Relationship Type="http://schemas.openxmlformats.org/officeDocument/2006/relationships/slideLayout" Target="/ppt/slideLayouts/slideLayout6.xml" Id="R65bd4f86ffc245eb" /><Relationship Type="http://schemas.openxmlformats.org/officeDocument/2006/relationships/slideLayout" Target="/ppt/slideLayouts/slideLayout7.xml" Id="Ra76363a1f55c4ec5" /><Relationship Type="http://schemas.openxmlformats.org/officeDocument/2006/relationships/slideLayout" Target="/ppt/slideLayouts/slideLayout8.xml" Id="Rd23768e796314b5e" /><Relationship Type="http://schemas.openxmlformats.org/officeDocument/2006/relationships/slideLayout" Target="/ppt/slideLayouts/slideLayout9.xml" Id="R5a89031e9ae94869" /><Relationship Type="http://schemas.openxmlformats.org/officeDocument/2006/relationships/slideLayout" Target="/ppt/slideLayouts/slideLayout10.xml" Id="R3c318cf1289c494d" /><Relationship Type="http://schemas.openxmlformats.org/officeDocument/2006/relationships/slideLayout" Target="/ppt/slideLayouts/slideLayout11.xml" Id="Ra57fee939fa0485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DDA4BA9-9D26-493E-B78D-26BDB272CD0D}"/>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CBCAE43-1185-4CCC-B3A7-87758902BC7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FD1B2CC-FF3F-4B0A-A7DA-4E332C26B21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C902E8B-1816-40CD-ACC6-D1C26DD325F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4D72E1A-6935-4E5F-AD2F-AB8CB8746B5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3f5cb8696347f2"/>
    <p:sldLayoutId xmlns:r="http://schemas.openxmlformats.org/officeDocument/2006/relationships" id="2147483650" r:id="R9d04cc45209c4a82"/>
    <p:sldLayoutId xmlns:r="http://schemas.openxmlformats.org/officeDocument/2006/relationships" id="2147483651" r:id="Ra888061047d24c65"/>
    <p:sldLayoutId xmlns:r="http://schemas.openxmlformats.org/officeDocument/2006/relationships" id="2147483652" r:id="R84eeab0cddf44afd"/>
    <p:sldLayoutId xmlns:r="http://schemas.openxmlformats.org/officeDocument/2006/relationships" id="2147483653" r:id="R672a2f1122394b4b"/>
    <p:sldLayoutId xmlns:r="http://schemas.openxmlformats.org/officeDocument/2006/relationships" id="2147483654" r:id="R65bd4f86ffc245eb"/>
    <p:sldLayoutId xmlns:r="http://schemas.openxmlformats.org/officeDocument/2006/relationships" id="2147483655" r:id="Ra76363a1f55c4ec5"/>
    <p:sldLayoutId xmlns:r="http://schemas.openxmlformats.org/officeDocument/2006/relationships" id="2147483656" r:id="Rd23768e796314b5e"/>
    <p:sldLayoutId xmlns:r="http://schemas.openxmlformats.org/officeDocument/2006/relationships" id="2147483657" r:id="R5a89031e9ae94869"/>
    <p:sldLayoutId xmlns:r="http://schemas.openxmlformats.org/officeDocument/2006/relationships" id="2147483658" r:id="R3c318cf1289c494d"/>
    <p:sldLayoutId xmlns:r="http://schemas.openxmlformats.org/officeDocument/2006/relationships" id="2147483659" r:id="Ra57fee939fa0485e"/>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2e9a5d109ea940f2" /><Relationship Type="http://schemas.openxmlformats.org/officeDocument/2006/relationships/notesSlide" Target="/ppt/notesSlides/notesSlide1.xml" Id="R95527a82998c48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6f0331096b843b2" /><Relationship Type="http://schemas.openxmlformats.org/officeDocument/2006/relationships/notesSlide" Target="/ppt/notesSlides/notesSlide2.xml" Id="Rf0703293f7ae4d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03ddfbdb2f64117" /><Relationship Type="http://schemas.openxmlformats.org/officeDocument/2006/relationships/notesSlide" Target="/ppt/notesSlides/notesSlide3.xml" Id="Rf60400d0a55e40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eab6375005b44f6" /><Relationship Type="http://schemas.openxmlformats.org/officeDocument/2006/relationships/notesSlide" Target="/ppt/notesSlides/notesSlide4.xml" Id="R9494688c8c7e4c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b40150f2db846e1" /><Relationship Type="http://schemas.openxmlformats.org/officeDocument/2006/relationships/notesSlide" Target="/ppt/notesSlides/notesSlide5.xml" Id="R16658e85bd954326"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60e755225d04ffe" /><Relationship Type="http://schemas.openxmlformats.org/officeDocument/2006/relationships/notesSlide" Target="/ppt/notesSlides/notesSlide6.xml" Id="R8277a24daa314e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5505285ecb24d56" /><Relationship Type="http://schemas.openxmlformats.org/officeDocument/2006/relationships/notesSlide" Target="/ppt/notesSlides/notesSlide7.xml" Id="R156198ca2e8540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abe5689560b42ba" /><Relationship Type="http://schemas.openxmlformats.org/officeDocument/2006/relationships/notesSlide" Target="/ppt/notesSlides/notesSlide8.xml" Id="Re219c7edb1804f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e0551fc98da4285" /><Relationship Type="http://schemas.openxmlformats.org/officeDocument/2006/relationships/notesSlide" Target="/ppt/notesSlides/notesSlide9.xml" Id="Rd6dce861bbd24b08" /></Relationships>
</file>

<file path=ppt/slides/slide1.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C5AA334-B192-4E00-831D-A76D45AB55E5}"/>
              </a:ext>
            </a:extLst>
          </p:cNvPr>
          <p:cNvSpPr>
            <a:spLocks xmlns:a="http://schemas.openxmlformats.org/drawingml/2006/main" noGrp="1"/>
          </p:cNvSpPr>
          <p:nvPr/>
        </p:nvSpPr>
        <p:spPr>
          <a:xfrm xmlns:a="http://schemas.openxmlformats.org/drawingml/2006/main">
            <a:off x="640080" y="2103120"/>
            <a:ext cx="10607040" cy="20764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500" b="1" i="0">
                <a:solidFill>
                  <a:srgbClr val="CF3338"/>
                </a:solidFill>
                <a:latin typeface="Arial Black"/>
                <a:ea typeface="Arial Black"/>
                <a:cs typeface="Arial Black"/>
              </a:rPr>
              <a:t>GUERRILLA AI FOR EXCEL. A LIVE SERIES, DAY 4 OF 5</a:t>
            </a:r>
          </a:p>
          <a:p xmlns:a="http://schemas.openxmlformats.org/drawingml/2006/main">
            <a:pPr>
              <a:spcBef>
                <a:spcPts val="1000"/>
              </a:spcBef>
              <a:buNone/>
            </a:pPr>
            <a:r>
              <a:rPr sz="4200" b="1" i="0">
                <a:solidFill>
                  <a:srgbClr val="1F2120"/>
                </a:solidFill>
                <a:latin typeface="Arial Black"/>
                <a:ea typeface="Arial Black"/>
                <a:cs typeface="Arial Black"/>
              </a:rPr>
              <a:t>A data science lab behind =PY()</a:t>
            </a:r>
          </a:p>
          <a:p xmlns:a="http://schemas.openxmlformats.org/drawingml/2006/main">
            <a:pPr>
              <a:spcBef>
                <a:spcPts val="1400"/>
              </a:spcBef>
              <a:buNone/>
            </a:pPr>
            <a:r>
              <a:rPr sz="2000" b="0" i="0">
                <a:solidFill>
                  <a:srgbClr val="707070"/>
                </a:solidFill>
                <a:latin typeface="Arial"/>
                <a:ea typeface="Arial"/>
                <a:cs typeface="Arial"/>
              </a:rPr>
              <a:t>pandas, seaborn, and a chatbot that writes the code for you.</a:t>
            </a:r>
          </a:p>
        </p:txBody>
      </p:sp>
      <p:sp>
        <p:nvSpPr>
          <p:cNvPr id="3" name="TextBox 2">
            <a:extLst xmlns:a="http://schemas.openxmlformats.org/drawingml/2006/main">
              <a:ext uri="{FF2B5EF4-FFF2-40B4-BE49-F238E27FC236}">
                <a16:creationId xmlns:a16="http://schemas.microsoft.com/office/drawing/2014/main" id="{E66167A8-595C-497A-A334-80026D1E1792}"/>
              </a:ext>
            </a:extLst>
          </p:cNvPr>
          <p:cNvSpPr>
            <a:spLocks xmlns:a="http://schemas.openxmlformats.org/drawingml/2006/main" noGrp="1"/>
          </p:cNvSpPr>
          <p:nvPr/>
        </p:nvSpPr>
        <p:spPr>
          <a:xfrm xmlns:a="http://schemas.openxmlformats.org/drawingml/2006/main">
            <a:off x="640080" y="608076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300" b="0" i="1">
                <a:solidFill>
                  <a:srgbClr val="707070"/>
                </a:solidFill>
                <a:latin typeface="Arial"/>
                <a:ea typeface="Arial"/>
                <a:cs typeface="Arial"/>
              </a:rPr>
              <a:t>Live Mon Sep 28 to Fri Oct 2, 12:00 to 12:20 PM ET. Sessions are recorded.</a:t>
            </a:r>
          </a:p>
        </p:txBody>
      </p:sp>
      <p:sp>
        <p:nvSpPr>
          <p:cNvPr id="4" name="TextBox 3">
            <a:extLst xmlns:a="http://schemas.openxmlformats.org/drawingml/2006/main">
              <a:ext uri="{FF2B5EF4-FFF2-40B4-BE49-F238E27FC236}">
                <a16:creationId xmlns:a16="http://schemas.microsoft.com/office/drawing/2014/main" id="{4686F7B1-A56B-4AF6-8663-139333F1071E}"/>
              </a:ext>
            </a:extLst>
          </p:cNvPr>
          <p:cNvSpPr>
            <a:spLocks xmlns:a="http://schemas.openxmlformats.org/drawingml/2006/main" noGrp="1"/>
          </p:cNvSpPr>
          <p:nvPr/>
        </p:nvSpPr>
        <p:spPr>
          <a:xfrm xmlns:a="http://schemas.openxmlformats.org/drawingml/2006/main">
            <a:off x="457200" y="384048"/>
            <a:ext cx="4114800" cy="36576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300" b="1" i="0">
                <a:solidFill>
                  <a:srgbClr val="CF3338"/>
                </a:solidFill>
                <a:latin typeface="Arial Black"/>
                <a:ea typeface="Arial Black"/>
                <a:cs typeface="Arial Black"/>
              </a:rPr>
              <a:t>STRINGFEST ANALYTICS</a:t>
            </a:r>
          </a:p>
        </p:txBody>
      </p:sp>
      <p:sp>
        <p:nvSpPr>
          <p:cNvPr id="5" name="Chat prompt panel">
            <a:extLst xmlns:a="http://schemas.openxmlformats.org/drawingml/2006/main">
              <a:ext uri="{FF2B5EF4-FFF2-40B4-BE49-F238E27FC236}">
                <a16:creationId xmlns:a16="http://schemas.microsoft.com/office/drawing/2014/main" id="{CAE032ED-B2CD-4693-A355-C2F92547BF3A}"/>
              </a:ext>
            </a:extLst>
          </p:cNvPr>
          <p:cNvSpPr>
            <a:spLocks xmlns:a="http://schemas.openxmlformats.org/drawingml/2006/main" noGrp="1"/>
          </p:cNvSpPr>
          <p:nvPr/>
        </p:nvSpPr>
        <p:spPr>
          <a:xfrm xmlns:a="http://schemas.openxmlformats.org/drawingml/2006/main">
            <a:off x="638175" y="4352925"/>
            <a:ext cx="10896600" cy="1352550"/>
          </a:xfrm>
          <a:prstGeom xmlns:a="http://schemas.openxmlformats.org/drawingml/2006/main" prst="rect">
            <a:avLst/>
          </a:prstGeom>
          <a:solidFill xmlns:a="http://schemas.openxmlformats.org/drawingml/2006/main">
            <a:srgbClr val="1F2120"/>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6" name="Chat question">
            <a:extLst xmlns:a="http://schemas.openxmlformats.org/drawingml/2006/main">
              <a:ext uri="{FF2B5EF4-FFF2-40B4-BE49-F238E27FC236}">
                <a16:creationId xmlns:a16="http://schemas.microsoft.com/office/drawing/2014/main" id="{F49B5D72-0121-40CA-9064-0F735334A232}"/>
              </a:ext>
            </a:extLst>
          </p:cNvPr>
          <p:cNvSpPr>
            <a:spLocks xmlns:a="http://schemas.openxmlformats.org/drawingml/2006/main" noGrp="1"/>
          </p:cNvSpPr>
          <p:nvPr/>
        </p:nvSpPr>
        <p:spPr>
          <a:xfrm xmlns:a="http://schemas.openxmlformats.org/drawingml/2006/main">
            <a:off x="857250" y="4495800"/>
            <a:ext cx="1042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Where are you with Python?</a:t>
            </a:r>
          </a:p>
        </p:txBody>
      </p:sp>
      <p:sp>
        <p:nvSpPr>
          <p:cNvPr id="7" name="Chat choices">
            <a:extLst xmlns:a="http://schemas.openxmlformats.org/drawingml/2006/main">
              <a:ext uri="{FF2B5EF4-FFF2-40B4-BE49-F238E27FC236}">
                <a16:creationId xmlns:a16="http://schemas.microsoft.com/office/drawing/2014/main" id="{8F7F9DFD-B665-4927-B6D3-942431CFD90F}"/>
              </a:ext>
            </a:extLst>
          </p:cNvPr>
          <p:cNvSpPr>
            <a:spLocks xmlns:a="http://schemas.openxmlformats.org/drawingml/2006/main" noGrp="1"/>
          </p:cNvSpPr>
          <p:nvPr/>
        </p:nvSpPr>
        <p:spPr>
          <a:xfrm xmlns:a="http://schemas.openxmlformats.org/drawingml/2006/main">
            <a:off x="857250" y="4962525"/>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NEW / TRIED</a:t>
            </a:r>
          </a:p>
        </p:txBody>
      </p:sp>
      <p:sp>
        <p:nvSpPr>
          <p:cNvPr id="8" name="Chat instruction">
            <a:extLst xmlns:a="http://schemas.openxmlformats.org/drawingml/2006/main">
              <a:ext uri="{FF2B5EF4-FFF2-40B4-BE49-F238E27FC236}">
                <a16:creationId xmlns:a16="http://schemas.microsoft.com/office/drawing/2014/main" id="{A23B4695-B3F7-4723-8905-72A3740B1463}"/>
              </a:ext>
            </a:extLst>
          </p:cNvPr>
          <p:cNvSpPr>
            <a:spLocks xmlns:a="http://schemas.openxmlformats.org/drawingml/2006/main" noGrp="1"/>
          </p:cNvSpPr>
          <p:nvPr/>
        </p:nvSpPr>
        <p:spPr>
          <a:xfrm xmlns:a="http://schemas.openxmlformats.org/drawingml/2006/main">
            <a:off x="8143875" y="5095875"/>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Type one word in chat.</a:t>
            </a:r>
          </a:p>
        </p:txBody>
      </p:sp>
    </p:spTree>
    <p:extLst>
      <p:ext uri="{BB962C8B-B14F-4D97-AF65-F5344CB8AC3E}">
        <p14:creationId xmlns:p14="http://schemas.microsoft.com/office/powerpoint/2010/main" val="2021929608"/>
      </p:ext>
    </p:extLst>
  </p:cSld>
</p:sld>
</file>

<file path=ppt/slides/slide2.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234FA1C-18AA-4B00-8049-9A494611B533}"/>
              </a:ext>
            </a:extLst>
          </p:cNvPr>
          <p:cNvSpPr>
            <a:spLocks xmlns:a="http://schemas.openxmlformats.org/drawingml/2006/main" noGrp="1"/>
          </p:cNvSpPr>
          <p:nvPr/>
        </p:nvSpPr>
        <p:spPr>
          <a:xfrm xmlns:a="http://schemas.openxmlformats.org/drawingml/2006/main">
            <a:off x="640080" y="457200"/>
            <a:ext cx="10881360" cy="1188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3000" b="1" i="0">
                <a:solidFill>
                  <a:srgbClr val="1F2120"/>
                </a:solidFill>
                <a:latin typeface="Arial Black"/>
                <a:ea typeface="Arial Black"/>
                <a:cs typeface="Arial Black"/>
              </a:rPr>
              <a:t>Yesterday in 30 seconds</a:t>
            </a:r>
          </a:p>
          <a:p xmlns:a="http://schemas.openxmlformats.org/drawingml/2006/main">
            <a:pPr>
              <a:spcBef>
                <a:spcPts val="400"/>
              </a:spcBef>
              <a:buNone/>
            </a:pPr>
            <a:r>
              <a:rPr sz="1500" b="0" i="1">
                <a:solidFill>
                  <a:srgbClr val="CF3338"/>
                </a:solidFill>
                <a:latin typeface="Arial"/>
                <a:ea typeface="Arial"/>
                <a:cs typeface="Arial"/>
              </a:rPr>
              <a:t>One dataset, five practical wins</a:t>
            </a:r>
          </a:p>
        </p:txBody>
      </p:sp>
      <p:sp>
        <p:nvSpPr>
          <p:cNvPr id="3" name="TextBox 2">
            <a:extLst xmlns:a="http://schemas.openxmlformats.org/drawingml/2006/main">
              <a:ext uri="{FF2B5EF4-FFF2-40B4-BE49-F238E27FC236}">
                <a16:creationId xmlns:a16="http://schemas.microsoft.com/office/drawing/2014/main" id="{700B023E-E8AA-4450-BC30-CDCB79F58AFF}"/>
              </a:ext>
            </a:extLst>
          </p:cNvPr>
          <p:cNvSpPr>
            <a:spLocks xmlns:a="http://schemas.openxmlformats.org/drawingml/2006/main" noGrp="1"/>
          </p:cNvSpPr>
          <p:nvPr/>
        </p:nvSpPr>
        <p:spPr>
          <a:xfrm xmlns:a="http://schemas.openxmlformats.org/drawingml/2006/main">
            <a:off x="640080" y="1783080"/>
            <a:ext cx="10881360" cy="4846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Day 3 was Clean data so AI doesn't lie to you.</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One hour of Power Query replaces a recurring cleanup chore forever.</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Same dataset today. Every day builds on the last.</a:t>
            </a:r>
          </a:p>
        </p:txBody>
      </p:sp>
    </p:spTree>
    <p:extLst>
      <p:ext uri="{BB962C8B-B14F-4D97-AF65-F5344CB8AC3E}">
        <p14:creationId xmlns:p14="http://schemas.microsoft.com/office/powerpoint/2010/main" val="529642215"/>
      </p:ext>
    </p:extLst>
  </p:cSld>
</p:sld>
</file>

<file path=ppt/slides/slide3.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A23C11F-AD07-4EFD-B15E-83B1646A3FCA}"/>
              </a:ext>
            </a:extLst>
          </p:cNvPr>
          <p:cNvSpPr>
            <a:spLocks xmlns:a="http://schemas.openxmlformats.org/drawingml/2006/main" noGrp="1"/>
          </p:cNvSpPr>
          <p:nvPr/>
        </p:nvSpPr>
        <p:spPr>
          <a:xfrm xmlns:a="http://schemas.openxmlformats.org/drawingml/2006/main">
            <a:off x="640080" y="457200"/>
            <a:ext cx="10881360" cy="1188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3000" b="1" i="0">
                <a:solidFill>
                  <a:srgbClr val="1F2120"/>
                </a:solidFill>
                <a:latin typeface="Arial Black"/>
                <a:ea typeface="Arial Black"/>
                <a:cs typeface="Arial Black"/>
              </a:rPr>
              <a:t>Why this counts as AI</a:t>
            </a:r>
          </a:p>
          <a:p xmlns:a="http://schemas.openxmlformats.org/drawingml/2006/main">
            <a:pPr>
              <a:spcBef>
                <a:spcPts val="400"/>
              </a:spcBef>
              <a:buNone/>
            </a:pPr>
            <a:r>
              <a:rPr sz="1500" b="0" i="1">
                <a:solidFill>
                  <a:srgbClr val="CF3338"/>
                </a:solidFill>
                <a:latin typeface="Arial"/>
                <a:ea typeface="Arial"/>
                <a:cs typeface="Arial"/>
              </a:rPr>
              <a:t>The guerrilla hook, day 4</a:t>
            </a:r>
          </a:p>
        </p:txBody>
      </p:sp>
      <p:sp>
        <p:nvSpPr>
          <p:cNvPr id="3" name="TextBox 2">
            <a:extLst xmlns:a="http://schemas.openxmlformats.org/drawingml/2006/main">
              <a:ext uri="{FF2B5EF4-FFF2-40B4-BE49-F238E27FC236}">
                <a16:creationId xmlns:a16="http://schemas.microsoft.com/office/drawing/2014/main" id="{1406D3EC-F147-4615-A165-95C5BE9FE297}"/>
              </a:ext>
            </a:extLst>
          </p:cNvPr>
          <p:cNvSpPr>
            <a:spLocks xmlns:a="http://schemas.openxmlformats.org/drawingml/2006/main" noGrp="1"/>
          </p:cNvSpPr>
          <p:nvPr/>
        </p:nvSpPr>
        <p:spPr>
          <a:xfrm xmlns:a="http://schemas.openxmlformats.org/drawingml/2006/main">
            <a:off x="640080" y="1783080"/>
            <a:ext cx="10881360" cy="4846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Python in Excel runs in Microsoft's cloud on supported Microsoft 365 setups.</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No local Python install. Availability depends on your Microsoft 365 setup.</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Free chatbots write competent Python. Describe what you want, paste it into a PY cell, run it.</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This is where AI code generation pays off even without Copilot.</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If Python is available in your Excel, start by describing the result you need.</a:t>
            </a:r>
          </a:p>
        </p:txBody>
      </p:sp>
    </p:spTree>
    <p:extLst>
      <p:ext uri="{BB962C8B-B14F-4D97-AF65-F5344CB8AC3E}">
        <p14:creationId xmlns:p14="http://schemas.microsoft.com/office/powerpoint/2010/main" val="1836102419"/>
      </p:ext>
    </p:extLst>
  </p:cSld>
</p:sld>
</file>

<file path=ppt/slides/slide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07A4E12-8E8C-4331-B0E3-AFCECD9DA697}"/>
              </a:ext>
            </a:extLst>
          </p:cNvPr>
          <p:cNvSpPr>
            <a:spLocks xmlns:a="http://schemas.openxmlformats.org/drawingml/2006/main" noGrp="1"/>
          </p:cNvSpPr>
          <p:nvPr/>
        </p:nvSpPr>
        <p:spPr>
          <a:xfrm xmlns:a="http://schemas.openxmlformats.org/drawingml/2006/main">
            <a:off x="640080" y="457200"/>
            <a:ext cx="10881360" cy="1188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3000" b="1" i="0">
                <a:solidFill>
                  <a:srgbClr val="1F2120"/>
                </a:solidFill>
                <a:latin typeface="Arial Black"/>
                <a:ea typeface="Arial Black"/>
                <a:cs typeface="Arial Black"/>
              </a:rPr>
              <a:t>How PY() sees your workbook</a:t>
            </a:r>
          </a:p>
          <a:p xmlns:a="http://schemas.openxmlformats.org/drawingml/2006/main">
            <a:pPr>
              <a:spcBef>
                <a:spcPts val="400"/>
              </a:spcBef>
              <a:buNone/>
            </a:pPr>
            <a:r>
              <a:rPr sz="1500" b="0" i="1">
                <a:solidFill>
                  <a:srgbClr val="CF3338"/>
                </a:solidFill>
                <a:latin typeface="Arial"/>
                <a:ea typeface="Arial"/>
                <a:cs typeface="Arial"/>
              </a:rPr>
              <a:t>Two code blocks and one chart, all live</a:t>
            </a:r>
          </a:p>
        </p:txBody>
      </p:sp>
      <p:sp>
        <p:nvSpPr>
          <p:cNvPr id="3" name="TextBox 2">
            <a:extLst xmlns:a="http://schemas.openxmlformats.org/drawingml/2006/main">
              <a:ext uri="{FF2B5EF4-FFF2-40B4-BE49-F238E27FC236}">
                <a16:creationId xmlns:a16="http://schemas.microsoft.com/office/drawing/2014/main" id="{A8871EF4-C27E-45D0-BB3C-6E2A87E8B946}"/>
              </a:ext>
            </a:extLst>
          </p:cNvPr>
          <p:cNvSpPr>
            <a:spLocks xmlns:a="http://schemas.openxmlformats.org/drawingml/2006/main" noGrp="1"/>
          </p:cNvSpPr>
          <p:nvPr/>
        </p:nvSpPr>
        <p:spPr>
          <a:xfrm xmlns:a="http://schemas.openxmlformats.org/drawingml/2006/main">
            <a:off x="640080" y="1783080"/>
            <a:ext cx="10881360" cy="48463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Type =PY( in a cell and Excel switches to a Python editor.</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xl("SalesClean[#All]", headers=True) hands your table to pandas as a DataFrame.</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pandas is preloaded as pd, seaborn as sns. No imports needed for today's demo.</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Results spill back into the grid, numbers or charts.</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Yesterday's clean table is exactly the input Python wants.</a:t>
            </a:r>
          </a:p>
        </p:txBody>
      </p:sp>
    </p:spTree>
    <p:extLst>
      <p:ext uri="{BB962C8B-B14F-4D97-AF65-F5344CB8AC3E}">
        <p14:creationId xmlns:p14="http://schemas.microsoft.com/office/powerpoint/2010/main" val="1647468576"/>
      </p:ext>
    </p:extLst>
  </p:cSld>
</p:sld>
</file>

<file path=ppt/slides/slide5.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55118A4-58BF-4728-ADA0-8D125986746A}"/>
              </a:ext>
            </a:extLst>
          </p:cNvPr>
          <p:cNvSpPr>
            <a:spLocks xmlns:a="http://schemas.openxmlformats.org/drawingml/2006/main" noGrp="1"/>
          </p:cNvSpPr>
          <p:nvPr/>
        </p:nvSpPr>
        <p:spPr>
          <a:xfrm xmlns:a="http://schemas.openxmlformats.org/drawingml/2006/main">
            <a:off x="9082735" y="0"/>
            <a:ext cx="3108960" cy="6858000"/>
          </a:xfrm>
          <a:prstGeom xmlns:a="http://schemas.openxmlformats.org/drawingml/2006/main" prst="rect">
            <a:avLst/>
          </a:prstGeom>
          <a:solidFill xmlns:a="http://schemas.openxmlformats.org/drawingml/2006/main">
            <a:srgbClr val="CF33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BF49F00-8890-46EC-AB70-5D0C40C72E4D}"/>
              </a:ext>
            </a:extLst>
          </p:cNvPr>
          <p:cNvSpPr>
            <a:spLocks xmlns:a="http://schemas.openxmlformats.org/drawingml/2006/main" noGrp="1"/>
          </p:cNvSpPr>
          <p:nvPr/>
        </p:nvSpPr>
        <p:spPr>
          <a:xfrm xmlns:a="http://schemas.openxmlformats.org/drawingml/2006/main">
            <a:off x="9311335" y="640080"/>
            <a:ext cx="2468880" cy="1828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600" b="1" i="0">
                <a:solidFill>
                  <a:srgbClr val="FFFFFF"/>
                </a:solidFill>
                <a:latin typeface="Arial Black"/>
                <a:ea typeface="Arial Black"/>
                <a:cs typeface="Arial Black"/>
              </a:rPr>
              <a:t>LIVE</a:t>
            </a:r>
          </a:p>
          <a:p xmlns:a="http://schemas.openxmlformats.org/drawingml/2006/main">
            <a:r>
              <a:rPr sz="2600" b="1" i="0">
                <a:solidFill>
                  <a:srgbClr val="FFFFFF"/>
                </a:solidFill>
                <a:latin typeface="Arial Black"/>
                <a:ea typeface="Arial Black"/>
                <a:cs typeface="Arial Black"/>
              </a:rPr>
              <a:t>DEMO</a:t>
            </a:r>
          </a:p>
        </p:txBody>
      </p:sp>
      <p:sp>
        <p:nvSpPr>
          <p:cNvPr id="4" name="TextBox 3">
            <a:extLst xmlns:a="http://schemas.openxmlformats.org/drawingml/2006/main">
              <a:ext uri="{FF2B5EF4-FFF2-40B4-BE49-F238E27FC236}">
                <a16:creationId xmlns:a16="http://schemas.microsoft.com/office/drawing/2014/main" id="{92A4C137-0463-4D71-87BB-54CCAA19B3D2}"/>
              </a:ext>
            </a:extLst>
          </p:cNvPr>
          <p:cNvSpPr>
            <a:spLocks xmlns:a="http://schemas.openxmlformats.org/drawingml/2006/main" noGrp="1"/>
          </p:cNvSpPr>
          <p:nvPr/>
        </p:nvSpPr>
        <p:spPr>
          <a:xfrm xmlns:a="http://schemas.openxmlformats.org/drawingml/2006/main">
            <a:off x="548640" y="411480"/>
            <a:ext cx="8229600" cy="10972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500" b="1" i="0">
                <a:solidFill>
                  <a:srgbClr val="CF3338"/>
                </a:solidFill>
                <a:latin typeface="Arial Black"/>
                <a:ea typeface="Arial Black"/>
                <a:cs typeface="Arial Black"/>
              </a:rPr>
              <a:t>Live demo: stats in one cell</a:t>
            </a:r>
          </a:p>
          <a:p xmlns:a="http://schemas.openxmlformats.org/drawingml/2006/main">
            <a:pPr>
              <a:spcBef>
                <a:spcPts val="300"/>
              </a:spcBef>
              <a:buNone/>
            </a:pPr>
            <a:r>
              <a:rPr sz="1450" b="0" i="1">
                <a:solidFill>
                  <a:srgbClr val="707070"/>
                </a:solidFill>
                <a:latin typeface="Arial"/>
                <a:ea typeface="Arial"/>
                <a:cs typeface="Arial"/>
              </a:rPr>
              <a:t>describe(), then a groupby that replaces a pivot.</a:t>
            </a:r>
          </a:p>
        </p:txBody>
      </p:sp>
      <p:sp>
        <p:nvSpPr>
          <p:cNvPr id="5" name="Rounded Rectangle 4">
            <a:extLst xmlns:a="http://schemas.openxmlformats.org/drawingml/2006/main">
              <a:ext uri="{FF2B5EF4-FFF2-40B4-BE49-F238E27FC236}">
                <a16:creationId xmlns:a16="http://schemas.microsoft.com/office/drawing/2014/main" id="{304D7376-697E-476D-ABF6-F19C9F2D1404}"/>
              </a:ext>
            </a:extLst>
          </p:cNvPr>
          <p:cNvSpPr>
            <a:spLocks xmlns:a="http://schemas.openxmlformats.org/drawingml/2006/main" noGrp="1"/>
          </p:cNvSpPr>
          <p:nvPr/>
        </p:nvSpPr>
        <p:spPr>
          <a:xfrm xmlns:a="http://schemas.openxmlformats.org/drawingml/2006/main">
            <a:off x="548640" y="1600200"/>
            <a:ext cx="8229600" cy="4023360"/>
          </a:xfrm>
          <a:prstGeom xmlns:a="http://schemas.openxmlformats.org/drawingml/2006/main" prst="roundRect">
            <a:avLst/>
          </a:prstGeom>
          <a:solidFill xmlns:a="http://schemas.openxmlformats.org/drawingml/2006/main">
            <a:srgbClr val="2B2B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256032" tIns="182880" rIns="182880" bIns="109728" anchor="t"/>
          <a:lstStyle xmlns:a="http://schemas.openxmlformats.org/drawingml/2006/main"/>
          <a:p xmlns:a="http://schemas.openxmlformats.org/drawingml/2006/main">
            <a:pPr algn="l">
              <a:spcAft>
                <a:spcPts val="100"/>
              </a:spcAft>
              <a:buNone/>
            </a:pPr>
            <a:r>
              <a:rPr sz="1300" b="0" i="0">
                <a:solidFill>
                  <a:srgbClr val="9EC57A"/>
                </a:solidFill>
                <a:latin typeface="Consolas"/>
                <a:ea typeface="Consolas"/>
                <a:cs typeface="Consolas"/>
              </a:rPr>
              <a:t># Point pandas at the clean table</a:t>
            </a:r>
          </a:p>
          <a:p xmlns:a="http://schemas.openxmlformats.org/drawingml/2006/main">
            <a:pPr algn="l">
              <a:spcAft>
                <a:spcPts val="100"/>
              </a:spcAft>
              <a:buNone/>
            </a:pPr>
            <a:r>
              <a:rPr sz="1300" b="0" i="0">
                <a:solidFill>
                  <a:srgbClr val="F5F5F5"/>
                </a:solidFill>
                <a:latin typeface="Consolas"/>
                <a:ea typeface="Consolas"/>
                <a:cs typeface="Consolas"/>
              </a:rPr>
              <a:t>df = xl("SalesClean[#All]", headers=True)</a:t>
            </a:r>
          </a:p>
          <a:p xmlns:a="http://schemas.openxmlformats.org/drawingml/2006/main">
            <a:pPr algn="l">
              <a:spcAft>
                <a:spcPts val="100"/>
              </a:spcAft>
              <a:buNone/>
            </a:pPr>
            <a:r>
              <a:rPr sz="1300" b="0" i="0">
                <a:solidFill>
                  <a:srgbClr val="F5F5F5"/>
                </a:solidFill>
                <a:latin typeface="Consolas"/>
                <a:ea typeface="Consolas"/>
                <a:cs typeface="Consolas"/>
              </a:rPr>
              <a:t>df.describe()</a:t>
            </a:r>
          </a:p>
          <a:p xmlns:a="http://schemas.openxmlformats.org/drawingml/2006/main">
            <a:pPr algn="l">
              <a:spcAft>
                <a:spcPts val="100"/>
              </a:spcAft>
              <a:buNone/>
            </a:pPr>
            <a:r>
              <a:rPr sz="1300" b="0" i="0">
                <a:solidFill>
                  <a:srgbClr val="9EC57A"/>
                </a:solidFill>
                <a:latin typeface="Consolas"/>
                <a:ea typeface="Consolas"/>
                <a:cs typeface="Consolas"/>
              </a:rPr>
              <a:t># Total sales by region, biggest first</a:t>
            </a:r>
          </a:p>
          <a:p xmlns:a="http://schemas.openxmlformats.org/drawingml/2006/main">
            <a:pPr algn="l">
              <a:spcAft>
                <a:spcPts val="100"/>
              </a:spcAft>
              <a:buNone/>
            </a:pPr>
            <a:r>
              <a:rPr sz="1300" b="0" i="0">
                <a:solidFill>
                  <a:srgbClr val="F5F5F5"/>
                </a:solidFill>
                <a:latin typeface="Consolas"/>
                <a:ea typeface="Consolas"/>
                <a:cs typeface="Consolas"/>
              </a:rPr>
              <a:t>df.groupby("Region")["Amount"].sum().sort_values(ascending=False)</a:t>
            </a:r>
          </a:p>
        </p:txBody>
      </p:sp>
      <p:sp>
        <p:nvSpPr>
          <p:cNvPr id="6" name="TextBox 5">
            <a:extLst xmlns:a="http://schemas.openxmlformats.org/drawingml/2006/main">
              <a:ext uri="{FF2B5EF4-FFF2-40B4-BE49-F238E27FC236}">
                <a16:creationId xmlns:a16="http://schemas.microsoft.com/office/drawing/2014/main" id="{463AD589-D22F-491F-B0FB-A37C01B12BAE}"/>
              </a:ext>
            </a:extLst>
          </p:cNvPr>
          <p:cNvSpPr>
            <a:spLocks xmlns:a="http://schemas.openxmlformats.org/drawingml/2006/main" noGrp="1"/>
          </p:cNvSpPr>
          <p:nvPr/>
        </p:nvSpPr>
        <p:spPr>
          <a:xfrm xmlns:a="http://schemas.openxmlformats.org/drawingml/2006/main">
            <a:off x="548640" y="5806440"/>
            <a:ext cx="8229600" cy="7772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300" b="1" i="0">
                <a:solidFill>
                  <a:srgbClr val="CF3338"/>
                </a:solidFill>
                <a:latin typeface="Arial"/>
                <a:ea typeface="Arial"/>
                <a:cs typeface="Arial"/>
              </a:rPr>
              <a:t>• </a:t>
            </a:r>
            <a:r>
              <a:rPr sz="1300" b="1" i="0">
                <a:solidFill>
                  <a:srgbClr val="CF3338"/>
                </a:solidFill>
                <a:latin typeface="Arial"/>
                <a:ea typeface="Arial"/>
                <a:cs typeface="Arial"/>
              </a:rPr>
              <a:t>Analysis that took a pivot and six clicks, in one line</a:t>
            </a:r>
          </a:p>
        </p:txBody>
      </p:sp>
      <p:sp>
        <p:nvSpPr>
          <p:cNvPr id="7" name="Chat question">
            <a:extLst xmlns:a="http://schemas.openxmlformats.org/drawingml/2006/main">
              <a:ext uri="{FF2B5EF4-FFF2-40B4-BE49-F238E27FC236}">
                <a16:creationId xmlns:a16="http://schemas.microsoft.com/office/drawing/2014/main" id="{699EB392-1955-45C4-A608-E85E103DCE41}"/>
              </a:ext>
            </a:extLst>
          </p:cNvPr>
          <p:cNvSpPr>
            <a:spLocks xmlns:a="http://schemas.openxmlformats.org/drawingml/2006/main" noGrp="1"/>
          </p:cNvSpPr>
          <p:nvPr/>
        </p:nvSpPr>
        <p:spPr>
          <a:xfrm xmlns:a="http://schemas.openxmlformats.org/drawingml/2006/main">
            <a:off x="9353550" y="2790825"/>
            <a:ext cx="2428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For total sales:</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add or count?</a:t>
            </a:r>
          </a:p>
        </p:txBody>
      </p:sp>
      <p:sp>
        <p:nvSpPr>
          <p:cNvPr id="8" name="Chat choices">
            <a:extLst xmlns:a="http://schemas.openxmlformats.org/drawingml/2006/main">
              <a:ext uri="{FF2B5EF4-FFF2-40B4-BE49-F238E27FC236}">
                <a16:creationId xmlns:a16="http://schemas.microsoft.com/office/drawing/2014/main" id="{DA2449A5-8AC2-4876-84B9-954C00811B71}"/>
              </a:ext>
            </a:extLst>
          </p:cNvPr>
          <p:cNvSpPr>
            <a:spLocks xmlns:a="http://schemas.openxmlformats.org/drawingml/2006/main" noGrp="1"/>
          </p:cNvSpPr>
          <p:nvPr/>
        </p:nvSpPr>
        <p:spPr>
          <a:xfrm xmlns:a="http://schemas.openxmlformats.org/drawingml/2006/main">
            <a:off x="9353550" y="4362450"/>
            <a:ext cx="2428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SUM / COUNT</a:t>
            </a:r>
          </a:p>
        </p:txBody>
      </p:sp>
      <p:sp>
        <p:nvSpPr>
          <p:cNvPr id="9" name="Chat instruction">
            <a:extLst xmlns:a="http://schemas.openxmlformats.org/drawingml/2006/main">
              <a:ext uri="{FF2B5EF4-FFF2-40B4-BE49-F238E27FC236}">
                <a16:creationId xmlns:a16="http://schemas.microsoft.com/office/drawing/2014/main" id="{C8CFF623-7D0A-4823-9166-0F48C324F9FA}"/>
              </a:ext>
            </a:extLst>
          </p:cNvPr>
          <p:cNvSpPr>
            <a:spLocks xmlns:a="http://schemas.openxmlformats.org/drawingml/2006/main" noGrp="1"/>
          </p:cNvSpPr>
          <p:nvPr/>
        </p:nvSpPr>
        <p:spPr>
          <a:xfrm xmlns:a="http://schemas.openxmlformats.org/drawingml/2006/main">
            <a:off x="9353550" y="5715000"/>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Type one word</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or a letter in chat.</a:t>
            </a:r>
          </a:p>
        </p:txBody>
      </p:sp>
    </p:spTree>
    <p:extLst>
      <p:ext uri="{BB962C8B-B14F-4D97-AF65-F5344CB8AC3E}">
        <p14:creationId xmlns:p14="http://schemas.microsoft.com/office/powerpoint/2010/main" val="2102903779"/>
      </p:ext>
    </p:extLst>
  </p:cSld>
</p:sld>
</file>

<file path=ppt/slides/slide6.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889D9E1-A4D4-4143-BF9B-3821305749DC}"/>
              </a:ext>
            </a:extLst>
          </p:cNvPr>
          <p:cNvSpPr>
            <a:spLocks xmlns:a="http://schemas.openxmlformats.org/drawingml/2006/main" noGrp="1"/>
          </p:cNvSpPr>
          <p:nvPr/>
        </p:nvSpPr>
        <p:spPr>
          <a:xfrm xmlns:a="http://schemas.openxmlformats.org/drawingml/2006/main">
            <a:off x="9082735" y="0"/>
            <a:ext cx="3108960" cy="6858000"/>
          </a:xfrm>
          <a:prstGeom xmlns:a="http://schemas.openxmlformats.org/drawingml/2006/main" prst="rect">
            <a:avLst/>
          </a:prstGeom>
          <a:solidFill xmlns:a="http://schemas.openxmlformats.org/drawingml/2006/main">
            <a:srgbClr val="CF333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6A18CB68-6237-4921-B718-A1C6E1CABDAD}"/>
              </a:ext>
            </a:extLst>
          </p:cNvPr>
          <p:cNvSpPr>
            <a:spLocks xmlns:a="http://schemas.openxmlformats.org/drawingml/2006/main" noGrp="1"/>
          </p:cNvSpPr>
          <p:nvPr/>
        </p:nvSpPr>
        <p:spPr>
          <a:xfrm xmlns:a="http://schemas.openxmlformats.org/drawingml/2006/main">
            <a:off x="9311335" y="640080"/>
            <a:ext cx="2468880" cy="18288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600" b="1" i="0">
                <a:solidFill>
                  <a:srgbClr val="FFFFFF"/>
                </a:solidFill>
                <a:latin typeface="Arial Black"/>
                <a:ea typeface="Arial Black"/>
                <a:cs typeface="Arial Black"/>
              </a:rPr>
              <a:t>LIVE</a:t>
            </a:r>
          </a:p>
          <a:p xmlns:a="http://schemas.openxmlformats.org/drawingml/2006/main">
            <a:r>
              <a:rPr sz="2600" b="1" i="0">
                <a:solidFill>
                  <a:srgbClr val="FFFFFF"/>
                </a:solidFill>
                <a:latin typeface="Arial Black"/>
                <a:ea typeface="Arial Black"/>
                <a:cs typeface="Arial Black"/>
              </a:rPr>
              <a:t>DEMO</a:t>
            </a:r>
          </a:p>
        </p:txBody>
      </p:sp>
      <p:sp>
        <p:nvSpPr>
          <p:cNvPr id="4" name="TextBox 3">
            <a:extLst xmlns:a="http://schemas.openxmlformats.org/drawingml/2006/main">
              <a:ext uri="{FF2B5EF4-FFF2-40B4-BE49-F238E27FC236}">
                <a16:creationId xmlns:a16="http://schemas.microsoft.com/office/drawing/2014/main" id="{73C36BA5-C614-4A92-A182-8687FE5EF3C3}"/>
              </a:ext>
            </a:extLst>
          </p:cNvPr>
          <p:cNvSpPr>
            <a:spLocks xmlns:a="http://schemas.openxmlformats.org/drawingml/2006/main" noGrp="1"/>
          </p:cNvSpPr>
          <p:nvPr/>
        </p:nvSpPr>
        <p:spPr>
          <a:xfrm xmlns:a="http://schemas.openxmlformats.org/drawingml/2006/main">
            <a:off x="548640" y="411480"/>
            <a:ext cx="8229600" cy="109728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2500" b="1" i="0">
                <a:solidFill>
                  <a:srgbClr val="CF3338"/>
                </a:solidFill>
                <a:latin typeface="Arial Black"/>
                <a:ea typeface="Arial Black"/>
                <a:cs typeface="Arial Black"/>
              </a:rPr>
              <a:t>Live demo: the chart a chatbot wrote</a:t>
            </a:r>
          </a:p>
          <a:p xmlns:a="http://schemas.openxmlformats.org/drawingml/2006/main">
            <a:pPr>
              <a:spcBef>
                <a:spcPts val="300"/>
              </a:spcBef>
              <a:buNone/>
            </a:pPr>
            <a:r>
              <a:rPr sz="1450" b="0" i="1">
                <a:solidFill>
                  <a:srgbClr val="707070"/>
                </a:solidFill>
                <a:latin typeface="Arial"/>
                <a:ea typeface="Arial"/>
                <a:cs typeface="Arial"/>
              </a:rPr>
              <a:t>The describe-to-chatbot, paste-to-cell workflow, live.</a:t>
            </a:r>
          </a:p>
        </p:txBody>
      </p:sp>
      <p:sp>
        <p:nvSpPr>
          <p:cNvPr id="5" name="Rounded Rectangle 4">
            <a:extLst xmlns:a="http://schemas.openxmlformats.org/drawingml/2006/main">
              <a:ext uri="{FF2B5EF4-FFF2-40B4-BE49-F238E27FC236}">
                <a16:creationId xmlns:a16="http://schemas.microsoft.com/office/drawing/2014/main" id="{1B95960A-3826-4B1F-AB6A-17B1AEA8A158}"/>
              </a:ext>
            </a:extLst>
          </p:cNvPr>
          <p:cNvSpPr>
            <a:spLocks xmlns:a="http://schemas.openxmlformats.org/drawingml/2006/main" noGrp="1"/>
          </p:cNvSpPr>
          <p:nvPr/>
        </p:nvSpPr>
        <p:spPr>
          <a:xfrm xmlns:a="http://schemas.openxmlformats.org/drawingml/2006/main">
            <a:off x="548640" y="1600200"/>
            <a:ext cx="8229600" cy="4023360"/>
          </a:xfrm>
          <a:prstGeom xmlns:a="http://schemas.openxmlformats.org/drawingml/2006/main" prst="roundRect">
            <a:avLst/>
          </a:prstGeom>
          <a:solidFill xmlns:a="http://schemas.openxmlformats.org/drawingml/2006/main">
            <a:srgbClr val="2B2B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square" lIns="256032" tIns="182880" rIns="182880" bIns="109728" anchor="t"/>
          <a:lstStyle xmlns:a="http://schemas.openxmlformats.org/drawingml/2006/main"/>
          <a:p xmlns:a="http://schemas.openxmlformats.org/drawingml/2006/main">
            <a:pPr algn="l">
              <a:spcAft>
                <a:spcPts val="100"/>
              </a:spcAft>
              <a:buNone/>
            </a:pPr>
            <a:r>
              <a:rPr sz="1300" b="0" i="0">
                <a:solidFill>
                  <a:srgbClr val="9EC57A"/>
                </a:solidFill>
                <a:latin typeface="Consolas"/>
                <a:ea typeface="Consolas"/>
                <a:cs typeface="Consolas"/>
              </a:rPr>
              <a:t># One chart, straight from the table</a:t>
            </a:r>
          </a:p>
          <a:p xmlns:a="http://schemas.openxmlformats.org/drawingml/2006/main">
            <a:pPr algn="l">
              <a:spcAft>
                <a:spcPts val="100"/>
              </a:spcAft>
              <a:buNone/>
            </a:pPr>
            <a:r>
              <a:rPr sz="1300" b="0" i="0">
                <a:solidFill>
                  <a:srgbClr val="F5F5F5"/>
                </a:solidFill>
                <a:latin typeface="Consolas"/>
                <a:ea typeface="Consolas"/>
                <a:cs typeface="Consolas"/>
              </a:rPr>
              <a:t>totals = df.groupby("Region", as_index=False)["Amount"].sum()</a:t>
            </a:r>
          </a:p>
          <a:p xmlns:a="http://schemas.openxmlformats.org/drawingml/2006/main">
            <a:pPr algn="l">
              <a:spcAft>
                <a:spcPts val="100"/>
              </a:spcAft>
              <a:buNone/>
            </a:pPr>
            <a:r>
              <a:rPr sz="1300" b="0" i="0">
                <a:solidFill>
                  <a:srgbClr val="F5F5F5"/>
                </a:solidFill>
                <a:latin typeface="Consolas"/>
                <a:ea typeface="Consolas"/>
                <a:cs typeface="Consolas"/>
              </a:rPr>
              <a:t>sns.barplot(data=totals, x="Region", y="Amount", color="#CF3338")</a:t>
            </a:r>
          </a:p>
        </p:txBody>
      </p:sp>
      <p:sp>
        <p:nvSpPr>
          <p:cNvPr id="6" name="TextBox 5">
            <a:extLst xmlns:a="http://schemas.openxmlformats.org/drawingml/2006/main">
              <a:ext uri="{FF2B5EF4-FFF2-40B4-BE49-F238E27FC236}">
                <a16:creationId xmlns:a16="http://schemas.microsoft.com/office/drawing/2014/main" id="{AD51B9ED-2BFD-417A-8F91-62EA982631D7}"/>
              </a:ext>
            </a:extLst>
          </p:cNvPr>
          <p:cNvSpPr>
            <a:spLocks xmlns:a="http://schemas.openxmlformats.org/drawingml/2006/main" noGrp="1"/>
          </p:cNvSpPr>
          <p:nvPr/>
        </p:nvSpPr>
        <p:spPr>
          <a:xfrm xmlns:a="http://schemas.openxmlformats.org/drawingml/2006/main">
            <a:off x="548640" y="5806440"/>
            <a:ext cx="8229600" cy="77724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300" b="1" i="0">
                <a:solidFill>
                  <a:srgbClr val="CF3338"/>
                </a:solidFill>
                <a:latin typeface="Arial"/>
                <a:ea typeface="Arial"/>
                <a:cs typeface="Arial"/>
              </a:rPr>
              <a:t>• </a:t>
            </a:r>
            <a:r>
              <a:rPr sz="1300" b="1" i="0">
                <a:solidFill>
                  <a:srgbClr val="CF3338"/>
                </a:solidFill>
                <a:latin typeface="Arial"/>
                <a:ea typeface="Arial"/>
                <a:cs typeface="Arial"/>
              </a:rPr>
              <a:t>Describe what you want. Paste. Run. Judge.</a:t>
            </a:r>
          </a:p>
        </p:txBody>
      </p:sp>
      <p:sp>
        <p:nvSpPr>
          <p:cNvPr id="7" name="Chat question">
            <a:extLst xmlns:a="http://schemas.openxmlformats.org/drawingml/2006/main">
              <a:ext uri="{FF2B5EF4-FFF2-40B4-BE49-F238E27FC236}">
                <a16:creationId xmlns:a16="http://schemas.microsoft.com/office/drawing/2014/main" id="{456D420B-F353-4D8E-86A7-EE1E565667F9}"/>
              </a:ext>
            </a:extLst>
          </p:cNvPr>
          <p:cNvSpPr>
            <a:spLocks xmlns:a="http://schemas.openxmlformats.org/drawingml/2006/main" noGrp="1"/>
          </p:cNvSpPr>
          <p:nvPr/>
        </p:nvSpPr>
        <p:spPr>
          <a:xfrm xmlns:a="http://schemas.openxmlformats.org/drawingml/2006/main">
            <a:off x="9353550" y="2790825"/>
            <a:ext cx="24288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Which would you chart?</a:t>
            </a:r>
          </a:p>
        </p:txBody>
      </p:sp>
      <p:sp>
        <p:nvSpPr>
          <p:cNvPr id="8" name="Chat choices">
            <a:extLst xmlns:a="http://schemas.openxmlformats.org/drawingml/2006/main">
              <a:ext uri="{FF2B5EF4-FFF2-40B4-BE49-F238E27FC236}">
                <a16:creationId xmlns:a16="http://schemas.microsoft.com/office/drawing/2014/main" id="{B7D87915-E330-4ACD-9A17-BC5065057464}"/>
              </a:ext>
            </a:extLst>
          </p:cNvPr>
          <p:cNvSpPr>
            <a:spLocks xmlns:a="http://schemas.openxmlformats.org/drawingml/2006/main" noGrp="1"/>
          </p:cNvSpPr>
          <p:nvPr/>
        </p:nvSpPr>
        <p:spPr>
          <a:xfrm xmlns:a="http://schemas.openxmlformats.org/drawingml/2006/main">
            <a:off x="9353550" y="4362450"/>
            <a:ext cx="2428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SALES / ORDERS</a:t>
            </a:r>
          </a:p>
        </p:txBody>
      </p:sp>
      <p:sp>
        <p:nvSpPr>
          <p:cNvPr id="9" name="Chat instruction">
            <a:extLst xmlns:a="http://schemas.openxmlformats.org/drawingml/2006/main">
              <a:ext uri="{FF2B5EF4-FFF2-40B4-BE49-F238E27FC236}">
                <a16:creationId xmlns:a16="http://schemas.microsoft.com/office/drawing/2014/main" id="{FBA1B2BD-D97B-405B-B8B3-77714A89CEFF}"/>
              </a:ext>
            </a:extLst>
          </p:cNvPr>
          <p:cNvSpPr>
            <a:spLocks xmlns:a="http://schemas.openxmlformats.org/drawingml/2006/main" noGrp="1"/>
          </p:cNvSpPr>
          <p:nvPr/>
        </p:nvSpPr>
        <p:spPr>
          <a:xfrm xmlns:a="http://schemas.openxmlformats.org/drawingml/2006/main">
            <a:off x="9353550" y="5715000"/>
            <a:ext cx="2428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Type one word</a:t>
            </a:r>
          </a:p>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or a letter in chat.</a:t>
            </a:r>
          </a:p>
        </p:txBody>
      </p:sp>
    </p:spTree>
    <p:extLst>
      <p:ext uri="{BB962C8B-B14F-4D97-AF65-F5344CB8AC3E}">
        <p14:creationId xmlns:p14="http://schemas.microsoft.com/office/powerpoint/2010/main" val="2087788997"/>
      </p:ext>
    </p:extLst>
  </p:cSld>
</p:sld>
</file>

<file path=ppt/slides/slide7.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C13E7B8-B7C0-4722-B536-10C3D7A84E47}"/>
              </a:ext>
            </a:extLst>
          </p:cNvPr>
          <p:cNvSpPr>
            <a:spLocks xmlns:a="http://schemas.openxmlformats.org/drawingml/2006/main" noGrp="1"/>
          </p:cNvSpPr>
          <p:nvPr/>
        </p:nvSpPr>
        <p:spPr>
          <a:xfrm xmlns:a="http://schemas.openxmlformats.org/drawingml/2006/main">
            <a:off x="640080" y="457200"/>
            <a:ext cx="10881360" cy="1188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3000" b="1" i="0">
                <a:solidFill>
                  <a:srgbClr val="1F2120"/>
                </a:solidFill>
                <a:latin typeface="Arial Black"/>
                <a:ea typeface="Arial Black"/>
                <a:cs typeface="Arial Black"/>
              </a:rPr>
              <a:t>Do this at your desk today</a:t>
            </a:r>
          </a:p>
          <a:p xmlns:a="http://schemas.openxmlformats.org/drawingml/2006/main">
            <a:pPr>
              <a:spcBef>
                <a:spcPts val="400"/>
              </a:spcBef>
              <a:buNone/>
            </a:pPr>
            <a:r>
              <a:rPr sz="1500" b="0" i="1">
                <a:solidFill>
                  <a:srgbClr val="CF3338"/>
                </a:solidFill>
                <a:latin typeface="Arial"/>
                <a:ea typeface="Arial"/>
                <a:cs typeface="Arial"/>
              </a:rPr>
              <a:t>Choose one small win</a:t>
            </a:r>
          </a:p>
        </p:txBody>
      </p:sp>
      <p:sp>
        <p:nvSpPr>
          <p:cNvPr id="3" name="TextBox 2">
            <a:extLst xmlns:a="http://schemas.openxmlformats.org/drawingml/2006/main">
              <a:ext uri="{FF2B5EF4-FFF2-40B4-BE49-F238E27FC236}">
                <a16:creationId xmlns:a16="http://schemas.microsoft.com/office/drawing/2014/main" id="{DDA0EA36-7A23-4580-B6E9-282A15549C55}"/>
              </a:ext>
            </a:extLst>
          </p:cNvPr>
          <p:cNvSpPr>
            <a:spLocks xmlns:a="http://schemas.openxmlformats.org/drawingml/2006/main" noGrp="1"/>
          </p:cNvSpPr>
          <p:nvPr/>
        </p:nvSpPr>
        <p:spPr>
          <a:xfrm xmlns:a="http://schemas.openxmlformats.org/drawingml/2006/main">
            <a:off x="640080" y="1783080"/>
            <a:ext cx="10881360" cy="2409825"/>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SUMMARY: If PY is available, run the first code block in today's workbook.</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CHART: Try the chart after loading the table. Check it against the totals.</a:t>
            </a:r>
          </a:p>
          <a:p xmlns:a="http://schemas.openxmlformats.org/drawingml/2006/main">
            <a:pPr>
              <a:spcAft>
                <a:spcPts val="700"/>
              </a:spcAft>
              <a:buNone/>
            </a:pPr>
            <a:r>
              <a:rPr sz="1200" b="1" i="0">
                <a:solidFill>
                  <a:srgbClr val="CF3338"/>
                </a:solidFill>
                <a:latin typeface="Arial"/>
                <a:ea typeface="Arial"/>
                <a:cs typeface="Arial"/>
              </a:rPr>
              <a:t>• </a:t>
            </a:r>
            <a:r>
              <a:rPr sz="1600" b="0" i="0">
                <a:solidFill>
                  <a:srgbClr val="1F2120"/>
                </a:solidFill>
                <a:latin typeface="Arial"/>
                <a:ea typeface="Arial"/>
                <a:cs typeface="Arial"/>
              </a:rPr>
              <a:t>No PY access? Watch the result and choose what you would ask for.</a:t>
            </a:r>
          </a:p>
        </p:txBody>
      </p:sp>
      <p:sp>
        <p:nvSpPr>
          <p:cNvPr id="4" name="Chat prompt panel">
            <a:extLst xmlns:a="http://schemas.openxmlformats.org/drawingml/2006/main">
              <a:ext uri="{FF2B5EF4-FFF2-40B4-BE49-F238E27FC236}">
                <a16:creationId xmlns:a16="http://schemas.microsoft.com/office/drawing/2014/main" id="{B65EDD17-BFC3-4866-85DC-65100DFD2EFD}"/>
              </a:ext>
            </a:extLst>
          </p:cNvPr>
          <p:cNvSpPr>
            <a:spLocks xmlns:a="http://schemas.openxmlformats.org/drawingml/2006/main" noGrp="1"/>
          </p:cNvSpPr>
          <p:nvPr/>
        </p:nvSpPr>
        <p:spPr>
          <a:xfrm xmlns:a="http://schemas.openxmlformats.org/drawingml/2006/main">
            <a:off x="638175" y="4476750"/>
            <a:ext cx="10896600" cy="1352550"/>
          </a:xfrm>
          <a:prstGeom xmlns:a="http://schemas.openxmlformats.org/drawingml/2006/main" prst="rect">
            <a:avLst/>
          </a:prstGeom>
          <a:solidFill xmlns:a="http://schemas.openxmlformats.org/drawingml/2006/main">
            <a:srgbClr val="1F2120"/>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5" name="Chat question">
            <a:extLst xmlns:a="http://schemas.openxmlformats.org/drawingml/2006/main">
              <a:ext uri="{FF2B5EF4-FFF2-40B4-BE49-F238E27FC236}">
                <a16:creationId xmlns:a16="http://schemas.microsoft.com/office/drawing/2014/main" id="{E95FF658-5CD5-48C2-BE5F-030B7A338813}"/>
              </a:ext>
            </a:extLst>
          </p:cNvPr>
          <p:cNvSpPr>
            <a:spLocks xmlns:a="http://schemas.openxmlformats.org/drawingml/2006/main" noGrp="1"/>
          </p:cNvSpPr>
          <p:nvPr/>
        </p:nvSpPr>
        <p:spPr>
          <a:xfrm xmlns:a="http://schemas.openxmlformats.org/drawingml/2006/main">
            <a:off x="857250" y="4619625"/>
            <a:ext cx="1042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Which result would help you first?</a:t>
            </a:r>
          </a:p>
        </p:txBody>
      </p:sp>
      <p:sp>
        <p:nvSpPr>
          <p:cNvPr id="6" name="Chat choices">
            <a:extLst xmlns:a="http://schemas.openxmlformats.org/drawingml/2006/main">
              <a:ext uri="{FF2B5EF4-FFF2-40B4-BE49-F238E27FC236}">
                <a16:creationId xmlns:a16="http://schemas.microsoft.com/office/drawing/2014/main" id="{241F635F-83CF-45D4-8420-7A21CE867A33}"/>
              </a:ext>
            </a:extLst>
          </p:cNvPr>
          <p:cNvSpPr>
            <a:spLocks xmlns:a="http://schemas.openxmlformats.org/drawingml/2006/main" noGrp="1"/>
          </p:cNvSpPr>
          <p:nvPr/>
        </p:nvSpPr>
        <p:spPr>
          <a:xfrm xmlns:a="http://schemas.openxmlformats.org/drawingml/2006/main">
            <a:off x="857250" y="5086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SUMMARY / CHART</a:t>
            </a:r>
          </a:p>
        </p:txBody>
      </p:sp>
      <p:sp>
        <p:nvSpPr>
          <p:cNvPr id="7" name="Chat instruction">
            <a:extLst xmlns:a="http://schemas.openxmlformats.org/drawingml/2006/main">
              <a:ext uri="{FF2B5EF4-FFF2-40B4-BE49-F238E27FC236}">
                <a16:creationId xmlns:a16="http://schemas.microsoft.com/office/drawing/2014/main" id="{D9BAE72A-507C-4ED6-89A2-63578DCEC436}"/>
              </a:ext>
            </a:extLst>
          </p:cNvPr>
          <p:cNvSpPr>
            <a:spLocks xmlns:a="http://schemas.openxmlformats.org/drawingml/2006/main" noGrp="1"/>
          </p:cNvSpPr>
          <p:nvPr/>
        </p:nvSpPr>
        <p:spPr>
          <a:xfrm xmlns:a="http://schemas.openxmlformats.org/drawingml/2006/main">
            <a:off x="8143875" y="52197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Type one word in chat.</a:t>
            </a:r>
          </a:p>
        </p:txBody>
      </p:sp>
    </p:spTree>
    <p:extLst>
      <p:ext uri="{BB962C8B-B14F-4D97-AF65-F5344CB8AC3E}">
        <p14:creationId xmlns:p14="http://schemas.microsoft.com/office/powerpoint/2010/main" val="1693792202"/>
      </p:ext>
    </p:extLst>
  </p:cSld>
</p:sld>
</file>

<file path=ppt/slides/slide8.xml><?xml version="1.0" encoding="utf-8"?>
<p:sld xmlns:p="http://schemas.openxmlformats.org/presentationml/2006/main">
  <p:cSld>
    <p:bg>
      <p:bgPr>
        <a:solidFill xmlns:a="http://schemas.openxmlformats.org/drawingml/2006/main">
          <a:srgbClr val="C00000"/>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61F2C1F-CDAA-4A6B-8B3D-5337773ED477}"/>
              </a:ext>
            </a:extLst>
          </p:cNvPr>
          <p:cNvSpPr>
            <a:spLocks xmlns:a="http://schemas.openxmlformats.org/drawingml/2006/main" noGrp="1"/>
          </p:cNvSpPr>
          <p:nvPr/>
        </p:nvSpPr>
        <p:spPr>
          <a:xfrm xmlns:a="http://schemas.openxmlformats.org/drawingml/2006/main">
            <a:off x="822960" y="2286000"/>
            <a:ext cx="10332720" cy="2743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600" b="1" i="0">
                <a:solidFill>
                  <a:srgbClr val="FFFFFF"/>
                </a:solidFill>
                <a:latin typeface="Arial Black"/>
                <a:ea typeface="Arial Black"/>
                <a:cs typeface="Arial Black"/>
              </a:rPr>
              <a:t>TOMORROW</a:t>
            </a:r>
          </a:p>
          <a:p xmlns:a="http://schemas.openxmlformats.org/drawingml/2006/main">
            <a:pPr>
              <a:spcBef>
                <a:spcPts val="800"/>
              </a:spcBef>
              <a:buNone/>
            </a:pPr>
            <a:r>
              <a:rPr sz="3600" b="1" i="0">
                <a:solidFill>
                  <a:srgbClr val="FFFFFF"/>
                </a:solidFill>
                <a:latin typeface="Arial Black"/>
                <a:ea typeface="Arial Black"/>
                <a:cs typeface="Arial Black"/>
              </a:rPr>
              <a:t>Markdown: the language AI speaks</a:t>
            </a:r>
          </a:p>
          <a:p xmlns:a="http://schemas.openxmlformats.org/drawingml/2006/main">
            <a:pPr>
              <a:spcBef>
                <a:spcPts val="1400"/>
              </a:spcBef>
              <a:buNone/>
            </a:pPr>
            <a:r>
              <a:rPr sz="1800" b="0" i="0">
                <a:solidFill>
                  <a:srgbClr val="FFFFFF"/>
                </a:solidFill>
                <a:latin typeface="Arial"/>
                <a:ea typeface="Arial"/>
                <a:cs typeface="Arial"/>
              </a:rPr>
              <a:t>The cheapest AI upgrade there is, and the finale of the week.</a:t>
            </a:r>
          </a:p>
        </p:txBody>
      </p:sp>
    </p:spTree>
    <p:extLst>
      <p:ext uri="{BB962C8B-B14F-4D97-AF65-F5344CB8AC3E}">
        <p14:creationId xmlns:p14="http://schemas.microsoft.com/office/powerpoint/2010/main" val="2102137290"/>
      </p:ext>
    </p:extLst>
  </p:cSld>
</p:sld>
</file>

<file path=ppt/slides/slide9.xml><?xml version="1.0" encoding="utf-8"?>
<p:sld xmlns:p="http://schemas.openxmlformats.org/presentationml/2006/main">
  <p:cSld>
    <p:bg>
      <p:bgPr>
        <a:solidFill xmlns:a="http://schemas.openxmlformats.org/drawingml/2006/main">
          <a:srgbClr val="C00000"/>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3DB8F2D-9D45-41E7-8016-FC4982998A1C}"/>
              </a:ext>
            </a:extLst>
          </p:cNvPr>
          <p:cNvSpPr>
            <a:spLocks xmlns:a="http://schemas.openxmlformats.org/drawingml/2006/main" noGrp="1"/>
          </p:cNvSpPr>
          <p:nvPr/>
        </p:nvSpPr>
        <p:spPr>
          <a:xfrm xmlns:a="http://schemas.openxmlformats.org/drawingml/2006/main">
            <a:off x="822960" y="2103120"/>
            <a:ext cx="10515600" cy="211455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p xmlns:a="http://schemas.openxmlformats.org/drawingml/2006/main">
            <a:r>
              <a:rPr sz="1600" b="1" i="0">
                <a:solidFill>
                  <a:srgbClr val="FFFFFF"/>
                </a:solidFill>
                <a:latin typeface="Arial Black"/>
                <a:ea typeface="Arial Black"/>
                <a:cs typeface="Arial Black"/>
              </a:rPr>
              <a:t>THANK YOU</a:t>
            </a:r>
          </a:p>
          <a:p xmlns:a="http://schemas.openxmlformats.org/drawingml/2006/main">
            <a:pPr>
              <a:spcBef>
                <a:spcPts val="800"/>
              </a:spcBef>
              <a:buNone/>
            </a:pPr>
            <a:r>
              <a:rPr sz="3600" b="1" i="0">
                <a:solidFill>
                  <a:srgbClr val="FFFFFF"/>
                </a:solidFill>
                <a:latin typeface="Arial Black"/>
                <a:ea typeface="Arial Black"/>
                <a:cs typeface="Arial Black"/>
              </a:rPr>
              <a:t>See you tomorrow at noon Eastern</a:t>
            </a:r>
          </a:p>
          <a:p xmlns:a="http://schemas.openxmlformats.org/drawingml/2006/main">
            <a:pPr>
              <a:spcBef>
                <a:spcPts val="1400"/>
              </a:spcBef>
              <a:buNone/>
            </a:pPr>
            <a:r>
              <a:rPr sz="1800" b="0" i="0">
                <a:solidFill>
                  <a:srgbClr val="FFFFFF"/>
                </a:solidFill>
                <a:latin typeface="Arial"/>
                <a:ea typeface="Arial"/>
                <a:cs typeface="Arial"/>
              </a:rPr>
              <a:t>Replays live in the Stringfest membership vault.</a:t>
            </a:r>
          </a:p>
        </p:txBody>
      </p:sp>
      <p:sp>
        <p:nvSpPr>
          <p:cNvPr id="3" name="Chat prompt panel">
            <a:extLst xmlns:a="http://schemas.openxmlformats.org/drawingml/2006/main">
              <a:ext uri="{FF2B5EF4-FFF2-40B4-BE49-F238E27FC236}">
                <a16:creationId xmlns:a16="http://schemas.microsoft.com/office/drawing/2014/main" id="{2207C50D-D994-4A4F-A985-8C88D0A762F1}"/>
              </a:ext>
            </a:extLst>
          </p:cNvPr>
          <p:cNvSpPr>
            <a:spLocks xmlns:a="http://schemas.openxmlformats.org/drawingml/2006/main" noGrp="1"/>
          </p:cNvSpPr>
          <p:nvPr/>
        </p:nvSpPr>
        <p:spPr>
          <a:xfrm xmlns:a="http://schemas.openxmlformats.org/drawingml/2006/main">
            <a:off x="638175" y="4476750"/>
            <a:ext cx="10896600" cy="1352550"/>
          </a:xfrm>
          <a:prstGeom xmlns:a="http://schemas.openxmlformats.org/drawingml/2006/main" prst="rect">
            <a:avLst/>
          </a:prstGeom>
          <a:solidFill xmlns:a="http://schemas.openxmlformats.org/drawingml/2006/main">
            <a:srgbClr val="1F2120"/>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4" name="Chat question">
            <a:extLst xmlns:a="http://schemas.openxmlformats.org/drawingml/2006/main">
              <a:ext uri="{FF2B5EF4-FFF2-40B4-BE49-F238E27FC236}">
                <a16:creationId xmlns:a16="http://schemas.microsoft.com/office/drawing/2014/main" id="{F64AB2F2-25A1-4662-965C-D05C72806BB5}"/>
              </a:ext>
            </a:extLst>
          </p:cNvPr>
          <p:cNvSpPr>
            <a:spLocks xmlns:a="http://schemas.openxmlformats.org/drawingml/2006/main" noGrp="1"/>
          </p:cNvSpPr>
          <p:nvPr/>
        </p:nvSpPr>
        <p:spPr>
          <a:xfrm xmlns:a="http://schemas.openxmlformats.org/drawingml/2006/main">
            <a:off x="857250" y="4619625"/>
            <a:ext cx="10429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Which part should I revisit?</a:t>
            </a:r>
          </a:p>
        </p:txBody>
      </p:sp>
      <p:sp>
        <p:nvSpPr>
          <p:cNvPr id="5" name="Chat choices">
            <a:extLst xmlns:a="http://schemas.openxmlformats.org/drawingml/2006/main">
              <a:ext uri="{FF2B5EF4-FFF2-40B4-BE49-F238E27FC236}">
                <a16:creationId xmlns:a16="http://schemas.microsoft.com/office/drawing/2014/main" id="{D5254433-0956-4038-9758-F379CFD73D5E}"/>
              </a:ext>
            </a:extLst>
          </p:cNvPr>
          <p:cNvSpPr>
            <a:spLocks xmlns:a="http://schemas.openxmlformats.org/drawingml/2006/main" noGrp="1"/>
          </p:cNvSpPr>
          <p:nvPr/>
        </p:nvSpPr>
        <p:spPr>
          <a:xfrm xmlns:a="http://schemas.openxmlformats.org/drawingml/2006/main">
            <a:off x="857250" y="5086350"/>
            <a:ext cx="685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400" b="1">
                <a:solidFill>
                  <a:srgbClr val="FFFFFF"/>
                </a:solidFill>
                <a:latin typeface="Arial"/>
                <a:ea typeface="Arial"/>
                <a:cs typeface="Arial"/>
              </a:defRPr>
            </a:pPr>
            <a:r>
              <a:rPr sz="2400" b="1">
                <a:solidFill>
                  <a:srgbClr val="FFFFFF"/>
                </a:solidFill>
                <a:latin typeface="Arial"/>
                <a:ea typeface="Arial"/>
                <a:cs typeface="Arial"/>
              </a:rPr>
              <a:t>SETUP / SUMMARY / CHART</a:t>
            </a:r>
          </a:p>
        </p:txBody>
      </p:sp>
      <p:sp>
        <p:nvSpPr>
          <p:cNvPr id="6" name="Chat instruction">
            <a:extLst xmlns:a="http://schemas.openxmlformats.org/drawingml/2006/main">
              <a:ext uri="{FF2B5EF4-FFF2-40B4-BE49-F238E27FC236}">
                <a16:creationId xmlns:a16="http://schemas.microsoft.com/office/drawing/2014/main" id="{5BD598E1-7D1D-4248-9341-586F9678B4E6}"/>
              </a:ext>
            </a:extLst>
          </p:cNvPr>
          <p:cNvSpPr>
            <a:spLocks xmlns:a="http://schemas.openxmlformats.org/drawingml/2006/main" noGrp="1"/>
          </p:cNvSpPr>
          <p:nvPr/>
        </p:nvSpPr>
        <p:spPr>
          <a:xfrm xmlns:a="http://schemas.openxmlformats.org/drawingml/2006/main">
            <a:off x="8143875" y="521970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FFFFFF"/>
                </a:solidFill>
                <a:latin typeface="Arial"/>
                <a:ea typeface="Arial"/>
                <a:cs typeface="Arial"/>
              </a:defRPr>
            </a:pPr>
            <a:r>
              <a:rPr sz="1425" b="0">
                <a:solidFill>
                  <a:srgbClr val="FFFFFF"/>
                </a:solidFill>
                <a:latin typeface="Arial"/>
                <a:ea typeface="Arial"/>
                <a:cs typeface="Arial"/>
              </a:rPr>
              <a:t>A full question is welcome too.</a:t>
            </a:r>
          </a:p>
        </p:txBody>
      </p:sp>
    </p:spTree>
    <p:extLst>
      <p:ext uri="{BB962C8B-B14F-4D97-AF65-F5344CB8AC3E}">
        <p14:creationId xmlns:p14="http://schemas.microsoft.com/office/powerpoint/2010/main" val="172283673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2026-09-27T11:02:58.1080000Z</dcterms:created>
  <dcterms:modified xsi:type="dcterms:W3CDTF">2026-09-27T11:02:58.1080000Z</dcterms:modified>
</coreProperties>
</file>
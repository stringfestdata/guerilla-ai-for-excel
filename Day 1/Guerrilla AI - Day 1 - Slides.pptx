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81"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Guerrilla AI for Excel. I'm George Mount. Today's win is turning an email column into names with Flash Fill, then asking Excel a question about the data. You can watch the whole demo. No typing along required.</a:t>
            </a:r>
          </a:p>
          <a:p>
            <a:endParaRPr/>
          </a:p>
          <a:p>
            <a:r>
              <a:t>CHAT CUE (about 0:30; budget 15 seconds total)</a:t>
            </a:r>
          </a:p>
          <a:p>
            <a:r>
              <a:t>SAY: Let's try the chat with one word: CLEANING or REPORTING. Which takes more of your time? Either answer works. You are welcome to just watch, too.</a:t>
            </a:r>
          </a:p>
          <a:p>
            <a:r>
              <a:t>PAUSE: Wait silently for 8 seconds. Do not repeat the request.</a:t>
            </a:r>
          </a:p>
          <a:p>
            <a:r>
              <a:t>IF SOMEONE REPLIES: Acknowledge one actual answer: 'Thanks. Keep that task in mind as we look at the export.'</a:t>
            </a:r>
          </a:p>
          <a:p>
            <a:r>
              <a:t>IF CHAT IS QUIET: Say, "I'll use cleaning as our starting point."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Keep the opening to 60 seconds. Participation is optional. The learning continues even with no chat replies.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housekeeping, then we get to the good stuff. We run live every day this week, noon to twelve twenty Eastern. Twenty minutes is a promise, and I keep it. Every session is recorded, and the replays live in the Stringfest membership vault, so if you miss a day, that is where to find it. Anything I send, files, forms, follow-ups, goes to the email address you registered with on Eventbrite, so keep an eye on that inbox and reply from that address if you need me. We will use one dataset all week: a sales export from a fictional company called Lakeshore Office Supply, and it is ugly on purpose. In twenty minutes there is no time to type along, so watch the demo, then do the desk actions I give you at the end of each session. That is the deal. Let's talk about why you are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today's guerrilla hook, stated plainly. Microsoft shipped machine learning inside Excel years ago and nobody told you. Flash Fill, which has been sitting on the Data tab since Excel 2013, is pattern recognition. You type one example of what you want and it infers the rule. Analyze Data, right there on the Home tab, runs models against your data and answers questions you type in plain English. Recommended PivotTables is the same idea with training wheels. These examples do not require buying Copilot. The available features depend on your Excel version and account. So before anyone in your organization asks for an AI budget, the guerrilla move is to exhaust the AI you already have. That is the whole day in one sentence. Now let me show you the dataset we will abuse all week.</a:t>
            </a:r>
          </a:p>
          <a:p>
            <a:endParaRPr/>
          </a:p>
          <a:p>
            <a:r>
              <a:t>AVAILABILITY: Do not promise that everyone has this feature. Analyze Data requires Microsoft 365; Python in Excel availability depends on a qualifying account and supported setup. Watching is enough for this session. Sources checked September 27, 2026: https://support.microsoft.com/en-us/excel/analyze-data-in-excel ; https://support.microsoft.com/en-us/excel/python/python-in-excel-availability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Lakeshore Office Supply sales export, and if you work in finance or ops you have met this file before under a different name. Walk through the damage with me. The rep shows up only as an email address, nobody typed an actual name. Product and category are jammed into one column with a dash between them. Region has been typed four different ways, sometimes in caps, sometimes with a trailing space you cannot see. Dates arrive in two formats, some numbers are stored as text, and the prices have dollar signs baked into the cells. And someone helpfully embedded two TOTAL rows and a blank row right in the middle of the data. This exact file follows us through all five days, and each day we make it a little more useful. Today we start with the fastest win in Excel.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 CUE (about 6:00; budget 15 seconds total)</a:t>
            </a:r>
          </a:p>
          <a:p>
            <a:r>
              <a:t>SAY: Quick guess, just YES or NO: if I change the email later, will that filled name update too?</a:t>
            </a:r>
          </a:p>
          <a:p>
            <a:r>
              <a:t>PAUSE: Wait silently for 8 seconds. Do not repeat the request.</a:t>
            </a:r>
          </a:p>
          <a:p>
            <a:r>
              <a:t>IF SOMEONE REPLIES: NO. Flash Fill writes values. It does not create a formula linked to the email. Show the filled cell in the formula bar, then continue.</a:t>
            </a:r>
          </a:p>
          <a:p>
            <a:r>
              <a:t>IF CHAT IS QUIET: Say, "Let's check the filled cell. It is a value, so it will not update with the email."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Use this cue at the indicated demo pause. Keep the Excel window visible when the prompt refers to its result.</a:t>
            </a:r>
          </a:p>
          <a:p>
            <a:endParaRPr/>
          </a:p>
          <a:p>
            <a:r>
              <a:t>ORIGINAL TEACHING SCRIPT</a:t>
            </a:r>
          </a:p>
          <a:p>
            <a:r>
              <a:t>Demo time. I am in the raw-export sheet. We need actual rep names, and all we have is email addresses like marcus dot webb at lakeshoresupply dot com. Watch how fast this is. I click cell I1 and type the header, Rep Name. Now in I2, next to Marcus's email, I type the answer I want: Marcus Webb, capital M, capital W. I press Enter. Now the magic key: Control E. Flash Fill reads my one example, works out the pattern, and fills the entire column. Look at it go. Check Dana Kowalski, Priya Raman, and Tom Delgado against their source emails. I will spot-check two rows near the bottom, because trust but verify applies to every tool this week. That is pattern recognition from a single training example. If you have ever spent an afternoon splitting names by hand, this just gave you your afternoon 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 CUE (about 11:00; budget 15 seconds total)</a:t>
            </a:r>
          </a:p>
          <a:p>
            <a:r>
              <a:t>SAY: Before we add up sales, what should happen to the TOTAL rows: KEEP or REMOVE? One word is plenty.</a:t>
            </a:r>
          </a:p>
          <a:p>
            <a:r>
              <a:t>PAUSE: Wait silently for 8 seconds. Do not repeat the request.</a:t>
            </a:r>
          </a:p>
          <a:p>
            <a:r>
              <a:t>IF SOMEONE REPLIES: REMOVE. They already summarize other rows. Including them as orders can count sales twice. Today, spot the problem. Tomorrow, remove them.</a:t>
            </a:r>
          </a:p>
          <a:p>
            <a:r>
              <a:t>IF CHAT IS QUIET: Say, "I'll remove summary rows before adding up the individual orders."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Use this cue at the indicated demo pause. Keep the Excel window visible when the prompt refers to its result.</a:t>
            </a:r>
          </a:p>
          <a:p>
            <a:endParaRPr/>
          </a:p>
          <a:p>
            <a:r>
              <a:t>ORIGINAL TEACHING SCRIPT</a:t>
            </a:r>
          </a:p>
          <a:p>
            <a:r>
              <a:t>Second demo. I click anywhere in the data, go to the Home tab, and hit Analyze Data. A pane opens with suggestions Excel generated by scanning the data on its own. I will type a question instead: total Amount by Region. Excel parses my English, matches it to columns, and offers a PivotTable, which I insert with one click. Now, look closely at the actual result and check whether it groups and totals the data as expected. We will talk about it on the next slide, and I want you to see it with your own eyes first. While we are here: if the pane ever feels lost, the older sibling is Insert, Recommended PivotTables. Same machine learning, more manual. Check the features available in your Excel account. The demo does not require buying Copilot.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honest moment, and it might be the most important slide of the day. Inspect the actual result rather than promising a particular number of groups. Lakeshore has four intended regions. Extra spaces and inconsistent labels can split or confuse summaries. And those embedded TOTAL rows? They got counted like orders, so the numbers came back inflated. The result depends on the input data and the operation the tool actually performed. Check both. That is the thread of this whole week: the AI is only as good as what it reads, and Wednesday is entirely about fixing that. One more thing while we are talking about free tools. Many of you have Copilot Chat available in Excel right now without a purchased license, and it is worth knowing what employees can already do with it. Whether and how it is enabled is a question for your IT department, so start there rather than with a purchase request.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 CUE (about 16:30; budget 15 seconds total)</a:t>
            </a:r>
          </a:p>
          <a:p>
            <a:r>
              <a:t>SAY: Pick just one thing for later: NAMES for Flash Fill, or TOTALS for checking a summary. Type either word.</a:t>
            </a:r>
          </a:p>
          <a:p>
            <a:r>
              <a:t>PAUSE: Wait silently for 8 seconds. Do not repeat the request.</a:t>
            </a:r>
          </a:p>
          <a:p>
            <a:r>
              <a:t>IF SOMEONE REPLIES: Acknowledge an actual choice. NAMES: type one correct example and try Flash Fill. TOTALS: check one summary for included subtotal rows.</a:t>
            </a:r>
          </a:p>
          <a:p>
            <a:r>
              <a:t>IF CHAT IS QUIET: Say, "I'll start with NAMES: one column and one example."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Use this cue before reading the remaining notes.</a:t>
            </a:r>
          </a:p>
          <a:p>
            <a:endParaRPr/>
          </a:p>
          <a:p>
            <a:r>
              <a:t>TEACHING SCRIPT
Pick one small next action. You do not need to complete every option. NAMES: Try Flash Fill on one email column. Type a correct example, then press Ctrl+E. TOTALS: Check one summary for subtotal rows or inconsistent region labels. Choose one. Check the result against the source.</a:t>
            </a:r>
          </a:p>
          <a:p>
            <a:r>
              <a:t>Your desk actions for today, and there are three. One: find a column you have been cleaning by hand, type one example of what you want next to it, and press Control E. Two: open a real dataset you care about, click Home, Analyze Data, and ask it one question that actually matters to you. Three, and this is the sneaky one: note what it gets wrong. Write the list down. Bring it tomorrow, because the fix for that list is the rest of this week. Ten minutes, all three.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Tomorrow we take the most boring-sounding feature in Excel, tables, and I will show you why it is the single highest-leverage AI-readiness move you can make. Same ugly dataset. You will watch Analyze Data go from confused to sharp with one keyboard shortcut. That is day 2, noon Eastern, twenty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 CUE (about 18:30; budget 15 seconds total)</a:t>
            </a:r>
          </a:p>
          <a:p>
            <a:r>
              <a:t>SAY: Want me to revisit something? Type NAMES, REGIONS, or TOTALS. A full question is welcome too.</a:t>
            </a:r>
          </a:p>
          <a:p>
            <a:r>
              <a:t>PAUSE: Wait silently for 8 seconds. Do not repeat the request.</a:t>
            </a:r>
          </a:p>
          <a:p>
            <a:r>
              <a:t>IF SOMEONE REPLIES: Answer one actual request in about 30 seconds. NAMES: check the example matches its row. REGIONS: spaces and inconsistent labels need cleaning. TOTALS: remove summary rows before summing orders.</a:t>
            </a:r>
          </a:p>
          <a:p>
            <a:r>
              <a:t>IF CHAT IS QUIET: Say, "One useful check before you go: make sure your example matches the email on that same row."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Use this cue before reading the remaining notes.</a:t>
            </a:r>
          </a:p>
          <a:p>
            <a:endParaRPr/>
          </a:p>
          <a:p>
            <a:r>
              <a:t>ORIGINAL TEACHING SCRIPT</a:t>
            </a:r>
          </a:p>
          <a:p>
            <a:r>
              <a:t>That is day 1, and we are on time. Quick recap: Flash Fill is pattern recognition you already own, Analyze Data answers plain-English questions, and dirty data is what makes smart tools look dumb. If you want the replay, it lives in the Stringfest Analytics membership vault along with everything else I have recorded, ten dollars a month, link in the follow-up email.  Thanks, everyone. See you tomorrow at noon.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B0313-58FE-4E7F-9C44-1981999C11F5}"/>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82283D71-929E-4E32-8EF5-76EAADE58A43}"/>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A0570E15-0A1C-477F-9646-643A8D6A9F6C}"/>
              </a:ext>
            </a:extLst>
          </p:cNvPr>
          <p:cNvSpPr>
            <a:spLocks noGrp="1"/>
          </p:cNvSpPr>
          <p:nvPr>
            <p:ph type="dt" idx="10"/>
          </p:nvPr>
        </p:nvSpPr>
        <p:spPr/>
        <p:txBody>
          <a:bodyPr/>
          <a:lstStyle/>
          <a:p>
            <a:fld id="{5BCAD085-E8A6-8845-BD4E-CB4CCA059FC4}" type="datetimeFigureOut">
              <a:t>9/27/2026</a:t>
            </a:fld>
            <a:endParaRPr/>
          </a:p>
        </p:txBody>
      </p:sp>
      <p:sp>
        <p:nvSpPr>
          <p:cNvPr id="5" name="Footer Placeholder 4">
            <a:extLst>
              <a:ext uri="{FF2B5EF4-FFF2-40B4-BE49-F238E27FC236}">
                <a16:creationId xmlns:a16="http://schemas.microsoft.com/office/drawing/2014/main" id="{7E033367-E24F-4329-A3DA-A6492FF1B5E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8D47359-AA9D-4523-9E38-8F3CB60E7DC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063E2-330E-42DD-8AFE-245F629BB024}"/>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0C9616F-8D01-4643-998A-340A1F9C0A9E}"/>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437A679-FD0C-4EF6-966A-361128F648DD}"/>
              </a:ext>
            </a:extLst>
          </p:cNvPr>
          <p:cNvSpPr>
            <a:spLocks noGrp="1"/>
          </p:cNvSpPr>
          <p:nvPr>
            <p:ph type="dt" idx="10"/>
          </p:nvPr>
        </p:nvSpPr>
        <p:spPr/>
        <p:txBody>
          <a:bodyPr/>
          <a:lstStyle/>
          <a:p>
            <a:fld id="{5BCAD085-E8A6-8845-BD4E-CB4CCA059FC4}" type="datetimeFigureOut">
              <a:t>9/27/2026</a:t>
            </a:fld>
            <a:endParaRPr/>
          </a:p>
        </p:txBody>
      </p:sp>
      <p:sp>
        <p:nvSpPr>
          <p:cNvPr id="5" name="Footer Placeholder 4">
            <a:extLst>
              <a:ext uri="{FF2B5EF4-FFF2-40B4-BE49-F238E27FC236}">
                <a16:creationId xmlns:a16="http://schemas.microsoft.com/office/drawing/2014/main" id="{8C4A0811-55E5-4B61-A248-F05AA5ED13B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49B0371-1BD0-4C8B-BE0F-5722F5D0004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8AB7-EED4-487A-A363-E4AEE8AB034F}"/>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717000BD-B932-44F9-B542-B9FF8F74EC76}"/>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45EAD98D-BC1A-4FB1-B1AD-946A55E5F005}"/>
              </a:ext>
            </a:extLst>
          </p:cNvPr>
          <p:cNvSpPr>
            <a:spLocks noGrp="1"/>
          </p:cNvSpPr>
          <p:nvPr>
            <p:ph type="dt" idx="10"/>
          </p:nvPr>
        </p:nvSpPr>
        <p:spPr/>
        <p:txBody>
          <a:bodyPr/>
          <a:lstStyle/>
          <a:p>
            <a:fld id="{5BCAD085-E8A6-8845-BD4E-CB4CCA059FC4}" type="datetimeFigureOut">
              <a:t>9/27/2026</a:t>
            </a:fld>
            <a:endParaRPr/>
          </a:p>
        </p:txBody>
      </p:sp>
      <p:sp>
        <p:nvSpPr>
          <p:cNvPr id="5" name="Footer Placeholder 4">
            <a:extLst>
              <a:ext uri="{FF2B5EF4-FFF2-40B4-BE49-F238E27FC236}">
                <a16:creationId xmlns:a16="http://schemas.microsoft.com/office/drawing/2014/main" id="{5C343EF8-7F98-463A-A89A-77EA49C5330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0719879-F9A9-4AD0-877C-C33286B4203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EF8BD-A578-4387-BB36-F059EAC5653D}"/>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0F32FA67-5B09-4DE1-B1DE-B4DB38B9F06B}"/>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77B38016-2BCC-4F48-B300-00A7A9AE821D}"/>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A54B241E-B3A3-4B71-B89E-5F31947AEB9A}"/>
              </a:ext>
            </a:extLst>
          </p:cNvPr>
          <p:cNvSpPr>
            <a:spLocks noGrp="1"/>
          </p:cNvSpPr>
          <p:nvPr>
            <p:ph type="dt" idx="10"/>
          </p:nvPr>
        </p:nvSpPr>
        <p:spPr/>
        <p:txBody>
          <a:bodyPr/>
          <a:lstStyle/>
          <a:p>
            <a:fld id="{5BCAD085-E8A6-8845-BD4E-CB4CCA059FC4}" type="datetimeFigureOut">
              <a:t>9/27/2026</a:t>
            </a:fld>
            <a:endParaRPr/>
          </a:p>
        </p:txBody>
      </p:sp>
      <p:sp>
        <p:nvSpPr>
          <p:cNvPr id="6" name="Footer Placeholder 5">
            <a:extLst>
              <a:ext uri="{FF2B5EF4-FFF2-40B4-BE49-F238E27FC236}">
                <a16:creationId xmlns:a16="http://schemas.microsoft.com/office/drawing/2014/main" id="{066CBD14-56A7-4368-A906-408EA2A7931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CD8DE49-8B1F-4CAB-92C5-82E0B6C9D0F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8A0D2-C5A8-4A65-80AB-F674FD496849}"/>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C876B16E-190D-436F-8E21-80C01203DAEA}"/>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02AFFE8F-CA4E-4B79-A6D4-AAB613913553}"/>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3D26127F-9EDE-439D-9B31-1C07BC23CCC5}"/>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D4079F1B-7F84-4BBE-8170-A4A3BFA46D46}"/>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83A0BAEC-91E7-4470-AB56-9F3074E75660}"/>
              </a:ext>
            </a:extLst>
          </p:cNvPr>
          <p:cNvSpPr>
            <a:spLocks noGrp="1"/>
          </p:cNvSpPr>
          <p:nvPr>
            <p:ph type="dt" idx="10"/>
          </p:nvPr>
        </p:nvSpPr>
        <p:spPr/>
        <p:txBody>
          <a:bodyPr/>
          <a:lstStyle/>
          <a:p>
            <a:fld id="{5BCAD085-E8A6-8845-BD4E-CB4CCA059FC4}" type="datetimeFigureOut">
              <a:t>9/27/2026</a:t>
            </a:fld>
            <a:endParaRPr/>
          </a:p>
        </p:txBody>
      </p:sp>
      <p:sp>
        <p:nvSpPr>
          <p:cNvPr id="8" name="Footer Placeholder 7">
            <a:extLst>
              <a:ext uri="{FF2B5EF4-FFF2-40B4-BE49-F238E27FC236}">
                <a16:creationId xmlns:a16="http://schemas.microsoft.com/office/drawing/2014/main" id="{FD1E4B0F-A47E-485B-BF7E-742C198BD2BB}"/>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9B278ADA-CA40-4908-A4B9-2471894FDA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B9C04-3C8A-4ECD-98C3-E8C07B051F03}"/>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909FFDE9-307A-4E31-9D21-1FA0A2A77B9E}"/>
              </a:ext>
            </a:extLst>
          </p:cNvPr>
          <p:cNvSpPr>
            <a:spLocks noGrp="1"/>
          </p:cNvSpPr>
          <p:nvPr>
            <p:ph type="dt" idx="10"/>
          </p:nvPr>
        </p:nvSpPr>
        <p:spPr/>
        <p:txBody>
          <a:bodyPr/>
          <a:lstStyle/>
          <a:p>
            <a:fld id="{5BCAD085-E8A6-8845-BD4E-CB4CCA059FC4}" type="datetimeFigureOut">
              <a:t>9/27/2026</a:t>
            </a:fld>
            <a:endParaRPr/>
          </a:p>
        </p:txBody>
      </p:sp>
      <p:sp>
        <p:nvSpPr>
          <p:cNvPr id="4" name="Footer Placeholder 3">
            <a:extLst>
              <a:ext uri="{FF2B5EF4-FFF2-40B4-BE49-F238E27FC236}">
                <a16:creationId xmlns:a16="http://schemas.microsoft.com/office/drawing/2014/main" id="{ACECA23F-85C6-45B7-9E44-47393EB6817A}"/>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6890FA59-86D3-45B9-B219-1BA6E8FCBA4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A8634E-F7B4-4AD3-A6B6-2A951927EC50}"/>
              </a:ext>
            </a:extLst>
          </p:cNvPr>
          <p:cNvSpPr>
            <a:spLocks noGrp="1"/>
          </p:cNvSpPr>
          <p:nvPr>
            <p:ph type="dt" idx="10"/>
          </p:nvPr>
        </p:nvSpPr>
        <p:spPr/>
        <p:txBody>
          <a:bodyPr/>
          <a:lstStyle/>
          <a:p>
            <a:fld id="{5BCAD085-E8A6-8845-BD4E-CB4CCA059FC4}" type="datetimeFigureOut">
              <a:t>9/27/2026</a:t>
            </a:fld>
            <a:endParaRPr/>
          </a:p>
        </p:txBody>
      </p:sp>
      <p:sp>
        <p:nvSpPr>
          <p:cNvPr id="3" name="Footer Placeholder 2">
            <a:extLst>
              <a:ext uri="{FF2B5EF4-FFF2-40B4-BE49-F238E27FC236}">
                <a16:creationId xmlns:a16="http://schemas.microsoft.com/office/drawing/2014/main" id="{53AF1EAA-AA91-46F7-B6C2-4F6978073A2F}"/>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779CA83B-D4E8-49C4-8D9D-EC8F83DD4D3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FCA7-F133-4F74-93E4-BCF539530C9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E5CAAB03-7A34-43DE-B985-2848E727B472}"/>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A147C4D0-DAED-46B6-87D5-1BD18EE05F8D}"/>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E3C476E9-CA72-4D7E-B3F6-C56EEECD91E4}"/>
              </a:ext>
            </a:extLst>
          </p:cNvPr>
          <p:cNvSpPr>
            <a:spLocks noGrp="1"/>
          </p:cNvSpPr>
          <p:nvPr>
            <p:ph type="dt" idx="10"/>
          </p:nvPr>
        </p:nvSpPr>
        <p:spPr/>
        <p:txBody>
          <a:bodyPr/>
          <a:lstStyle/>
          <a:p>
            <a:fld id="{5BCAD085-E8A6-8845-BD4E-CB4CCA059FC4}" type="datetimeFigureOut">
              <a:t>9/27/2026</a:t>
            </a:fld>
            <a:endParaRPr/>
          </a:p>
        </p:txBody>
      </p:sp>
      <p:sp>
        <p:nvSpPr>
          <p:cNvPr id="6" name="Footer Placeholder 5">
            <a:extLst>
              <a:ext uri="{FF2B5EF4-FFF2-40B4-BE49-F238E27FC236}">
                <a16:creationId xmlns:a16="http://schemas.microsoft.com/office/drawing/2014/main" id="{48BC69EF-38D6-4003-9621-D032D2E159C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C599A7D-D5D1-4C2F-A53B-427340A342D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955C4-520F-4A6A-ACE5-7194188BD7F1}"/>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BFC8F556-AFD9-4DFB-944A-53BFFCEF2F70}"/>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823F4DB7-2137-4D02-9E6F-7ECE3D64C2DD}"/>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26EB2151-9114-4A5D-8819-0284A18D6BE1}"/>
              </a:ext>
            </a:extLst>
          </p:cNvPr>
          <p:cNvSpPr>
            <a:spLocks noGrp="1"/>
          </p:cNvSpPr>
          <p:nvPr>
            <p:ph type="dt" idx="10"/>
          </p:nvPr>
        </p:nvSpPr>
        <p:spPr/>
        <p:txBody>
          <a:bodyPr/>
          <a:lstStyle/>
          <a:p>
            <a:fld id="{5BCAD085-E8A6-8845-BD4E-CB4CCA059FC4}" type="datetimeFigureOut">
              <a:t>9/27/2026</a:t>
            </a:fld>
            <a:endParaRPr/>
          </a:p>
        </p:txBody>
      </p:sp>
      <p:sp>
        <p:nvSpPr>
          <p:cNvPr id="6" name="Footer Placeholder 5">
            <a:extLst>
              <a:ext uri="{FF2B5EF4-FFF2-40B4-BE49-F238E27FC236}">
                <a16:creationId xmlns:a16="http://schemas.microsoft.com/office/drawing/2014/main" id="{E340FAE4-FA94-4601-B76C-589D99C3948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4144669D-37FD-468B-B02B-5AB0C1581FA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1B0AF-503A-46FA-A1D0-41F53367A54C}"/>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7B7EA850-0C4D-4D83-B524-64F6748C1E00}"/>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50479CC-77DA-40DC-B9D3-606554CFB19C}"/>
              </a:ext>
            </a:extLst>
          </p:cNvPr>
          <p:cNvSpPr>
            <a:spLocks noGrp="1"/>
          </p:cNvSpPr>
          <p:nvPr>
            <p:ph type="dt" idx="10"/>
          </p:nvPr>
        </p:nvSpPr>
        <p:spPr/>
        <p:txBody>
          <a:bodyPr/>
          <a:lstStyle/>
          <a:p>
            <a:fld id="{5BCAD085-E8A6-8845-BD4E-CB4CCA059FC4}" type="datetimeFigureOut">
              <a:t>9/27/2026</a:t>
            </a:fld>
            <a:endParaRPr/>
          </a:p>
        </p:txBody>
      </p:sp>
      <p:sp>
        <p:nvSpPr>
          <p:cNvPr id="5" name="Footer Placeholder 4">
            <a:extLst>
              <a:ext uri="{FF2B5EF4-FFF2-40B4-BE49-F238E27FC236}">
                <a16:creationId xmlns:a16="http://schemas.microsoft.com/office/drawing/2014/main" id="{D34A10E2-0FA6-4DD2-9201-19486485859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07E19AC-8459-4954-8C2B-6BF83AA1C14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33B5E4-877C-4313-A28D-C223D3AB19E3}"/>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D300149C-2BC1-432A-97F4-03C486E59E0F}"/>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159DA44-B3D6-4B1F-9CCB-CC084F6450F8}"/>
              </a:ext>
            </a:extLst>
          </p:cNvPr>
          <p:cNvSpPr>
            <a:spLocks noGrp="1"/>
          </p:cNvSpPr>
          <p:nvPr>
            <p:ph type="dt" idx="10"/>
          </p:nvPr>
        </p:nvSpPr>
        <p:spPr/>
        <p:txBody>
          <a:bodyPr/>
          <a:lstStyle/>
          <a:p>
            <a:fld id="{5BCAD085-E8A6-8845-BD4E-CB4CCA059FC4}" type="datetimeFigureOut">
              <a:t>9/27/2026</a:t>
            </a:fld>
            <a:endParaRPr/>
          </a:p>
        </p:txBody>
      </p:sp>
      <p:sp>
        <p:nvSpPr>
          <p:cNvPr id="5" name="Footer Placeholder 4">
            <a:extLst>
              <a:ext uri="{FF2B5EF4-FFF2-40B4-BE49-F238E27FC236}">
                <a16:creationId xmlns:a16="http://schemas.microsoft.com/office/drawing/2014/main" id="{3A964BBC-3979-42B4-BBDE-17F26B01AF0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DE600D6-823D-44A0-920B-7BDCD960F30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8B51B5-D83C-4B47-835C-867A3F99C969}"/>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C993F479-C48E-4A54-BDB3-05C0730083F1}"/>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476E339-7483-4F0F-A6DD-5A9B43F4AB40}"/>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9/27/2026</a:t>
            </a:fld>
            <a:endParaRPr/>
          </a:p>
        </p:txBody>
      </p:sp>
      <p:sp>
        <p:nvSpPr>
          <p:cNvPr id="5" name="Footer Placeholder 4">
            <a:extLst>
              <a:ext uri="{FF2B5EF4-FFF2-40B4-BE49-F238E27FC236}">
                <a16:creationId xmlns:a16="http://schemas.microsoft.com/office/drawing/2014/main" id="{871E903E-1CAE-4AD1-A4C4-E0C7125E89B3}"/>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02687492-39A0-44D7-AE7D-6475F380E472}"/>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51D0A8-B316-412F-B3E5-8EB7F0305400}"/>
              </a:ext>
            </a:extLst>
          </p:cNvPr>
          <p:cNvSpPr>
            <a:spLocks noGrp="1"/>
          </p:cNvSpPr>
          <p:nvPr/>
        </p:nvSpPr>
        <p:spPr>
          <a:xfrm>
            <a:off x="640080" y="2103120"/>
            <a:ext cx="10607040" cy="2076450"/>
          </a:xfrm>
          <a:prstGeom prst="rect">
            <a:avLst/>
          </a:prstGeom>
          <a:noFill/>
        </p:spPr>
        <p:txBody>
          <a:bodyPr wrap="square" lIns="0" tIns="0" rIns="0" bIns="0">
            <a:spAutoFit/>
          </a:bodyPr>
          <a:lstStyle/>
          <a:p>
            <a:r>
              <a:rPr sz="1500" b="1" i="0">
                <a:solidFill>
                  <a:srgbClr val="CF3338"/>
                </a:solidFill>
                <a:latin typeface="Arial Black"/>
                <a:ea typeface="Arial Black"/>
                <a:cs typeface="Arial Black"/>
              </a:rPr>
              <a:t>GUERRILLA AI FOR EXCEL. A LIVE SERIES, DAY 1 OF 5</a:t>
            </a:r>
          </a:p>
          <a:p>
            <a:pPr>
              <a:spcBef>
                <a:spcPts val="1000"/>
              </a:spcBef>
              <a:buNone/>
            </a:pPr>
            <a:r>
              <a:rPr sz="4200" b="1" i="0">
                <a:solidFill>
                  <a:srgbClr val="1F2120"/>
                </a:solidFill>
                <a:latin typeface="Arial Black"/>
                <a:ea typeface="Arial Black"/>
                <a:cs typeface="Arial Black"/>
              </a:rPr>
              <a:t>The AI already hiding in your Excel</a:t>
            </a:r>
          </a:p>
          <a:p>
            <a:pPr>
              <a:spcBef>
                <a:spcPts val="1400"/>
              </a:spcBef>
              <a:buNone/>
            </a:pPr>
            <a:r>
              <a:rPr sz="2000" b="0" i="0">
                <a:solidFill>
                  <a:srgbClr val="707070"/>
                </a:solidFill>
                <a:latin typeface="Arial"/>
                <a:ea typeface="Arial"/>
                <a:cs typeface="Arial"/>
              </a:rPr>
              <a:t>Flash Fill, Analyze Data, and the models Microsoft never told you about.</a:t>
            </a:r>
          </a:p>
        </p:txBody>
      </p:sp>
      <p:sp>
        <p:nvSpPr>
          <p:cNvPr id="3" name="TextBox 2">
            <a:extLst>
              <a:ext uri="{FF2B5EF4-FFF2-40B4-BE49-F238E27FC236}">
                <a16:creationId xmlns:a16="http://schemas.microsoft.com/office/drawing/2014/main" id="{18548BF6-9404-47FA-B088-77813D6B2AF4}"/>
              </a:ext>
            </a:extLst>
          </p:cNvPr>
          <p:cNvSpPr>
            <a:spLocks noGrp="1"/>
          </p:cNvSpPr>
          <p:nvPr/>
        </p:nvSpPr>
        <p:spPr>
          <a:xfrm>
            <a:off x="640080" y="6080760"/>
            <a:ext cx="10972800" cy="457200"/>
          </a:xfrm>
          <a:prstGeom prst="rect">
            <a:avLst/>
          </a:prstGeom>
          <a:noFill/>
        </p:spPr>
        <p:txBody>
          <a:bodyPr wrap="square" lIns="0" tIns="0" rIns="0" bIns="0">
            <a:spAutoFit/>
          </a:bodyPr>
          <a:lstStyle/>
          <a:p>
            <a:r>
              <a:rPr sz="1300" b="0" i="1">
                <a:solidFill>
                  <a:srgbClr val="707070"/>
                </a:solidFill>
                <a:latin typeface="Arial"/>
                <a:ea typeface="Arial"/>
                <a:cs typeface="Arial"/>
              </a:rPr>
              <a:t>Live Mon Sep 28 to Fri Oct 2, 12:00 to 12:20 PM ET. Sessions are recorded.</a:t>
            </a:r>
          </a:p>
        </p:txBody>
      </p:sp>
      <p:sp>
        <p:nvSpPr>
          <p:cNvPr id="4" name="TextBox 3">
            <a:extLst>
              <a:ext uri="{FF2B5EF4-FFF2-40B4-BE49-F238E27FC236}">
                <a16:creationId xmlns:a16="http://schemas.microsoft.com/office/drawing/2014/main" id="{752B0494-F96A-41C1-A7F6-C6DECA4B96AE}"/>
              </a:ext>
            </a:extLst>
          </p:cNvPr>
          <p:cNvSpPr>
            <a:spLocks noGrp="1"/>
          </p:cNvSpPr>
          <p:nvPr/>
        </p:nvSpPr>
        <p:spPr>
          <a:xfrm>
            <a:off x="457200" y="384048"/>
            <a:ext cx="4114800" cy="365760"/>
          </a:xfrm>
          <a:prstGeom prst="rect">
            <a:avLst/>
          </a:prstGeom>
          <a:noFill/>
        </p:spPr>
        <p:txBody>
          <a:bodyPr wrap="square" lIns="0" tIns="0" rIns="0" bIns="0">
            <a:spAutoFit/>
          </a:bodyPr>
          <a:lstStyle/>
          <a:p>
            <a:r>
              <a:rPr sz="1300" b="1" i="0">
                <a:solidFill>
                  <a:srgbClr val="CF3338"/>
                </a:solidFill>
                <a:latin typeface="Arial Black"/>
                <a:ea typeface="Arial Black"/>
                <a:cs typeface="Arial Black"/>
              </a:rPr>
              <a:t>STRINGFEST ANALYTICS</a:t>
            </a:r>
          </a:p>
        </p:txBody>
      </p:sp>
    </p:spTree>
    <p:extLst>
      <p:ext uri="{BB962C8B-B14F-4D97-AF65-F5344CB8AC3E}">
        <p14:creationId xmlns:p14="http://schemas.microsoft.com/office/powerpoint/2010/main" val="1794751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330F3B-C254-4FFB-812E-2AEC125E2483}"/>
              </a:ext>
            </a:extLst>
          </p:cNvPr>
          <p:cNvSpPr>
            <a:spLocks noGrp="1"/>
          </p:cNvSpPr>
          <p:nvPr/>
        </p:nvSpPr>
        <p:spPr>
          <a:xfrm>
            <a:off x="640080" y="457200"/>
            <a:ext cx="10881360" cy="1188720"/>
          </a:xfrm>
          <a:prstGeom prst="rect">
            <a:avLst/>
          </a:prstGeom>
          <a:noFill/>
        </p:spPr>
        <p:txBody>
          <a:bodyPr wrap="square" lIns="0" tIns="0" rIns="0" bIns="0">
            <a:spAutoFit/>
          </a:bodyPr>
          <a:lstStyle/>
          <a:p>
            <a:r>
              <a:rPr sz="3000" b="1" i="0">
                <a:solidFill>
                  <a:srgbClr val="1F2120"/>
                </a:solidFill>
                <a:latin typeface="Arial Black"/>
                <a:ea typeface="Arial Black"/>
                <a:cs typeface="Arial Black"/>
              </a:rPr>
              <a:t>How this week works</a:t>
            </a:r>
          </a:p>
          <a:p>
            <a:pPr>
              <a:spcBef>
                <a:spcPts val="400"/>
              </a:spcBef>
              <a:buNone/>
            </a:pPr>
            <a:r>
              <a:rPr sz="1500" b="0" i="1">
                <a:solidFill>
                  <a:srgbClr val="CF3338"/>
                </a:solidFill>
                <a:latin typeface="Arial"/>
                <a:ea typeface="Arial"/>
                <a:cs typeface="Arial"/>
              </a:rPr>
              <a:t>Housekeeping, then we never speak of it again</a:t>
            </a:r>
          </a:p>
        </p:txBody>
      </p:sp>
      <p:sp>
        <p:nvSpPr>
          <p:cNvPr id="3" name="TextBox 2">
            <a:extLst>
              <a:ext uri="{FF2B5EF4-FFF2-40B4-BE49-F238E27FC236}">
                <a16:creationId xmlns:a16="http://schemas.microsoft.com/office/drawing/2014/main" id="{67F43C2D-217C-4CBE-9A25-376BEDD83480}"/>
              </a:ext>
            </a:extLst>
          </p:cNvPr>
          <p:cNvSpPr>
            <a:spLocks noGrp="1"/>
          </p:cNvSpPr>
          <p:nvPr/>
        </p:nvSpPr>
        <p:spPr>
          <a:xfrm>
            <a:off x="640080" y="1783080"/>
            <a:ext cx="10881360" cy="4846320"/>
          </a:xfrm>
          <a:prstGeom prst="rect">
            <a:avLst/>
          </a:prstGeom>
          <a:noFill/>
        </p:spPr>
        <p:txBody>
          <a:bodyPr wrap="square" lIns="0" tIns="0" rIns="0" bIns="0">
            <a:spAutoFit/>
          </a:bodyPr>
          <a:lstStyle/>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Live Monday to Friday, 12:00 to 12:20 PM Eastern. Twenty minutes, one win per day.</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Every session is recorded. Replays live in the Stringfest Analytics membership vault.</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Files and follow-ups go to the email you registered with on Eventbrite. Watch that inbox.</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One shared dataset all week: a genuinely ugly sales export from Lakeshore Office Supply.</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Demos are watch-along. Each day ends with two or three things to do at your desk after.</a:t>
            </a:r>
          </a:p>
        </p:txBody>
      </p:sp>
    </p:spTree>
    <p:extLst>
      <p:ext uri="{BB962C8B-B14F-4D97-AF65-F5344CB8AC3E}">
        <p14:creationId xmlns:p14="http://schemas.microsoft.com/office/powerpoint/2010/main" val="334416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C0E947-B901-4781-8D40-D3AE6DC6C68F}"/>
              </a:ext>
            </a:extLst>
          </p:cNvPr>
          <p:cNvSpPr>
            <a:spLocks noGrp="1"/>
          </p:cNvSpPr>
          <p:nvPr/>
        </p:nvSpPr>
        <p:spPr>
          <a:xfrm>
            <a:off x="640080" y="457200"/>
            <a:ext cx="10881360" cy="1188720"/>
          </a:xfrm>
          <a:prstGeom prst="rect">
            <a:avLst/>
          </a:prstGeom>
          <a:noFill/>
        </p:spPr>
        <p:txBody>
          <a:bodyPr wrap="square" lIns="0" tIns="0" rIns="0" bIns="0">
            <a:spAutoFit/>
          </a:bodyPr>
          <a:lstStyle/>
          <a:p>
            <a:r>
              <a:rPr sz="3000" b="1" i="0">
                <a:solidFill>
                  <a:srgbClr val="1F2120"/>
                </a:solidFill>
                <a:latin typeface="Arial Black"/>
                <a:ea typeface="Arial Black"/>
                <a:cs typeface="Arial Black"/>
              </a:rPr>
              <a:t>Why this counts as AI</a:t>
            </a:r>
          </a:p>
          <a:p>
            <a:pPr>
              <a:spcBef>
                <a:spcPts val="400"/>
              </a:spcBef>
              <a:buNone/>
            </a:pPr>
            <a:r>
              <a:rPr sz="1500" b="0" i="1">
                <a:solidFill>
                  <a:srgbClr val="CF3338"/>
                </a:solidFill>
                <a:latin typeface="Arial"/>
                <a:ea typeface="Arial"/>
                <a:cs typeface="Arial"/>
              </a:rPr>
              <a:t>The guerrilla hook, day 1</a:t>
            </a:r>
          </a:p>
        </p:txBody>
      </p:sp>
      <p:sp>
        <p:nvSpPr>
          <p:cNvPr id="3" name="TextBox 2">
            <a:extLst>
              <a:ext uri="{FF2B5EF4-FFF2-40B4-BE49-F238E27FC236}">
                <a16:creationId xmlns:a16="http://schemas.microsoft.com/office/drawing/2014/main" id="{C353EF1C-4DE6-41A1-8E16-73ABA6648D46}"/>
              </a:ext>
            </a:extLst>
          </p:cNvPr>
          <p:cNvSpPr>
            <a:spLocks noGrp="1"/>
          </p:cNvSpPr>
          <p:nvPr/>
        </p:nvSpPr>
        <p:spPr>
          <a:xfrm>
            <a:off x="640080" y="1783080"/>
            <a:ext cx="10881360" cy="4846320"/>
          </a:xfrm>
          <a:prstGeom prst="rect">
            <a:avLst/>
          </a:prstGeom>
          <a:noFill/>
        </p:spPr>
        <p:txBody>
          <a:bodyPr wrap="square" lIns="0" tIns="0" rIns="0" bIns="0">
            <a:spAutoFit/>
          </a:bodyPr>
          <a:lstStyle/>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Microsoft shipped machine learning inside Excel years ago and nobody told you.</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Flash Fill is pattern recognition. You give one example and it learns the rule.</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Analyze Data and Recommended PivotTables suggest ways to summarize your data.</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The guerrilla skill is knowing these exist and when to reach for them.</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Before asking for an AI budget, exhaust the AI you already have.</a:t>
            </a:r>
          </a:p>
        </p:txBody>
      </p:sp>
    </p:spTree>
    <p:extLst>
      <p:ext uri="{BB962C8B-B14F-4D97-AF65-F5344CB8AC3E}">
        <p14:creationId xmlns:p14="http://schemas.microsoft.com/office/powerpoint/2010/main" val="623969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99CC36-AF2E-4550-A3A5-92244EC1A785}"/>
              </a:ext>
            </a:extLst>
          </p:cNvPr>
          <p:cNvSpPr>
            <a:spLocks noGrp="1"/>
          </p:cNvSpPr>
          <p:nvPr/>
        </p:nvSpPr>
        <p:spPr>
          <a:xfrm>
            <a:off x="640080" y="457200"/>
            <a:ext cx="10881360" cy="1188720"/>
          </a:xfrm>
          <a:prstGeom prst="rect">
            <a:avLst/>
          </a:prstGeom>
          <a:noFill/>
        </p:spPr>
        <p:txBody>
          <a:bodyPr wrap="square" lIns="0" tIns="0" rIns="0" bIns="0">
            <a:spAutoFit/>
          </a:bodyPr>
          <a:lstStyle/>
          <a:p>
            <a:r>
              <a:rPr sz="3000" b="1" i="0">
                <a:solidFill>
                  <a:srgbClr val="1F2120"/>
                </a:solidFill>
                <a:latin typeface="Arial Black"/>
                <a:ea typeface="Arial Black"/>
                <a:cs typeface="Arial Black"/>
              </a:rPr>
              <a:t>Meet the mess: the Lakeshore export</a:t>
            </a:r>
          </a:p>
          <a:p>
            <a:pPr>
              <a:spcBef>
                <a:spcPts val="400"/>
              </a:spcBef>
              <a:buNone/>
            </a:pPr>
            <a:r>
              <a:rPr sz="1500" b="0" i="1">
                <a:solidFill>
                  <a:srgbClr val="CF3338"/>
                </a:solidFill>
                <a:latin typeface="Arial"/>
                <a:ea typeface="Arial"/>
                <a:cs typeface="Arial"/>
              </a:rPr>
              <a:t>One dataset, all five days</a:t>
            </a:r>
          </a:p>
        </p:txBody>
      </p:sp>
      <p:sp>
        <p:nvSpPr>
          <p:cNvPr id="3" name="TextBox 2">
            <a:extLst>
              <a:ext uri="{FF2B5EF4-FFF2-40B4-BE49-F238E27FC236}">
                <a16:creationId xmlns:a16="http://schemas.microsoft.com/office/drawing/2014/main" id="{0DAAA142-AAEA-467C-8596-B8CA4535B5EF}"/>
              </a:ext>
            </a:extLst>
          </p:cNvPr>
          <p:cNvSpPr>
            <a:spLocks noGrp="1"/>
          </p:cNvSpPr>
          <p:nvPr/>
        </p:nvSpPr>
        <p:spPr>
          <a:xfrm>
            <a:off x="640080" y="1783080"/>
            <a:ext cx="10881360" cy="4846320"/>
          </a:xfrm>
          <a:prstGeom prst="rect">
            <a:avLst/>
          </a:prstGeom>
          <a:noFill/>
        </p:spPr>
        <p:txBody>
          <a:bodyPr wrap="square" lIns="0" tIns="0" rIns="0" bIns="0">
            <a:spAutoFit/>
          </a:bodyPr>
          <a:lstStyle/>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Rep appears only as an email address</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Product and category jammed into one column</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Region typed four different ways, some with stray spaces</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Dates in two formats, numbers stored as text, prices with $ signs</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Two TOTAL rows and a blank row buried in the data</a:t>
            </a:r>
          </a:p>
        </p:txBody>
      </p:sp>
    </p:spTree>
    <p:extLst>
      <p:ext uri="{BB962C8B-B14F-4D97-AF65-F5344CB8AC3E}">
        <p14:creationId xmlns:p14="http://schemas.microsoft.com/office/powerpoint/2010/main" val="954330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472192-5C9F-4ABB-98E7-B7586C2C374D}"/>
              </a:ext>
            </a:extLst>
          </p:cNvPr>
          <p:cNvSpPr>
            <a:spLocks noGrp="1"/>
          </p:cNvSpPr>
          <p:nvPr/>
        </p:nvSpPr>
        <p:spPr>
          <a:xfrm>
            <a:off x="9082735" y="0"/>
            <a:ext cx="3108960" cy="6858000"/>
          </a:xfrm>
          <a:prstGeom prst="rect">
            <a:avLst/>
          </a:prstGeom>
          <a:solidFill>
            <a:srgbClr val="CF33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345E01E3-E40C-4AEC-8DE1-88988D828AEC}"/>
              </a:ext>
            </a:extLst>
          </p:cNvPr>
          <p:cNvSpPr>
            <a:spLocks noGrp="1"/>
          </p:cNvSpPr>
          <p:nvPr/>
        </p:nvSpPr>
        <p:spPr>
          <a:xfrm>
            <a:off x="9311335" y="640080"/>
            <a:ext cx="2468880" cy="1828800"/>
          </a:xfrm>
          <a:prstGeom prst="rect">
            <a:avLst/>
          </a:prstGeom>
          <a:noFill/>
        </p:spPr>
        <p:txBody>
          <a:bodyPr wrap="square" lIns="0" tIns="0" rIns="0" bIns="0">
            <a:spAutoFit/>
          </a:bodyPr>
          <a:lstStyle/>
          <a:p>
            <a:r>
              <a:rPr sz="2600" b="1" i="0">
                <a:solidFill>
                  <a:srgbClr val="FFFFFF"/>
                </a:solidFill>
                <a:latin typeface="Arial Black"/>
                <a:ea typeface="Arial Black"/>
                <a:cs typeface="Arial Black"/>
              </a:rPr>
              <a:t>LIVE</a:t>
            </a:r>
          </a:p>
          <a:p>
            <a:r>
              <a:rPr sz="2600" b="1" i="0">
                <a:solidFill>
                  <a:srgbClr val="FFFFFF"/>
                </a:solidFill>
                <a:latin typeface="Arial Black"/>
                <a:ea typeface="Arial Black"/>
                <a:cs typeface="Arial Black"/>
              </a:rPr>
              <a:t>DEMO</a:t>
            </a:r>
          </a:p>
        </p:txBody>
      </p:sp>
      <p:sp>
        <p:nvSpPr>
          <p:cNvPr id="4" name="TextBox 3">
            <a:extLst>
              <a:ext uri="{FF2B5EF4-FFF2-40B4-BE49-F238E27FC236}">
                <a16:creationId xmlns:a16="http://schemas.microsoft.com/office/drawing/2014/main" id="{83E7A947-3801-4917-B83F-EAFBF762EB38}"/>
              </a:ext>
            </a:extLst>
          </p:cNvPr>
          <p:cNvSpPr>
            <a:spLocks noGrp="1"/>
          </p:cNvSpPr>
          <p:nvPr/>
        </p:nvSpPr>
        <p:spPr>
          <a:xfrm>
            <a:off x="548640" y="411480"/>
            <a:ext cx="8229600" cy="1097280"/>
          </a:xfrm>
          <a:prstGeom prst="rect">
            <a:avLst/>
          </a:prstGeom>
          <a:noFill/>
        </p:spPr>
        <p:txBody>
          <a:bodyPr wrap="square" lIns="0" tIns="0" rIns="0" bIns="0">
            <a:spAutoFit/>
          </a:bodyPr>
          <a:lstStyle/>
          <a:p>
            <a:r>
              <a:rPr sz="2500" b="1" i="0">
                <a:solidFill>
                  <a:srgbClr val="CF3338"/>
                </a:solidFill>
                <a:latin typeface="Arial Black"/>
                <a:ea typeface="Arial Black"/>
                <a:cs typeface="Arial Black"/>
              </a:rPr>
              <a:t>Live demo: Flash Fill</a:t>
            </a:r>
          </a:p>
          <a:p>
            <a:pPr>
              <a:spcBef>
                <a:spcPts val="300"/>
              </a:spcBef>
              <a:buNone/>
            </a:pPr>
            <a:r>
              <a:rPr sz="1450" b="0" i="1">
                <a:solidFill>
                  <a:srgbClr val="707070"/>
                </a:solidFill>
                <a:latin typeface="Arial"/>
                <a:ea typeface="Arial"/>
                <a:cs typeface="Arial"/>
              </a:rPr>
              <a:t>One typed example teaches Excel the pattern. Watch column I.</a:t>
            </a:r>
          </a:p>
        </p:txBody>
      </p:sp>
      <p:sp>
        <p:nvSpPr>
          <p:cNvPr id="5" name="Rounded Rectangle 4">
            <a:extLst>
              <a:ext uri="{FF2B5EF4-FFF2-40B4-BE49-F238E27FC236}">
                <a16:creationId xmlns:a16="http://schemas.microsoft.com/office/drawing/2014/main" id="{80A09D0F-1021-4CB7-B8B8-E77835FC94EF}"/>
              </a:ext>
            </a:extLst>
          </p:cNvPr>
          <p:cNvSpPr>
            <a:spLocks noGrp="1"/>
          </p:cNvSpPr>
          <p:nvPr/>
        </p:nvSpPr>
        <p:spPr>
          <a:xfrm>
            <a:off x="548640" y="1600200"/>
            <a:ext cx="8229600" cy="402336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wrap="square" lIns="256032" tIns="182880" rIns="182880" bIns="109728" anchor="t"/>
          <a:lstStyle/>
          <a:p>
            <a:pPr algn="l">
              <a:spcAft>
                <a:spcPts val="100"/>
              </a:spcAft>
              <a:buNone/>
            </a:pPr>
            <a:r>
              <a:rPr sz="1300" b="0" i="0">
                <a:solidFill>
                  <a:srgbClr val="9EC57A"/>
                </a:solidFill>
                <a:latin typeface="Consolas"/>
                <a:ea typeface="Consolas"/>
                <a:cs typeface="Consolas"/>
              </a:rPr>
              <a:t># Split a clean name out of the email column</a:t>
            </a:r>
          </a:p>
          <a:p>
            <a:pPr algn="l">
              <a:spcAft>
                <a:spcPts val="100"/>
              </a:spcAft>
              <a:buNone/>
            </a:pPr>
            <a:r>
              <a:rPr sz="1300" b="0" i="0">
                <a:solidFill>
                  <a:srgbClr val="F5F5F5"/>
                </a:solidFill>
                <a:latin typeface="Consolas"/>
                <a:ea typeface="Consolas"/>
                <a:cs typeface="Consolas"/>
              </a:rPr>
              <a:t>1. On raw-export, click cell I1 and type: Rep Name</a:t>
            </a:r>
          </a:p>
          <a:p>
            <a:pPr algn="l">
              <a:spcAft>
                <a:spcPts val="100"/>
              </a:spcAft>
              <a:buNone/>
            </a:pPr>
            <a:r>
              <a:rPr sz="1300" b="0" i="0">
                <a:solidFill>
                  <a:srgbClr val="F5F5F5"/>
                </a:solidFill>
                <a:latin typeface="Consolas"/>
                <a:ea typeface="Consolas"/>
                <a:cs typeface="Consolas"/>
              </a:rPr>
              <a:t>2. In I2, type the answer for row 2: Marcus Webb</a:t>
            </a:r>
          </a:p>
          <a:p>
            <a:pPr algn="l">
              <a:spcAft>
                <a:spcPts val="100"/>
              </a:spcAft>
              <a:buNone/>
            </a:pPr>
            <a:r>
              <a:rPr sz="1300" b="0" i="0">
                <a:solidFill>
                  <a:srgbClr val="F5F5F5"/>
                </a:solidFill>
                <a:latin typeface="Consolas"/>
                <a:ea typeface="Consolas"/>
                <a:cs typeface="Consolas"/>
              </a:rPr>
              <a:t>3. Press Enter, then press Ctrl+E (Flash Fill)</a:t>
            </a:r>
          </a:p>
          <a:p>
            <a:pPr algn="l">
              <a:spcAft>
                <a:spcPts val="100"/>
              </a:spcAft>
              <a:buNone/>
            </a:pPr>
            <a:r>
              <a:rPr sz="1300" b="0" i="0">
                <a:solidFill>
                  <a:srgbClr val="F5F5F5"/>
                </a:solidFill>
                <a:latin typeface="Consolas"/>
                <a:ea typeface="Consolas"/>
                <a:cs typeface="Consolas"/>
              </a:rPr>
              <a:t>4. Watch the whole column fill from your one example</a:t>
            </a:r>
          </a:p>
          <a:p>
            <a:pPr algn="l">
              <a:spcAft>
                <a:spcPts val="100"/>
              </a:spcAft>
              <a:buNone/>
            </a:pPr>
            <a:r>
              <a:rPr sz="1300" b="0" i="0">
                <a:solidFill>
                  <a:srgbClr val="F5F5F5"/>
                </a:solidFill>
                <a:latin typeface="Consolas"/>
                <a:ea typeface="Consolas"/>
                <a:cs typeface="Consolas"/>
              </a:rPr>
              <a:t>5. Spot-check two rows near the bottom</a:t>
            </a:r>
          </a:p>
        </p:txBody>
      </p:sp>
      <p:sp>
        <p:nvSpPr>
          <p:cNvPr id="6" name="TextBox 5">
            <a:extLst>
              <a:ext uri="{FF2B5EF4-FFF2-40B4-BE49-F238E27FC236}">
                <a16:creationId xmlns:a16="http://schemas.microsoft.com/office/drawing/2014/main" id="{F2104570-B25D-4E0E-B5D3-63779E4B8905}"/>
              </a:ext>
            </a:extLst>
          </p:cNvPr>
          <p:cNvSpPr>
            <a:spLocks noGrp="1"/>
          </p:cNvSpPr>
          <p:nvPr/>
        </p:nvSpPr>
        <p:spPr>
          <a:xfrm>
            <a:off x="548640" y="5806440"/>
            <a:ext cx="8229600" cy="777240"/>
          </a:xfrm>
          <a:prstGeom prst="rect">
            <a:avLst/>
          </a:prstGeom>
          <a:noFill/>
        </p:spPr>
        <p:txBody>
          <a:bodyPr wrap="square" lIns="0" tIns="0" rIns="0" bIns="0">
            <a:spAutoFit/>
          </a:bodyPr>
          <a:lstStyle/>
          <a:p>
            <a:r>
              <a:rPr sz="1300" b="1" i="0">
                <a:solidFill>
                  <a:srgbClr val="CF3338"/>
                </a:solidFill>
                <a:latin typeface="Arial"/>
                <a:ea typeface="Arial"/>
                <a:cs typeface="Arial"/>
              </a:rPr>
              <a:t>• Machine learning, shipped in 2013, license cost: zero</a:t>
            </a:r>
          </a:p>
        </p:txBody>
      </p:sp>
      <p:sp>
        <p:nvSpPr>
          <p:cNvPr id="7" name="Chat question">
            <a:extLst>
              <a:ext uri="{FF2B5EF4-FFF2-40B4-BE49-F238E27FC236}">
                <a16:creationId xmlns:a16="http://schemas.microsoft.com/office/drawing/2014/main" id="{1B4B8A22-F6FB-42D7-858B-BCB903107F96}"/>
              </a:ext>
            </a:extLst>
          </p:cNvPr>
          <p:cNvSpPr>
            <a:spLocks noGrp="1"/>
          </p:cNvSpPr>
          <p:nvPr/>
        </p:nvSpPr>
        <p:spPr>
          <a:xfrm>
            <a:off x="9353550" y="2790825"/>
            <a:ext cx="2428875" cy="1362075"/>
          </a:xfrm>
          <a:prstGeom prst="rect">
            <a:avLst/>
          </a:prstGeom>
          <a:noFill/>
          <a:ln w="0">
            <a:noFill/>
          </a:ln>
        </p:spPr>
        <p:txBody>
          <a:bodyPr wrap="square" lIns="0" tIns="0" rIns="0" bIns="0">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Email changes later.</a:t>
            </a:r>
          </a:p>
          <a:p>
            <a:pPr>
              <a:defRPr sz="2175" b="1">
                <a:solidFill>
                  <a:srgbClr val="FFFFFF"/>
                </a:solidFill>
                <a:latin typeface="Arial"/>
                <a:ea typeface="Arial"/>
                <a:cs typeface="Arial"/>
              </a:defRPr>
            </a:pPr>
            <a:r>
              <a:rPr sz="2175" b="1">
                <a:solidFill>
                  <a:srgbClr val="FFFFFF"/>
                </a:solidFill>
                <a:latin typeface="Arial"/>
                <a:ea typeface="Arial"/>
                <a:cs typeface="Arial"/>
              </a:rPr>
              <a:t>Will Flash Fill update?</a:t>
            </a:r>
          </a:p>
        </p:txBody>
      </p:sp>
      <p:sp>
        <p:nvSpPr>
          <p:cNvPr id="8" name="Chat choices">
            <a:extLst>
              <a:ext uri="{FF2B5EF4-FFF2-40B4-BE49-F238E27FC236}">
                <a16:creationId xmlns:a16="http://schemas.microsoft.com/office/drawing/2014/main" id="{1F41F95F-56E1-4D79-B957-31D20F0E9364}"/>
              </a:ext>
            </a:extLst>
          </p:cNvPr>
          <p:cNvSpPr>
            <a:spLocks noGrp="1"/>
          </p:cNvSpPr>
          <p:nvPr/>
        </p:nvSpPr>
        <p:spPr>
          <a:xfrm>
            <a:off x="9353550" y="4362450"/>
            <a:ext cx="2428875" cy="1009650"/>
          </a:xfrm>
          <a:prstGeom prst="rect">
            <a:avLst/>
          </a:prstGeom>
          <a:noFill/>
          <a:ln w="0">
            <a:noFill/>
          </a:ln>
        </p:spPr>
        <p:txBody>
          <a:bodyPr wrap="square" lIns="0" tIns="0" rIns="0" bIns="0">
            <a:noAutofit/>
          </a:bodyPr>
          <a:lstStyle/>
          <a:p>
            <a:pPr>
              <a:defRPr sz="1950" b="1">
                <a:solidFill>
                  <a:srgbClr val="FFFFFF"/>
                </a:solidFill>
                <a:latin typeface="Arial"/>
                <a:ea typeface="Arial"/>
                <a:cs typeface="Arial"/>
              </a:defRPr>
            </a:pPr>
            <a:r>
              <a:rPr sz="1950" b="1">
                <a:solidFill>
                  <a:srgbClr val="FFFFFF"/>
                </a:solidFill>
                <a:latin typeface="Arial"/>
                <a:ea typeface="Arial"/>
                <a:cs typeface="Arial"/>
              </a:rPr>
              <a:t>YES / NO</a:t>
            </a:r>
          </a:p>
        </p:txBody>
      </p:sp>
      <p:sp>
        <p:nvSpPr>
          <p:cNvPr id="9" name="Chat instruction">
            <a:extLst>
              <a:ext uri="{FF2B5EF4-FFF2-40B4-BE49-F238E27FC236}">
                <a16:creationId xmlns:a16="http://schemas.microsoft.com/office/drawing/2014/main" id="{CFCF5993-B7DA-4641-BD89-3E3878F1A9F5}"/>
              </a:ext>
            </a:extLst>
          </p:cNvPr>
          <p:cNvSpPr>
            <a:spLocks noGrp="1"/>
          </p:cNvSpPr>
          <p:nvPr/>
        </p:nvSpPr>
        <p:spPr>
          <a:xfrm>
            <a:off x="9353550" y="5715000"/>
            <a:ext cx="2428875" cy="609600"/>
          </a:xfrm>
          <a:prstGeom prst="rect">
            <a:avLst/>
          </a:prstGeom>
          <a:noFill/>
          <a:ln w="0">
            <a:noFill/>
          </a:ln>
        </p:spPr>
        <p:txBody>
          <a:bodyPr wrap="square" lIns="0" tIns="0" rIns="0" bIns="0">
            <a:noAutofit/>
          </a:bodyPr>
          <a:lstStyle/>
          <a:p>
            <a:pPr>
              <a:defRPr sz="1500" b="0">
                <a:solidFill>
                  <a:srgbClr val="FFFFFF"/>
                </a:solidFill>
                <a:latin typeface="Arial"/>
                <a:ea typeface="Arial"/>
                <a:cs typeface="Arial"/>
              </a:defRPr>
            </a:pPr>
            <a:r>
              <a:rPr sz="1500" b="0">
                <a:solidFill>
                  <a:srgbClr val="FFFFFF"/>
                </a:solidFill>
                <a:latin typeface="Arial"/>
                <a:ea typeface="Arial"/>
                <a:cs typeface="Arial"/>
              </a:rPr>
              <a:t>Type one word</a:t>
            </a:r>
          </a:p>
          <a:p>
            <a:pPr>
              <a:defRPr sz="1500" b="0">
                <a:solidFill>
                  <a:srgbClr val="FFFFFF"/>
                </a:solidFill>
                <a:latin typeface="Arial"/>
                <a:ea typeface="Arial"/>
                <a:cs typeface="Arial"/>
              </a:defRPr>
            </a:pPr>
            <a:r>
              <a:rPr sz="1500" b="0">
                <a:solidFill>
                  <a:srgbClr val="FFFFFF"/>
                </a:solidFill>
                <a:latin typeface="Arial"/>
                <a:ea typeface="Arial"/>
                <a:cs typeface="Arial"/>
              </a:rPr>
              <a:t>or a letter in chat.</a:t>
            </a:r>
          </a:p>
        </p:txBody>
      </p:sp>
    </p:spTree>
    <p:extLst>
      <p:ext uri="{BB962C8B-B14F-4D97-AF65-F5344CB8AC3E}">
        <p14:creationId xmlns:p14="http://schemas.microsoft.com/office/powerpoint/2010/main" val="524443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56FB9C-E237-412C-B93C-046EFEBF3D8A}"/>
              </a:ext>
            </a:extLst>
          </p:cNvPr>
          <p:cNvSpPr>
            <a:spLocks noGrp="1"/>
          </p:cNvSpPr>
          <p:nvPr/>
        </p:nvSpPr>
        <p:spPr>
          <a:xfrm>
            <a:off x="9082735" y="0"/>
            <a:ext cx="3108960" cy="6858000"/>
          </a:xfrm>
          <a:prstGeom prst="rect">
            <a:avLst/>
          </a:prstGeom>
          <a:solidFill>
            <a:srgbClr val="CF33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604CC45-53CD-4902-BF54-327E34ED00A7}"/>
              </a:ext>
            </a:extLst>
          </p:cNvPr>
          <p:cNvSpPr>
            <a:spLocks noGrp="1"/>
          </p:cNvSpPr>
          <p:nvPr/>
        </p:nvSpPr>
        <p:spPr>
          <a:xfrm>
            <a:off x="9311335" y="640080"/>
            <a:ext cx="2468880" cy="1828800"/>
          </a:xfrm>
          <a:prstGeom prst="rect">
            <a:avLst/>
          </a:prstGeom>
          <a:noFill/>
        </p:spPr>
        <p:txBody>
          <a:bodyPr wrap="square" lIns="0" tIns="0" rIns="0" bIns="0">
            <a:spAutoFit/>
          </a:bodyPr>
          <a:lstStyle/>
          <a:p>
            <a:r>
              <a:rPr sz="2600" b="1" i="0">
                <a:solidFill>
                  <a:srgbClr val="FFFFFF"/>
                </a:solidFill>
                <a:latin typeface="Arial Black"/>
                <a:ea typeface="Arial Black"/>
                <a:cs typeface="Arial Black"/>
              </a:rPr>
              <a:t>LIVE</a:t>
            </a:r>
          </a:p>
          <a:p>
            <a:r>
              <a:rPr sz="2600" b="1" i="0">
                <a:solidFill>
                  <a:srgbClr val="FFFFFF"/>
                </a:solidFill>
                <a:latin typeface="Arial Black"/>
                <a:ea typeface="Arial Black"/>
                <a:cs typeface="Arial Black"/>
              </a:rPr>
              <a:t>DEMO</a:t>
            </a:r>
          </a:p>
        </p:txBody>
      </p:sp>
      <p:sp>
        <p:nvSpPr>
          <p:cNvPr id="4" name="TextBox 3">
            <a:extLst>
              <a:ext uri="{FF2B5EF4-FFF2-40B4-BE49-F238E27FC236}">
                <a16:creationId xmlns:a16="http://schemas.microsoft.com/office/drawing/2014/main" id="{996B19F4-824A-420D-B608-B6E9B80A6BB1}"/>
              </a:ext>
            </a:extLst>
          </p:cNvPr>
          <p:cNvSpPr>
            <a:spLocks noGrp="1"/>
          </p:cNvSpPr>
          <p:nvPr/>
        </p:nvSpPr>
        <p:spPr>
          <a:xfrm>
            <a:off x="548640" y="411480"/>
            <a:ext cx="8229600" cy="1097280"/>
          </a:xfrm>
          <a:prstGeom prst="rect">
            <a:avLst/>
          </a:prstGeom>
          <a:noFill/>
        </p:spPr>
        <p:txBody>
          <a:bodyPr wrap="square" lIns="0" tIns="0" rIns="0" bIns="0">
            <a:spAutoFit/>
          </a:bodyPr>
          <a:lstStyle/>
          <a:p>
            <a:r>
              <a:rPr sz="2500" b="1" i="0">
                <a:solidFill>
                  <a:srgbClr val="CF3338"/>
                </a:solidFill>
                <a:latin typeface="Arial Black"/>
                <a:ea typeface="Arial Black"/>
                <a:cs typeface="Arial Black"/>
              </a:rPr>
              <a:t>Live demo: Analyze Data</a:t>
            </a:r>
          </a:p>
          <a:p>
            <a:pPr>
              <a:spcBef>
                <a:spcPts val="300"/>
              </a:spcBef>
              <a:buNone/>
            </a:pPr>
            <a:r>
              <a:rPr sz="1450" b="0" i="1">
                <a:solidFill>
                  <a:srgbClr val="707070"/>
                </a:solidFill>
                <a:latin typeface="Arial"/>
                <a:ea typeface="Arial"/>
                <a:cs typeface="Arial"/>
              </a:rPr>
              <a:t>Ask a question in plain English, get a PivotTable back.</a:t>
            </a:r>
          </a:p>
        </p:txBody>
      </p:sp>
      <p:sp>
        <p:nvSpPr>
          <p:cNvPr id="5" name="Rounded Rectangle 4">
            <a:extLst>
              <a:ext uri="{FF2B5EF4-FFF2-40B4-BE49-F238E27FC236}">
                <a16:creationId xmlns:a16="http://schemas.microsoft.com/office/drawing/2014/main" id="{30A25AE8-5B85-453B-91CE-DD09F659C3DC}"/>
              </a:ext>
            </a:extLst>
          </p:cNvPr>
          <p:cNvSpPr>
            <a:spLocks noGrp="1"/>
          </p:cNvSpPr>
          <p:nvPr/>
        </p:nvSpPr>
        <p:spPr>
          <a:xfrm>
            <a:off x="548640" y="1600200"/>
            <a:ext cx="8229600" cy="402336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wrap="square" lIns="256032" tIns="182880" rIns="182880" bIns="109728" anchor="t"/>
          <a:lstStyle/>
          <a:p>
            <a:pPr algn="l">
              <a:spcAft>
                <a:spcPts val="100"/>
              </a:spcAft>
              <a:buNone/>
            </a:pPr>
            <a:r>
              <a:rPr sz="1300" b="0" i="0">
                <a:solidFill>
                  <a:srgbClr val="9EC57A"/>
                </a:solidFill>
                <a:latin typeface="Consolas"/>
                <a:ea typeface="Consolas"/>
                <a:cs typeface="Consolas"/>
              </a:rPr>
              <a:t># Ask Excel a question in plain English</a:t>
            </a:r>
          </a:p>
          <a:p>
            <a:pPr algn="l">
              <a:spcAft>
                <a:spcPts val="100"/>
              </a:spcAft>
              <a:buNone/>
            </a:pPr>
            <a:r>
              <a:rPr sz="1300" b="0" i="0">
                <a:solidFill>
                  <a:srgbClr val="F5F5F5"/>
                </a:solidFill>
                <a:latin typeface="Consolas"/>
                <a:ea typeface="Consolas"/>
                <a:cs typeface="Consolas"/>
              </a:rPr>
              <a:t>1. Click anywhere in the data</a:t>
            </a:r>
          </a:p>
          <a:p>
            <a:pPr algn="l">
              <a:spcAft>
                <a:spcPts val="100"/>
              </a:spcAft>
              <a:buNone/>
            </a:pPr>
            <a:r>
              <a:rPr sz="1300" b="0" i="0">
                <a:solidFill>
                  <a:srgbClr val="F5F5F5"/>
                </a:solidFill>
                <a:latin typeface="Consolas"/>
                <a:ea typeface="Consolas"/>
                <a:cs typeface="Consolas"/>
              </a:rPr>
              <a:t>2. Home tab &gt; Analyze Data</a:t>
            </a:r>
          </a:p>
          <a:p>
            <a:pPr algn="l">
              <a:spcAft>
                <a:spcPts val="100"/>
              </a:spcAft>
              <a:buNone/>
            </a:pPr>
            <a:r>
              <a:rPr sz="1300" b="0" i="0">
                <a:solidFill>
                  <a:srgbClr val="F5F5F5"/>
                </a:solidFill>
                <a:latin typeface="Consolas"/>
                <a:ea typeface="Consolas"/>
                <a:cs typeface="Consolas"/>
              </a:rPr>
              <a:t>3. Type: total Amount by Region</a:t>
            </a:r>
          </a:p>
          <a:p>
            <a:pPr algn="l">
              <a:spcAft>
                <a:spcPts val="100"/>
              </a:spcAft>
              <a:buNone/>
            </a:pPr>
            <a:r>
              <a:rPr sz="1300" b="0" i="0">
                <a:solidFill>
                  <a:srgbClr val="F5F5F5"/>
                </a:solidFill>
                <a:latin typeface="Consolas"/>
                <a:ea typeface="Consolas"/>
                <a:cs typeface="Consolas"/>
              </a:rPr>
              <a:t>4. Insert the suggested PivotTable</a:t>
            </a:r>
          </a:p>
          <a:p>
            <a:pPr algn="l">
              <a:spcAft>
                <a:spcPts val="100"/>
              </a:spcAft>
              <a:buNone/>
            </a:pPr>
            <a:r>
              <a:rPr sz="1300" b="0" i="0">
                <a:solidFill>
                  <a:srgbClr val="F5F5F5"/>
                </a:solidFill>
                <a:latin typeface="Consolas"/>
                <a:ea typeface="Consolas"/>
                <a:cs typeface="Consolas"/>
              </a:rPr>
              <a:t>5. Fallback: Insert &gt; Recommended PivotTables</a:t>
            </a:r>
          </a:p>
        </p:txBody>
      </p:sp>
      <p:sp>
        <p:nvSpPr>
          <p:cNvPr id="6" name="TextBox 5">
            <a:extLst>
              <a:ext uri="{FF2B5EF4-FFF2-40B4-BE49-F238E27FC236}">
                <a16:creationId xmlns:a16="http://schemas.microsoft.com/office/drawing/2014/main" id="{8EC849C3-924C-44CC-990E-1A980EFF7AEB}"/>
              </a:ext>
            </a:extLst>
          </p:cNvPr>
          <p:cNvSpPr>
            <a:spLocks noGrp="1"/>
          </p:cNvSpPr>
          <p:nvPr/>
        </p:nvSpPr>
        <p:spPr>
          <a:xfrm>
            <a:off x="548640" y="5806440"/>
            <a:ext cx="8229600" cy="777240"/>
          </a:xfrm>
          <a:prstGeom prst="rect">
            <a:avLst/>
          </a:prstGeom>
          <a:noFill/>
        </p:spPr>
        <p:txBody>
          <a:bodyPr wrap="square" lIns="0" tIns="0" rIns="0" bIns="0">
            <a:spAutoFit/>
          </a:bodyPr>
          <a:lstStyle/>
          <a:p>
            <a:r>
              <a:rPr sz="1300" b="1" i="0">
                <a:solidFill>
                  <a:srgbClr val="CF3338"/>
                </a:solidFill>
                <a:latin typeface="Arial"/>
                <a:ea typeface="Arial"/>
                <a:cs typeface="Arial"/>
              </a:rPr>
              <a:t>• A model reads your data and answers in English</a:t>
            </a:r>
          </a:p>
        </p:txBody>
      </p:sp>
      <p:sp>
        <p:nvSpPr>
          <p:cNvPr id="7" name="Chat question">
            <a:extLst>
              <a:ext uri="{FF2B5EF4-FFF2-40B4-BE49-F238E27FC236}">
                <a16:creationId xmlns:a16="http://schemas.microsoft.com/office/drawing/2014/main" id="{D1A333FA-5CEC-4B54-B114-64F52D289B5B}"/>
              </a:ext>
            </a:extLst>
          </p:cNvPr>
          <p:cNvSpPr>
            <a:spLocks noGrp="1"/>
          </p:cNvSpPr>
          <p:nvPr/>
        </p:nvSpPr>
        <p:spPr>
          <a:xfrm>
            <a:off x="9353550" y="2790825"/>
            <a:ext cx="2428875" cy="1362075"/>
          </a:xfrm>
          <a:prstGeom prst="rect">
            <a:avLst/>
          </a:prstGeom>
          <a:noFill/>
          <a:ln w="0">
            <a:noFill/>
          </a:ln>
        </p:spPr>
        <p:txBody>
          <a:bodyPr wrap="square" lIns="0" tIns="0" rIns="0" bIns="0">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Before adding up sales:</a:t>
            </a:r>
          </a:p>
          <a:p>
            <a:pPr>
              <a:defRPr sz="2175" b="1">
                <a:solidFill>
                  <a:srgbClr val="FFFFFF"/>
                </a:solidFill>
                <a:latin typeface="Arial"/>
                <a:ea typeface="Arial"/>
                <a:cs typeface="Arial"/>
              </a:defRPr>
            </a:pPr>
            <a:r>
              <a:rPr sz="2175" b="1">
                <a:solidFill>
                  <a:srgbClr val="FFFFFF"/>
                </a:solidFill>
                <a:latin typeface="Arial"/>
                <a:ea typeface="Arial"/>
                <a:cs typeface="Arial"/>
              </a:rPr>
              <a:t>keep the TOTAL rows?</a:t>
            </a:r>
          </a:p>
        </p:txBody>
      </p:sp>
      <p:sp>
        <p:nvSpPr>
          <p:cNvPr id="8" name="Chat choices">
            <a:extLst>
              <a:ext uri="{FF2B5EF4-FFF2-40B4-BE49-F238E27FC236}">
                <a16:creationId xmlns:a16="http://schemas.microsoft.com/office/drawing/2014/main" id="{8BD917FA-226F-4F9A-8C6E-8F68D165C0E6}"/>
              </a:ext>
            </a:extLst>
          </p:cNvPr>
          <p:cNvSpPr>
            <a:spLocks noGrp="1"/>
          </p:cNvSpPr>
          <p:nvPr/>
        </p:nvSpPr>
        <p:spPr>
          <a:xfrm>
            <a:off x="9353550" y="4362450"/>
            <a:ext cx="2428875" cy="1009650"/>
          </a:xfrm>
          <a:prstGeom prst="rect">
            <a:avLst/>
          </a:prstGeom>
          <a:noFill/>
          <a:ln w="0">
            <a:noFill/>
          </a:ln>
        </p:spPr>
        <p:txBody>
          <a:bodyPr wrap="square" lIns="0" tIns="0" rIns="0" bIns="0">
            <a:noAutofit/>
          </a:bodyPr>
          <a:lstStyle/>
          <a:p>
            <a:pPr>
              <a:defRPr sz="1950" b="1">
                <a:solidFill>
                  <a:srgbClr val="FFFFFF"/>
                </a:solidFill>
                <a:latin typeface="Arial"/>
                <a:ea typeface="Arial"/>
                <a:cs typeface="Arial"/>
              </a:defRPr>
            </a:pPr>
            <a:r>
              <a:rPr sz="1950" b="1">
                <a:solidFill>
                  <a:srgbClr val="FFFFFF"/>
                </a:solidFill>
                <a:latin typeface="Arial"/>
                <a:ea typeface="Arial"/>
                <a:cs typeface="Arial"/>
              </a:rPr>
              <a:t>KEEP / REMOVE</a:t>
            </a:r>
          </a:p>
        </p:txBody>
      </p:sp>
      <p:sp>
        <p:nvSpPr>
          <p:cNvPr id="9" name="Chat instruction">
            <a:extLst>
              <a:ext uri="{FF2B5EF4-FFF2-40B4-BE49-F238E27FC236}">
                <a16:creationId xmlns:a16="http://schemas.microsoft.com/office/drawing/2014/main" id="{2C5568F1-1BDF-478A-BB37-95F6719BFC60}"/>
              </a:ext>
            </a:extLst>
          </p:cNvPr>
          <p:cNvSpPr>
            <a:spLocks noGrp="1"/>
          </p:cNvSpPr>
          <p:nvPr/>
        </p:nvSpPr>
        <p:spPr>
          <a:xfrm>
            <a:off x="9353550" y="5715000"/>
            <a:ext cx="2428875" cy="609600"/>
          </a:xfrm>
          <a:prstGeom prst="rect">
            <a:avLst/>
          </a:prstGeom>
          <a:noFill/>
          <a:ln w="0">
            <a:noFill/>
          </a:ln>
        </p:spPr>
        <p:txBody>
          <a:bodyPr wrap="square" lIns="0" tIns="0" rIns="0" bIns="0">
            <a:noAutofit/>
          </a:bodyPr>
          <a:lstStyle/>
          <a:p>
            <a:pPr>
              <a:defRPr sz="1500" b="0">
                <a:solidFill>
                  <a:srgbClr val="FFFFFF"/>
                </a:solidFill>
                <a:latin typeface="Arial"/>
                <a:ea typeface="Arial"/>
                <a:cs typeface="Arial"/>
              </a:defRPr>
            </a:pPr>
            <a:r>
              <a:rPr sz="1500" b="0">
                <a:solidFill>
                  <a:srgbClr val="FFFFFF"/>
                </a:solidFill>
                <a:latin typeface="Arial"/>
                <a:ea typeface="Arial"/>
                <a:cs typeface="Arial"/>
              </a:rPr>
              <a:t>Type one word</a:t>
            </a:r>
          </a:p>
          <a:p>
            <a:pPr>
              <a:defRPr sz="1500" b="0">
                <a:solidFill>
                  <a:srgbClr val="FFFFFF"/>
                </a:solidFill>
                <a:latin typeface="Arial"/>
                <a:ea typeface="Arial"/>
                <a:cs typeface="Arial"/>
              </a:defRPr>
            </a:pPr>
            <a:r>
              <a:rPr sz="1500" b="0">
                <a:solidFill>
                  <a:srgbClr val="FFFFFF"/>
                </a:solidFill>
                <a:latin typeface="Arial"/>
                <a:ea typeface="Arial"/>
                <a:cs typeface="Arial"/>
              </a:rPr>
              <a:t>or a letter in chat.</a:t>
            </a:r>
          </a:p>
        </p:txBody>
      </p:sp>
    </p:spTree>
    <p:extLst>
      <p:ext uri="{BB962C8B-B14F-4D97-AF65-F5344CB8AC3E}">
        <p14:creationId xmlns:p14="http://schemas.microsoft.com/office/powerpoint/2010/main" val="1825479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BA38CE-309B-4D79-B0A4-D46EEC0B7557}"/>
              </a:ext>
            </a:extLst>
          </p:cNvPr>
          <p:cNvSpPr>
            <a:spLocks noGrp="1"/>
          </p:cNvSpPr>
          <p:nvPr/>
        </p:nvSpPr>
        <p:spPr>
          <a:xfrm>
            <a:off x="640080" y="457200"/>
            <a:ext cx="10881360" cy="743793"/>
          </a:xfrm>
          <a:prstGeom prst="rect">
            <a:avLst/>
          </a:prstGeom>
          <a:noFill/>
        </p:spPr>
        <p:txBody>
          <a:bodyPr wrap="square" lIns="0" tIns="0" rIns="0" bIns="0">
            <a:spAutoFit/>
          </a:bodyPr>
          <a:lstStyle/>
          <a:p>
            <a:r>
              <a:rPr sz="3000" b="1" i="0" dirty="0">
                <a:solidFill>
                  <a:srgbClr val="1F2120"/>
                </a:solidFill>
                <a:latin typeface="Arial Black"/>
                <a:ea typeface="Arial Black"/>
                <a:cs typeface="Arial Black"/>
              </a:rPr>
              <a:t>The honest moment</a:t>
            </a:r>
          </a:p>
          <a:p>
            <a:pPr>
              <a:spcBef>
                <a:spcPts val="400"/>
              </a:spcBef>
              <a:buNone/>
            </a:pPr>
            <a:r>
              <a:rPr sz="1500" b="0" i="1" dirty="0">
                <a:solidFill>
                  <a:srgbClr val="CF3338"/>
                </a:solidFill>
                <a:latin typeface="Arial"/>
                <a:ea typeface="Arial"/>
                <a:cs typeface="Arial"/>
              </a:rPr>
              <a:t>Why the answer was wrong</a:t>
            </a:r>
            <a:r>
              <a:rPr lang="en-US" sz="1500" i="1" dirty="0">
                <a:solidFill>
                  <a:srgbClr val="CF3338"/>
                </a:solidFill>
                <a:latin typeface="Arial"/>
                <a:ea typeface="Arial"/>
                <a:cs typeface="Arial"/>
              </a:rPr>
              <a:t>… </a:t>
            </a:r>
            <a:r>
              <a:rPr sz="1500" b="0" i="1" dirty="0">
                <a:solidFill>
                  <a:srgbClr val="CF3338"/>
                </a:solidFill>
                <a:latin typeface="Arial"/>
                <a:ea typeface="Arial"/>
                <a:cs typeface="Arial"/>
              </a:rPr>
              <a:t>and why that is the real lesson</a:t>
            </a:r>
          </a:p>
        </p:txBody>
      </p:sp>
      <p:sp>
        <p:nvSpPr>
          <p:cNvPr id="3" name="TextBox 2">
            <a:extLst>
              <a:ext uri="{FF2B5EF4-FFF2-40B4-BE49-F238E27FC236}">
                <a16:creationId xmlns:a16="http://schemas.microsoft.com/office/drawing/2014/main" id="{0CD7569F-ACF3-45AC-8D5A-392E8D75B3BC}"/>
              </a:ext>
            </a:extLst>
          </p:cNvPr>
          <p:cNvSpPr>
            <a:spLocks noGrp="1"/>
          </p:cNvSpPr>
          <p:nvPr/>
        </p:nvSpPr>
        <p:spPr>
          <a:xfrm>
            <a:off x="640080" y="1783080"/>
            <a:ext cx="10881360" cy="4846320"/>
          </a:xfrm>
          <a:prstGeom prst="rect">
            <a:avLst/>
          </a:prstGeom>
          <a:noFill/>
        </p:spPr>
        <p:txBody>
          <a:bodyPr wrap="square" lIns="0" tIns="0" rIns="0" bIns="0">
            <a:spAutoFit/>
          </a:bodyPr>
          <a:lstStyle/>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Look for inconsistent region labels. Lakeshore has four intended regions.</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Extra spaces and inconsistent region labels can distort a summary.</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The TOTAL rows quietly double-counted the answer.</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The AI is only as good as the data underneath it. Hold that thought for Wednesday.</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Also free: Copilot Chat in Excel, no purchased license. Licensing questions go to your IT team.</a:t>
            </a:r>
          </a:p>
        </p:txBody>
      </p:sp>
    </p:spTree>
    <p:extLst>
      <p:ext uri="{BB962C8B-B14F-4D97-AF65-F5344CB8AC3E}">
        <p14:creationId xmlns:p14="http://schemas.microsoft.com/office/powerpoint/2010/main" val="347495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D0DFF7-7D0E-414C-A922-5B4B5F19EEDB}"/>
              </a:ext>
            </a:extLst>
          </p:cNvPr>
          <p:cNvSpPr>
            <a:spLocks noGrp="1"/>
          </p:cNvSpPr>
          <p:nvPr/>
        </p:nvSpPr>
        <p:spPr>
          <a:xfrm>
            <a:off x="640080" y="457200"/>
            <a:ext cx="10881360" cy="1188720"/>
          </a:xfrm>
          <a:prstGeom prst="rect">
            <a:avLst/>
          </a:prstGeom>
          <a:noFill/>
        </p:spPr>
        <p:txBody>
          <a:bodyPr wrap="square" lIns="0" tIns="0" rIns="0" bIns="0">
            <a:spAutoFit/>
          </a:bodyPr>
          <a:lstStyle/>
          <a:p>
            <a:r>
              <a:rPr sz="3000" b="1" i="0">
                <a:solidFill>
                  <a:srgbClr val="1F2120"/>
                </a:solidFill>
                <a:latin typeface="Arial Black"/>
                <a:ea typeface="Arial Black"/>
                <a:cs typeface="Arial Black"/>
              </a:rPr>
              <a:t>Do this at your desk today</a:t>
            </a:r>
          </a:p>
          <a:p>
            <a:pPr>
              <a:spcBef>
                <a:spcPts val="400"/>
              </a:spcBef>
              <a:buNone/>
            </a:pPr>
            <a:r>
              <a:rPr sz="1500" b="0" i="1">
                <a:solidFill>
                  <a:srgbClr val="CF3338"/>
                </a:solidFill>
                <a:latin typeface="Arial"/>
                <a:ea typeface="Arial"/>
                <a:cs typeface="Arial"/>
              </a:rPr>
              <a:t>Choose one small win</a:t>
            </a:r>
          </a:p>
        </p:txBody>
      </p:sp>
      <p:sp>
        <p:nvSpPr>
          <p:cNvPr id="3" name="TextBox 2">
            <a:extLst>
              <a:ext uri="{FF2B5EF4-FFF2-40B4-BE49-F238E27FC236}">
                <a16:creationId xmlns:a16="http://schemas.microsoft.com/office/drawing/2014/main" id="{A51320F7-AA66-45F7-BF8B-1F235CA6B822}"/>
              </a:ext>
            </a:extLst>
          </p:cNvPr>
          <p:cNvSpPr>
            <a:spLocks noGrp="1"/>
          </p:cNvSpPr>
          <p:nvPr/>
        </p:nvSpPr>
        <p:spPr>
          <a:xfrm>
            <a:off x="640080" y="1783080"/>
            <a:ext cx="10881360" cy="2409825"/>
          </a:xfrm>
          <a:prstGeom prst="rect">
            <a:avLst/>
          </a:prstGeom>
          <a:noFill/>
        </p:spPr>
        <p:txBody>
          <a:bodyPr wrap="square" lIns="0" tIns="0" rIns="0" bIns="0">
            <a:spAutoFit/>
          </a:bodyPr>
          <a:lstStyle/>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NAMES: Try Flash Fill on one email column. Type a correct example, then press Ctrl+E.</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TOTALS: Check one summary for subtotal rows or inconsistent region labels.</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Choose one. Check the result against the source.</a:t>
            </a:r>
          </a:p>
        </p:txBody>
      </p:sp>
      <p:sp>
        <p:nvSpPr>
          <p:cNvPr id="4" name="Chat prompt panel">
            <a:extLst>
              <a:ext uri="{FF2B5EF4-FFF2-40B4-BE49-F238E27FC236}">
                <a16:creationId xmlns:a16="http://schemas.microsoft.com/office/drawing/2014/main" id="{EFC76B53-DB15-4DDB-83BC-1D0C1A450AF0}"/>
              </a:ext>
            </a:extLst>
          </p:cNvPr>
          <p:cNvSpPr>
            <a:spLocks noGrp="1"/>
          </p:cNvSpPr>
          <p:nvPr/>
        </p:nvSpPr>
        <p:spPr>
          <a:xfrm>
            <a:off x="638175" y="4476750"/>
            <a:ext cx="10896600" cy="1352550"/>
          </a:xfrm>
          <a:prstGeom prst="rect">
            <a:avLst/>
          </a:prstGeom>
          <a:solidFill>
            <a:srgbClr val="1F2120"/>
          </a:solidFill>
          <a:ln w="0">
            <a:noFill/>
          </a:ln>
        </p:spPr>
        <p:txBody>
          <a:bodyPr wrap="square" lIns="0" tIns="0" rIns="0" bIns="0">
            <a:noAutofit/>
          </a:bodyPr>
          <a:lstStyle/>
          <a:p>
            <a:endParaRPr/>
          </a:p>
        </p:txBody>
      </p:sp>
      <p:sp>
        <p:nvSpPr>
          <p:cNvPr id="5" name="Chat question">
            <a:extLst>
              <a:ext uri="{FF2B5EF4-FFF2-40B4-BE49-F238E27FC236}">
                <a16:creationId xmlns:a16="http://schemas.microsoft.com/office/drawing/2014/main" id="{9B3546D4-B488-4F79-9642-206AA61927B5}"/>
              </a:ext>
            </a:extLst>
          </p:cNvPr>
          <p:cNvSpPr>
            <a:spLocks noGrp="1"/>
          </p:cNvSpPr>
          <p:nvPr/>
        </p:nvSpPr>
        <p:spPr>
          <a:xfrm>
            <a:off x="857250" y="4619625"/>
            <a:ext cx="10429875" cy="381000"/>
          </a:xfrm>
          <a:prstGeom prst="rect">
            <a:avLst/>
          </a:prstGeom>
          <a:noFill/>
          <a:ln w="0">
            <a:noFill/>
          </a:ln>
        </p:spPr>
        <p:txBody>
          <a:bodyPr wrap="square" lIns="0" tIns="0" rIns="0" bIns="0">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Which will you try first?</a:t>
            </a:r>
          </a:p>
        </p:txBody>
      </p:sp>
      <p:sp>
        <p:nvSpPr>
          <p:cNvPr id="6" name="Chat choices">
            <a:extLst>
              <a:ext uri="{FF2B5EF4-FFF2-40B4-BE49-F238E27FC236}">
                <a16:creationId xmlns:a16="http://schemas.microsoft.com/office/drawing/2014/main" id="{20403A46-6D0A-417A-A732-BE6C1AD305D5}"/>
              </a:ext>
            </a:extLst>
          </p:cNvPr>
          <p:cNvSpPr>
            <a:spLocks noGrp="1"/>
          </p:cNvSpPr>
          <p:nvPr/>
        </p:nvSpPr>
        <p:spPr>
          <a:xfrm>
            <a:off x="857250" y="5086350"/>
            <a:ext cx="6858000" cy="419100"/>
          </a:xfrm>
          <a:prstGeom prst="rect">
            <a:avLst/>
          </a:prstGeom>
          <a:noFill/>
          <a:ln w="0">
            <a:noFill/>
          </a:ln>
        </p:spPr>
        <p:txBody>
          <a:bodyPr wrap="square" lIns="0" tIns="0" rIns="0" bIns="0">
            <a:noAutofit/>
          </a:bodyPr>
          <a:lstStyle/>
          <a:p>
            <a:pPr>
              <a:defRPr sz="2400" b="1">
                <a:solidFill>
                  <a:srgbClr val="FFFFFF"/>
                </a:solidFill>
                <a:latin typeface="Arial"/>
                <a:ea typeface="Arial"/>
                <a:cs typeface="Arial"/>
              </a:defRPr>
            </a:pPr>
            <a:r>
              <a:rPr sz="2400" b="1">
                <a:solidFill>
                  <a:srgbClr val="FFFFFF"/>
                </a:solidFill>
                <a:latin typeface="Arial"/>
                <a:ea typeface="Arial"/>
                <a:cs typeface="Arial"/>
              </a:rPr>
              <a:t>NAMES / TOTALS</a:t>
            </a:r>
          </a:p>
        </p:txBody>
      </p:sp>
      <p:sp>
        <p:nvSpPr>
          <p:cNvPr id="7" name="Chat instruction">
            <a:extLst>
              <a:ext uri="{FF2B5EF4-FFF2-40B4-BE49-F238E27FC236}">
                <a16:creationId xmlns:a16="http://schemas.microsoft.com/office/drawing/2014/main" id="{3E275CDB-D728-4B93-AFC7-1E4569A421D0}"/>
              </a:ext>
            </a:extLst>
          </p:cNvPr>
          <p:cNvSpPr>
            <a:spLocks noGrp="1"/>
          </p:cNvSpPr>
          <p:nvPr/>
        </p:nvSpPr>
        <p:spPr>
          <a:xfrm>
            <a:off x="8143875" y="5219700"/>
            <a:ext cx="3048000" cy="400050"/>
          </a:xfrm>
          <a:prstGeom prst="rect">
            <a:avLst/>
          </a:prstGeom>
          <a:noFill/>
          <a:ln w="0">
            <a:noFill/>
          </a:ln>
        </p:spPr>
        <p:txBody>
          <a:bodyPr wrap="square" lIns="0" tIns="0" rIns="0" bIns="0">
            <a:noAutofit/>
          </a:bodyPr>
          <a:lstStyle/>
          <a:p>
            <a:pPr>
              <a:defRPr sz="1425" b="0">
                <a:solidFill>
                  <a:srgbClr val="FFFFFF"/>
                </a:solidFill>
                <a:latin typeface="Arial"/>
                <a:ea typeface="Arial"/>
                <a:cs typeface="Arial"/>
              </a:defRPr>
            </a:pPr>
            <a:r>
              <a:rPr sz="1425" b="0">
                <a:solidFill>
                  <a:srgbClr val="FFFFFF"/>
                </a:solidFill>
                <a:latin typeface="Arial"/>
                <a:ea typeface="Arial"/>
                <a:cs typeface="Arial"/>
              </a:rPr>
              <a:t>Type one word in chat.</a:t>
            </a:r>
          </a:p>
        </p:txBody>
      </p:sp>
    </p:spTree>
    <p:extLst>
      <p:ext uri="{BB962C8B-B14F-4D97-AF65-F5344CB8AC3E}">
        <p14:creationId xmlns:p14="http://schemas.microsoft.com/office/powerpoint/2010/main" val="1192235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C550B3-0DD8-47F8-9554-28EEEEC9ECA0}"/>
              </a:ext>
            </a:extLst>
          </p:cNvPr>
          <p:cNvSpPr>
            <a:spLocks noGrp="1"/>
          </p:cNvSpPr>
          <p:nvPr/>
        </p:nvSpPr>
        <p:spPr>
          <a:xfrm>
            <a:off x="822960" y="2286000"/>
            <a:ext cx="10332720" cy="2743200"/>
          </a:xfrm>
          <a:prstGeom prst="rect">
            <a:avLst/>
          </a:prstGeom>
          <a:noFill/>
        </p:spPr>
        <p:txBody>
          <a:bodyPr wrap="square" lIns="0" tIns="0" rIns="0" bIns="0">
            <a:spAutoFit/>
          </a:bodyPr>
          <a:lstStyle/>
          <a:p>
            <a:r>
              <a:rPr sz="1600" b="1" i="0">
                <a:solidFill>
                  <a:srgbClr val="FFFFFF"/>
                </a:solidFill>
                <a:latin typeface="Arial Black"/>
                <a:ea typeface="Arial Black"/>
                <a:cs typeface="Arial Black"/>
              </a:rPr>
              <a:t>TOMORROW</a:t>
            </a:r>
          </a:p>
          <a:p>
            <a:pPr>
              <a:spcBef>
                <a:spcPts val="800"/>
              </a:spcBef>
              <a:buNone/>
            </a:pPr>
            <a:r>
              <a:rPr sz="3600" b="1" i="0">
                <a:solidFill>
                  <a:srgbClr val="FFFFFF"/>
                </a:solidFill>
                <a:latin typeface="Arial Black"/>
                <a:ea typeface="Arial Black"/>
                <a:cs typeface="Arial Black"/>
              </a:rPr>
              <a:t>Make your data AI-readable</a:t>
            </a:r>
          </a:p>
          <a:p>
            <a:pPr>
              <a:spcBef>
                <a:spcPts val="1400"/>
              </a:spcBef>
              <a:buNone/>
            </a:pPr>
            <a:r>
              <a:rPr sz="1800" b="0" i="0">
                <a:solidFill>
                  <a:srgbClr val="FFFFFF"/>
                </a:solidFill>
                <a:latin typeface="Arial"/>
                <a:ea typeface="Arial"/>
                <a:cs typeface="Arial"/>
              </a:rPr>
              <a:t>The single highest-leverage prep move an analyst can make, and it costs nothing.</a:t>
            </a:r>
          </a:p>
        </p:txBody>
      </p:sp>
    </p:spTree>
    <p:extLst>
      <p:ext uri="{BB962C8B-B14F-4D97-AF65-F5344CB8AC3E}">
        <p14:creationId xmlns:p14="http://schemas.microsoft.com/office/powerpoint/2010/main" val="2027139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328A7F-85D0-4C9A-9AB5-4F6CA343009A}"/>
              </a:ext>
            </a:extLst>
          </p:cNvPr>
          <p:cNvSpPr>
            <a:spLocks noGrp="1"/>
          </p:cNvSpPr>
          <p:nvPr/>
        </p:nvSpPr>
        <p:spPr>
          <a:xfrm>
            <a:off x="822960" y="2103120"/>
            <a:ext cx="10515600" cy="2114550"/>
          </a:xfrm>
          <a:prstGeom prst="rect">
            <a:avLst/>
          </a:prstGeom>
          <a:noFill/>
        </p:spPr>
        <p:txBody>
          <a:bodyPr wrap="square" lIns="0" tIns="0" rIns="0" bIns="0">
            <a:spAutoFit/>
          </a:bodyPr>
          <a:lstStyle/>
          <a:p>
            <a:r>
              <a:rPr sz="1600" b="1" i="0">
                <a:solidFill>
                  <a:srgbClr val="FFFFFF"/>
                </a:solidFill>
                <a:latin typeface="Arial Black"/>
                <a:ea typeface="Arial Black"/>
                <a:cs typeface="Arial Black"/>
              </a:rPr>
              <a:t>THANK YOU</a:t>
            </a:r>
          </a:p>
          <a:p>
            <a:pPr>
              <a:spcBef>
                <a:spcPts val="800"/>
              </a:spcBef>
              <a:buNone/>
            </a:pPr>
            <a:r>
              <a:rPr sz="3600" b="1" i="0">
                <a:solidFill>
                  <a:srgbClr val="FFFFFF"/>
                </a:solidFill>
                <a:latin typeface="Arial Black"/>
                <a:ea typeface="Arial Black"/>
                <a:cs typeface="Arial Black"/>
              </a:rPr>
              <a:t>See you tomorrow at noon Eastern</a:t>
            </a:r>
          </a:p>
          <a:p>
            <a:pPr>
              <a:spcBef>
                <a:spcPts val="1400"/>
              </a:spcBef>
              <a:buNone/>
            </a:pPr>
            <a:r>
              <a:rPr sz="1800" b="0" i="0">
                <a:solidFill>
                  <a:srgbClr val="FFFFFF"/>
                </a:solidFill>
                <a:latin typeface="Arial"/>
                <a:ea typeface="Arial"/>
                <a:cs typeface="Arial"/>
              </a:rPr>
              <a:t>Replays and the full back catalog live in the Stringfest membership vault.</a:t>
            </a:r>
          </a:p>
        </p:txBody>
      </p:sp>
    </p:spTree>
    <p:extLst>
      <p:ext uri="{BB962C8B-B14F-4D97-AF65-F5344CB8AC3E}">
        <p14:creationId xmlns:p14="http://schemas.microsoft.com/office/powerpoint/2010/main" val="917594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3030</Words>
  <Application>Microsoft Office PowerPoint</Application>
  <DocSecurity>0</DocSecurity>
  <PresentationFormat>Widescreen</PresentationFormat>
  <Paragraphs>140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George Mount</cp:lastModifiedBy>
  <cp:revision>2</cp:revision>
  <dcterms:created xsi:type="dcterms:W3CDTF">2026-09-27T11:02:41Z</dcterms:created>
  <dcterms:modified xsi:type="dcterms:W3CDTF">2026-09-27T11:22:07Z</dcterms:modified>
</cp:coreProperties>
</file>
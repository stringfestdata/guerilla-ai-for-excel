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This is Guerrilla AI for Excel, day 1 of 5. I'm George Mount from Stringfest Analytics. Here is the idea behind this whole series. You do not need a Copilot license, a budget line, or IT's permission to work like an AI-powered analyst. Guerrilla AI means being crafty with what is already installed on your machine: the machine learning Excel has quietly shipped for years, the structural habits that make any AI dramatically better at reading your work, and the free tools that close the gap. Today's twenty-minute win: the machine learning that has been hiding in your Excel for years. We have one live demo block and then two or three things you can do at your own desk this afternoon. Let's go. Before we start, drop one thing in the chat: where you are joining from, and the Excel task that eats the most of your week. Keep an eye on your own answer. By Friday you will have a move for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then we get to the good stuff. We run live every day this week, noon to twelve twenty Eastern. Twenty minutes is a promise, and I keep it. Every session is recorded, and the replays live in the Stringfest membership vault, so if you miss a day, that is where to find it. Anything I send, files, forms, follow-ups, goes to the email address you registered with on Eventbrite, so keep an eye on that inbox and reply from that address if you need me. We will use one dataset all week: a sales export from a fictional company called Lakeshore Office Supply, and it is ugly on purpose. In twenty minutes there is no time to type along, so watch the demo, then do the desk actions I give you at the end of each session. That is the deal. Let's talk about why you are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today's guerrilla hook, stated plainly. Microsoft shipped machine learning inside Excel years ago and nobody told you. Flash Fill, which has been sitting on the Data tab since Excel 2013, is pattern recognition. You type one example of what you want and it infers the rule. Analyze Data, right there on the Home tab, runs models against your data and answers questions you type in plain English. Recommended PivotTables is the same idea with training wheels. None of this needs a license, a budget request, or a conversation with IT. It is already on your machine. So before anyone in your organization asks for an AI budget, the guerrilla move is to exhaust the AI you already have. That is the whole day in one sentence. Now let me show you the dataset we will abuse all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Lakeshore Office Supply sales export, and if you work in finance or ops you have met this file before under a different name. Walk through the damage with me. The rep shows up only as an email address, nobody typed an actual name. Product and category are jammed into one column with a dash between them. Region has been typed four different ways, sometimes in caps, sometimes with a trailing space you cannot see. Dates arrive in two formats, some numbers are stored as text, and the prices have dollar signs baked into the cells. And someone helpfully embedded two TOTAL rows and a blank row right in the middle of the data. This exact file follows us through all five days, and each day we make it a little more useful. Today we start with the fastest win in Excel.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time. I am in the raw-export sheet. We need actual rep names, and all we have is email addresses like dana dot kowalski at lakeshoresupply dot com. Watch how fast this is. I click cell I1 and type the header, Rep Name. Now in I2, next to Dana's email, I type the answer I want: Dana Kowalski, capital D, capital K. I press Enter. Now the magic key: Control E. Flash Fill reads my one example, works out the pattern, and fills the entire column. Look at it go. Marcus Webb, Priya Raman, Tom Delgado, all correct. I will spot-check two rows near the bottom, because trust but verify applies to every tool this week. That is pattern recognition from a single training example. If you have ever spent an afternoon splitting names by hand, this just gave you your afternoon 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demo. I click anywhere in the data, go to the Home tab, and hit Analyze Data. A pane opens with suggestions Excel generated by scanning the data on its own. I will type a question instead: total Amount by Region. Excel parses my English, matches it to columns, and offers a PivotTable, which I insert with one click. Now, look closely at the result, because something is off. We will talk about it on the next slide, and I want you to see it with your own eyes first. While we are here: if the pane ever feels lost, the older sibling is Insert, Recommended PivotTables. Same machine learning, more manual. Both cost nothing and both have been sitting in front of you for years.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honest moment, and it might be the most important slide of the day. Analyze Data just told us Lakeshore has seven regions. It has four. Because region was typed inconsistently, the model treated MIDWEST in caps, Midwest, and midwest with a trailing space as three different places. And those embedded TOTAL rows? They got counted like orders, so the numbers came back inflated. The tool did exactly what we asked. The data lied to it. That is the thread of this whole week: the AI is only as good as what it reads, and Wednesday is entirely about fixing that. One more thing while we are talking about free tools. Many of you have Copilot Chat available in Excel right now without a purchased license, and it is worth knowing what employees can already do with it. Whether and how it is enabled is a question for your IT department, so start there rather than with a purchase request.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desk actions for today, and there are three. One: find a column you have been cleaning by hand, type one example of what you want next to it, and press Control E. Two: open a real dataset you care about, click Home, Analyze Data, and ask it one question that actually matters to you. Three, and this is the sneaky one: note what it gets wrong. Write the list down. Bring it tomorrow, because the fix for that list is the rest of this week. Ten minutes,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we take the most boring-sounding feature in Excel, tables, and I will show you why it is the single highest-leverage AI-readiness move you can make. Same ugly dataset. You will watch Analyze Data go from confused to sharp with one keyboard shortcut. That is day 2, noon Eastern, twenty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day 1, and we are on time. Quick recap: Flash Fill is pattern recognition you already own, Analyze Data answers plain-English questions, and dirty data is what makes smart tools look dumb. If you want the replay, it lives in the Stringfest Analytics membership vault along with everything else I have recorded, ten dollars a month, link in the follow-up email. One question if we have time, otherwise drop it in the chat and I will answer by email. Thanks, everyone. See you tomorrow at 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2103120"/>
            <a:ext cx="10607040" cy="3291840"/>
          </a:xfrm>
          <a:prstGeom prst="rect">
            <a:avLst/>
          </a:prstGeom>
          <a:noFill/>
        </p:spPr>
        <p:txBody>
          <a:bodyPr wrap="square" lIns="0" rIns="0" tIns="0" bIns="0">
            <a:spAutoFit/>
          </a:bodyPr>
          <a:lstStyle/>
          <a:p>
            <a:r>
              <a:rPr sz="1500" b="1" i="0">
                <a:solidFill>
                  <a:srgbClr val="CF3338"/>
                </a:solidFill>
                <a:latin typeface="Arial Black"/>
              </a:rPr>
              <a:t>GUERRILLA AI FOR EXCEL. A LIVE SERIES, DAY 1 OF 5</a:t>
            </a:r>
          </a:p>
          <a:p>
            <a:pPr>
              <a:spcBef>
                <a:spcPts val="1000"/>
              </a:spcBef>
            </a:pPr>
            <a:r>
              <a:rPr sz="4200" b="1" i="0">
                <a:solidFill>
                  <a:srgbClr val="1F2120"/>
                </a:solidFill>
                <a:latin typeface="Arial Black"/>
              </a:rPr>
              <a:t>The AI already hiding in your Excel</a:t>
            </a:r>
          </a:p>
          <a:p>
            <a:pPr>
              <a:spcBef>
                <a:spcPts val="1400"/>
              </a:spcBef>
            </a:pPr>
            <a:r>
              <a:rPr sz="2000" b="0" i="0">
                <a:solidFill>
                  <a:srgbClr val="707070"/>
                </a:solidFill>
                <a:latin typeface="Arial"/>
              </a:rPr>
              <a:t>Flash Fill, Analyze Data, and the models Microsoft never told you about.</a:t>
            </a:r>
          </a:p>
        </p:txBody>
      </p:sp>
      <p:sp>
        <p:nvSpPr>
          <p:cNvPr id="3" name="TextBox 2"/>
          <p:cNvSpPr txBox="1"/>
          <p:nvPr/>
        </p:nvSpPr>
        <p:spPr>
          <a:xfrm>
            <a:off x="640080" y="6080760"/>
            <a:ext cx="10972800" cy="457200"/>
          </a:xfrm>
          <a:prstGeom prst="rect">
            <a:avLst/>
          </a:prstGeom>
          <a:noFill/>
        </p:spPr>
        <p:txBody>
          <a:bodyPr wrap="square" lIns="0" rIns="0" tIns="0" bIns="0">
            <a:spAutoFit/>
          </a:bodyPr>
          <a:lstStyle/>
          <a:p>
            <a:r>
              <a:rPr sz="1300" b="0" i="1">
                <a:solidFill>
                  <a:srgbClr val="707070"/>
                </a:solidFill>
                <a:latin typeface="Arial"/>
              </a:rPr>
              <a:t>Live Mon Sep 28 to Fri Oct 2, 12:00 to 12:20 PM ET. Sessions are recorded.</a:t>
            </a:r>
          </a:p>
        </p:txBody>
      </p:sp>
      <p:sp>
        <p:nvSpPr>
          <p:cNvPr id="4" name="TextBox 3"/>
          <p:cNvSpPr txBox="1"/>
          <p:nvPr/>
        </p:nvSpPr>
        <p:spPr>
          <a:xfrm>
            <a:off x="457200" y="384048"/>
            <a:ext cx="4114800" cy="365760"/>
          </a:xfrm>
          <a:prstGeom prst="rect">
            <a:avLst/>
          </a:prstGeom>
          <a:noFill/>
        </p:spPr>
        <p:txBody>
          <a:bodyPr wrap="square" lIns="0" rIns="0" tIns="0" bIns="0">
            <a:spAutoFit/>
          </a:bodyPr>
          <a:lstStyle/>
          <a:p>
            <a:r>
              <a:rPr sz="1300" b="1" i="0">
                <a:solidFill>
                  <a:srgbClr val="CF3338"/>
                </a:solidFill>
                <a:latin typeface="Arial Black"/>
              </a:rPr>
              <a:t>STRINGFEST ANALYTICS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How this week works</a:t>
            </a:r>
          </a:p>
          <a:p>
            <a:pPr>
              <a:spcBef>
                <a:spcPts val="400"/>
              </a:spcBef>
            </a:pPr>
            <a:r>
              <a:rPr sz="1500" b="0" i="1">
                <a:solidFill>
                  <a:srgbClr val="CF3338"/>
                </a:solidFill>
                <a:latin typeface="Arial"/>
              </a:rPr>
              <a:t>Housekeeping, then we never speak of it again</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Live Monday to Friday, 12:00 to 12:20 PM Eastern. Twenty minutes, one win per day.</a:t>
            </a:r>
          </a:p>
          <a:p>
            <a:pPr>
              <a:spcAft>
                <a:spcPts val="700"/>
              </a:spcAft>
            </a:pPr>
            <a:r>
              <a:rPr sz="1200" b="1" i="0">
                <a:solidFill>
                  <a:srgbClr val="CF3338"/>
                </a:solidFill>
                <a:latin typeface="Arial"/>
              </a:rPr>
              <a:t>▶  </a:t>
            </a:r>
            <a:r>
              <a:rPr sz="1600" b="0" i="0">
                <a:solidFill>
                  <a:srgbClr val="1F2120"/>
                </a:solidFill>
                <a:latin typeface="Arial"/>
              </a:rPr>
              <a:t>Every session is recorded. Replays live in the Stringfest Analytics membership vault.</a:t>
            </a:r>
          </a:p>
          <a:p>
            <a:pPr>
              <a:spcAft>
                <a:spcPts val="700"/>
              </a:spcAft>
            </a:pPr>
            <a:r>
              <a:rPr sz="1200" b="1" i="0">
                <a:solidFill>
                  <a:srgbClr val="CF3338"/>
                </a:solidFill>
                <a:latin typeface="Arial"/>
              </a:rPr>
              <a:t>▶  </a:t>
            </a:r>
            <a:r>
              <a:rPr sz="1600" b="0" i="0">
                <a:solidFill>
                  <a:srgbClr val="1F2120"/>
                </a:solidFill>
                <a:latin typeface="Arial"/>
              </a:rPr>
              <a:t>Files and follow-ups go to the email you registered with on Eventbrite. Watch that inbox.</a:t>
            </a:r>
          </a:p>
          <a:p>
            <a:pPr>
              <a:spcAft>
                <a:spcPts val="700"/>
              </a:spcAft>
            </a:pPr>
            <a:r>
              <a:rPr sz="1200" b="1" i="0">
                <a:solidFill>
                  <a:srgbClr val="CF3338"/>
                </a:solidFill>
                <a:latin typeface="Arial"/>
              </a:rPr>
              <a:t>▶  </a:t>
            </a:r>
            <a:r>
              <a:rPr sz="1600" b="0" i="0">
                <a:solidFill>
                  <a:srgbClr val="1F2120"/>
                </a:solidFill>
                <a:latin typeface="Arial"/>
              </a:rPr>
              <a:t>One shared dataset all week: a genuinely ugly sales export from Lakeshore Office Supply.</a:t>
            </a:r>
          </a:p>
          <a:p>
            <a:pPr>
              <a:spcAft>
                <a:spcPts val="700"/>
              </a:spcAft>
            </a:pPr>
            <a:r>
              <a:rPr sz="1200" b="1" i="0">
                <a:solidFill>
                  <a:srgbClr val="CF3338"/>
                </a:solidFill>
                <a:latin typeface="Arial"/>
              </a:rPr>
              <a:t>▶  </a:t>
            </a:r>
            <a:r>
              <a:rPr sz="1600" b="0" i="0">
                <a:solidFill>
                  <a:srgbClr val="1F2120"/>
                </a:solidFill>
                <a:latin typeface="Arial"/>
              </a:rPr>
              <a:t>Demos are watch-along. Each day ends with two or three things to do at your desk after.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Why this counts as AI</a:t>
            </a:r>
          </a:p>
          <a:p>
            <a:pPr>
              <a:spcBef>
                <a:spcPts val="400"/>
              </a:spcBef>
            </a:pPr>
            <a:r>
              <a:rPr sz="1500" b="0" i="1">
                <a:solidFill>
                  <a:srgbClr val="CF3338"/>
                </a:solidFill>
                <a:latin typeface="Arial"/>
              </a:rPr>
              <a:t>The guerrilla hook, day 1</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Microsoft shipped machine learning inside Excel years ago and nobody told you.</a:t>
            </a:r>
          </a:p>
          <a:p>
            <a:pPr>
              <a:spcAft>
                <a:spcPts val="700"/>
              </a:spcAft>
            </a:pPr>
            <a:r>
              <a:rPr sz="1200" b="1" i="0">
                <a:solidFill>
                  <a:srgbClr val="CF3338"/>
                </a:solidFill>
                <a:latin typeface="Arial"/>
              </a:rPr>
              <a:t>▶  </a:t>
            </a:r>
            <a:r>
              <a:rPr sz="1600" b="0" i="0">
                <a:solidFill>
                  <a:srgbClr val="1F2120"/>
                </a:solidFill>
                <a:latin typeface="Arial"/>
              </a:rPr>
              <a:t>Flash Fill is pattern recognition. You give one example and it learns the rule.</a:t>
            </a:r>
          </a:p>
          <a:p>
            <a:pPr>
              <a:spcAft>
                <a:spcPts val="700"/>
              </a:spcAft>
            </a:pPr>
            <a:r>
              <a:rPr sz="1200" b="1" i="0">
                <a:solidFill>
                  <a:srgbClr val="CF3338"/>
                </a:solidFill>
                <a:latin typeface="Arial"/>
              </a:rPr>
              <a:t>▶  </a:t>
            </a:r>
            <a:r>
              <a:rPr sz="1600" b="0" i="0">
                <a:solidFill>
                  <a:srgbClr val="1F2120"/>
                </a:solidFill>
                <a:latin typeface="Arial"/>
              </a:rPr>
              <a:t>Analyze Data and Recommended PivotTables are models running against your data, no license required.</a:t>
            </a:r>
          </a:p>
          <a:p>
            <a:pPr>
              <a:spcAft>
                <a:spcPts val="700"/>
              </a:spcAft>
            </a:pPr>
            <a:r>
              <a:rPr sz="1200" b="1" i="0">
                <a:solidFill>
                  <a:srgbClr val="CF3338"/>
                </a:solidFill>
                <a:latin typeface="Arial"/>
              </a:rPr>
              <a:t>▶  </a:t>
            </a:r>
            <a:r>
              <a:rPr sz="1600" b="0" i="0">
                <a:solidFill>
                  <a:srgbClr val="1F2120"/>
                </a:solidFill>
                <a:latin typeface="Arial"/>
              </a:rPr>
              <a:t>The guerrilla skill is knowing these exist and when to reach for them.</a:t>
            </a:r>
          </a:p>
          <a:p>
            <a:pPr>
              <a:spcAft>
                <a:spcPts val="700"/>
              </a:spcAft>
            </a:pPr>
            <a:r>
              <a:rPr sz="1200" b="1" i="0">
                <a:solidFill>
                  <a:srgbClr val="CF3338"/>
                </a:solidFill>
                <a:latin typeface="Arial"/>
              </a:rPr>
              <a:t>▶  </a:t>
            </a:r>
            <a:r>
              <a:rPr sz="1600" b="0" i="0">
                <a:solidFill>
                  <a:srgbClr val="1F2120"/>
                </a:solidFill>
                <a:latin typeface="Arial"/>
              </a:rPr>
              <a:t>Before asking for an AI budget, exhaust the AI you already have.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Meet the mess: the Lakeshore export</a:t>
            </a:r>
          </a:p>
          <a:p>
            <a:pPr>
              <a:spcBef>
                <a:spcPts val="400"/>
              </a:spcBef>
            </a:pPr>
            <a:r>
              <a:rPr sz="1500" b="0" i="1">
                <a:solidFill>
                  <a:srgbClr val="CF3338"/>
                </a:solidFill>
                <a:latin typeface="Arial"/>
              </a:rPr>
              <a:t>One dataset, all five days</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Rep appears only as an email address</a:t>
            </a:r>
          </a:p>
          <a:p>
            <a:pPr>
              <a:spcAft>
                <a:spcPts val="700"/>
              </a:spcAft>
            </a:pPr>
            <a:r>
              <a:rPr sz="1200" b="1" i="0">
                <a:solidFill>
                  <a:srgbClr val="CF3338"/>
                </a:solidFill>
                <a:latin typeface="Arial"/>
              </a:rPr>
              <a:t>▶  </a:t>
            </a:r>
            <a:r>
              <a:rPr sz="1600" b="0" i="0">
                <a:solidFill>
                  <a:srgbClr val="1F2120"/>
                </a:solidFill>
                <a:latin typeface="Arial"/>
              </a:rPr>
              <a:t>Product and category jammed into one column</a:t>
            </a:r>
          </a:p>
          <a:p>
            <a:pPr>
              <a:spcAft>
                <a:spcPts val="700"/>
              </a:spcAft>
            </a:pPr>
            <a:r>
              <a:rPr sz="1200" b="1" i="0">
                <a:solidFill>
                  <a:srgbClr val="CF3338"/>
                </a:solidFill>
                <a:latin typeface="Arial"/>
              </a:rPr>
              <a:t>▶  </a:t>
            </a:r>
            <a:r>
              <a:rPr sz="1600" b="0" i="0">
                <a:solidFill>
                  <a:srgbClr val="1F2120"/>
                </a:solidFill>
                <a:latin typeface="Arial"/>
              </a:rPr>
              <a:t>Region typed four different ways, some with stray spaces</a:t>
            </a:r>
          </a:p>
          <a:p>
            <a:pPr>
              <a:spcAft>
                <a:spcPts val="700"/>
              </a:spcAft>
            </a:pPr>
            <a:r>
              <a:rPr sz="1200" b="1" i="0">
                <a:solidFill>
                  <a:srgbClr val="CF3338"/>
                </a:solidFill>
                <a:latin typeface="Arial"/>
              </a:rPr>
              <a:t>▶  </a:t>
            </a:r>
            <a:r>
              <a:rPr sz="1600" b="0" i="0">
                <a:solidFill>
                  <a:srgbClr val="1F2120"/>
                </a:solidFill>
                <a:latin typeface="Arial"/>
              </a:rPr>
              <a:t>Dates in two formats, numbers stored as text, prices with $ signs</a:t>
            </a:r>
          </a:p>
          <a:p>
            <a:pPr>
              <a:spcAft>
                <a:spcPts val="700"/>
              </a:spcAft>
            </a:pPr>
            <a:r>
              <a:rPr sz="1200" b="1" i="0">
                <a:solidFill>
                  <a:srgbClr val="CF3338"/>
                </a:solidFill>
                <a:latin typeface="Arial"/>
              </a:rPr>
              <a:t>▶  </a:t>
            </a:r>
            <a:r>
              <a:rPr sz="1600" b="0" i="0">
                <a:solidFill>
                  <a:srgbClr val="1F2120"/>
                </a:solidFill>
                <a:latin typeface="Arial"/>
              </a:rPr>
              <a:t>Two TOTAL rows and a blank row buried in the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Flash Fill</a:t>
            </a:r>
          </a:p>
          <a:p>
            <a:pPr>
              <a:spcBef>
                <a:spcPts val="300"/>
              </a:spcBef>
            </a:pPr>
            <a:r>
              <a:rPr sz="1450" b="0" i="1">
                <a:solidFill>
                  <a:srgbClr val="707070"/>
                </a:solidFill>
                <a:latin typeface="Arial"/>
              </a:rPr>
              <a:t>One typed example teaches Excel the pattern. Watch column I.</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Split a clean name out of the email column</a:t>
            </a:r>
          </a:p>
          <a:p>
            <a:pPr algn="l">
              <a:spcAft>
                <a:spcPts val="100"/>
              </a:spcAft>
            </a:pPr>
            <a:r>
              <a:rPr sz="1300" b="0" i="0">
                <a:solidFill>
                  <a:srgbClr val="F5F5F5"/>
                </a:solidFill>
                <a:latin typeface="Consolas"/>
              </a:rPr>
              <a:t>1. On raw-export, click cell I1 and type: Rep Name</a:t>
            </a:r>
          </a:p>
          <a:p>
            <a:pPr algn="l">
              <a:spcAft>
                <a:spcPts val="100"/>
              </a:spcAft>
            </a:pPr>
            <a:r>
              <a:rPr sz="1300" b="0" i="0">
                <a:solidFill>
                  <a:srgbClr val="F5F5F5"/>
                </a:solidFill>
                <a:latin typeface="Consolas"/>
              </a:rPr>
              <a:t>2. In I2, type the answer for row 2: Dana Kowalski</a:t>
            </a:r>
          </a:p>
          <a:p>
            <a:pPr algn="l">
              <a:spcAft>
                <a:spcPts val="100"/>
              </a:spcAft>
            </a:pPr>
            <a:r>
              <a:rPr sz="1300" b="0" i="0">
                <a:solidFill>
                  <a:srgbClr val="F5F5F5"/>
                </a:solidFill>
                <a:latin typeface="Consolas"/>
              </a:rPr>
              <a:t>3. Press Enter, then press Ctrl+E (Flash Fill)</a:t>
            </a:r>
          </a:p>
          <a:p>
            <a:pPr algn="l">
              <a:spcAft>
                <a:spcPts val="100"/>
              </a:spcAft>
            </a:pPr>
            <a:r>
              <a:rPr sz="1300" b="0" i="0">
                <a:solidFill>
                  <a:srgbClr val="F5F5F5"/>
                </a:solidFill>
                <a:latin typeface="Consolas"/>
              </a:rPr>
              <a:t>4. Watch the whole column fill from your one example</a:t>
            </a:r>
          </a:p>
          <a:p>
            <a:pPr algn="l">
              <a:spcAft>
                <a:spcPts val="100"/>
              </a:spcAft>
            </a:pPr>
            <a:r>
              <a:rPr sz="1300" b="0" i="0">
                <a:solidFill>
                  <a:srgbClr val="F5F5F5"/>
                </a:solidFill>
                <a:latin typeface="Consolas"/>
              </a:rPr>
              <a:t>5. Spot-check two rows near the bottom</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Machine learning, shipped in 2013, license cost: zero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Analyze Data</a:t>
            </a:r>
          </a:p>
          <a:p>
            <a:pPr>
              <a:spcBef>
                <a:spcPts val="300"/>
              </a:spcBef>
            </a:pPr>
            <a:r>
              <a:rPr sz="1450" b="0" i="1">
                <a:solidFill>
                  <a:srgbClr val="707070"/>
                </a:solidFill>
                <a:latin typeface="Arial"/>
              </a:rPr>
              <a:t>Ask a question in plain English, get a PivotTable back.</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Ask Excel a question in plain English</a:t>
            </a:r>
          </a:p>
          <a:p>
            <a:pPr algn="l">
              <a:spcAft>
                <a:spcPts val="100"/>
              </a:spcAft>
            </a:pPr>
            <a:r>
              <a:rPr sz="1300" b="0" i="0">
                <a:solidFill>
                  <a:srgbClr val="F5F5F5"/>
                </a:solidFill>
                <a:latin typeface="Consolas"/>
              </a:rPr>
              <a:t>1. Click anywhere in the data</a:t>
            </a:r>
          </a:p>
          <a:p>
            <a:pPr algn="l">
              <a:spcAft>
                <a:spcPts val="100"/>
              </a:spcAft>
            </a:pPr>
            <a:r>
              <a:rPr sz="1300" b="0" i="0">
                <a:solidFill>
                  <a:srgbClr val="F5F5F5"/>
                </a:solidFill>
                <a:latin typeface="Consolas"/>
              </a:rPr>
              <a:t>2. Home tab &gt; Analyze Data</a:t>
            </a:r>
          </a:p>
          <a:p>
            <a:pPr algn="l">
              <a:spcAft>
                <a:spcPts val="100"/>
              </a:spcAft>
            </a:pPr>
            <a:r>
              <a:rPr sz="1300" b="0" i="0">
                <a:solidFill>
                  <a:srgbClr val="F5F5F5"/>
                </a:solidFill>
                <a:latin typeface="Consolas"/>
              </a:rPr>
              <a:t>3. Type: total Amount by Region</a:t>
            </a:r>
          </a:p>
          <a:p>
            <a:pPr algn="l">
              <a:spcAft>
                <a:spcPts val="100"/>
              </a:spcAft>
            </a:pPr>
            <a:r>
              <a:rPr sz="1300" b="0" i="0">
                <a:solidFill>
                  <a:srgbClr val="F5F5F5"/>
                </a:solidFill>
                <a:latin typeface="Consolas"/>
              </a:rPr>
              <a:t>4. Insert the suggested PivotTable</a:t>
            </a:r>
          </a:p>
          <a:p>
            <a:pPr algn="l">
              <a:spcAft>
                <a:spcPts val="100"/>
              </a:spcAft>
            </a:pPr>
            <a:r>
              <a:rPr sz="1300" b="0" i="0">
                <a:solidFill>
                  <a:srgbClr val="F5F5F5"/>
                </a:solidFill>
                <a:latin typeface="Consolas"/>
              </a:rPr>
              <a:t>5. Fallback: Insert &gt; Recommended PivotTables</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A model reads your data and answers in English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The honest moment</a:t>
            </a:r>
          </a:p>
          <a:p>
            <a:pPr>
              <a:spcBef>
                <a:spcPts val="400"/>
              </a:spcBef>
            </a:pPr>
            <a:r>
              <a:rPr sz="1500" b="0" i="1">
                <a:solidFill>
                  <a:srgbClr val="CF3338"/>
                </a:solidFill>
                <a:latin typeface="Arial"/>
              </a:rPr>
              <a:t>Why the answer was wrong, and why that is the real lesson</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Analyze Data just showed seven regions. Lakeshore has four.</a:t>
            </a:r>
          </a:p>
          <a:p>
            <a:pPr>
              <a:spcAft>
                <a:spcPts val="700"/>
              </a:spcAft>
            </a:pPr>
            <a:r>
              <a:rPr sz="1200" b="1" i="0">
                <a:solidFill>
                  <a:srgbClr val="CF3338"/>
                </a:solidFill>
                <a:latin typeface="Arial"/>
              </a:rPr>
              <a:t>▶  </a:t>
            </a:r>
            <a:r>
              <a:rPr sz="1600" b="0" i="0">
                <a:solidFill>
                  <a:srgbClr val="1F2120"/>
                </a:solidFill>
                <a:latin typeface="Arial"/>
              </a:rPr>
              <a:t>MIDWEST, Midwest, and midwest-with-a-space read as three different places.</a:t>
            </a:r>
          </a:p>
          <a:p>
            <a:pPr>
              <a:spcAft>
                <a:spcPts val="700"/>
              </a:spcAft>
            </a:pPr>
            <a:r>
              <a:rPr sz="1200" b="1" i="0">
                <a:solidFill>
                  <a:srgbClr val="CF3338"/>
                </a:solidFill>
                <a:latin typeface="Arial"/>
              </a:rPr>
              <a:t>▶  </a:t>
            </a:r>
            <a:r>
              <a:rPr sz="1600" b="0" i="0">
                <a:solidFill>
                  <a:srgbClr val="1F2120"/>
                </a:solidFill>
                <a:latin typeface="Arial"/>
              </a:rPr>
              <a:t>The TOTAL rows quietly double-counted the answer.</a:t>
            </a:r>
          </a:p>
          <a:p>
            <a:pPr>
              <a:spcAft>
                <a:spcPts val="700"/>
              </a:spcAft>
            </a:pPr>
            <a:r>
              <a:rPr sz="1200" b="1" i="0">
                <a:solidFill>
                  <a:srgbClr val="CF3338"/>
                </a:solidFill>
                <a:latin typeface="Arial"/>
              </a:rPr>
              <a:t>▶  </a:t>
            </a:r>
            <a:r>
              <a:rPr sz="1600" b="0" i="0">
                <a:solidFill>
                  <a:srgbClr val="1F2120"/>
                </a:solidFill>
                <a:latin typeface="Arial"/>
              </a:rPr>
              <a:t>The AI is only as good as the data underneath it. Hold that thought for Wednesday.</a:t>
            </a:r>
          </a:p>
          <a:p>
            <a:pPr>
              <a:spcAft>
                <a:spcPts val="700"/>
              </a:spcAft>
            </a:pPr>
            <a:r>
              <a:rPr sz="1200" b="1" i="0">
                <a:solidFill>
                  <a:srgbClr val="CF3338"/>
                </a:solidFill>
                <a:latin typeface="Arial"/>
              </a:rPr>
              <a:t>▶  </a:t>
            </a:r>
            <a:r>
              <a:rPr sz="1600" b="0" i="0">
                <a:solidFill>
                  <a:srgbClr val="1F2120"/>
                </a:solidFill>
                <a:latin typeface="Arial"/>
              </a:rPr>
              <a:t>Also free: Copilot Chat in Excel, no purchased license. Licensing questions go to your IT team.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Do this at your desk today</a:t>
            </a:r>
          </a:p>
          <a:p>
            <a:pPr>
              <a:spcBef>
                <a:spcPts val="400"/>
              </a:spcBef>
            </a:pPr>
            <a:r>
              <a:rPr sz="1500" b="0" i="1">
                <a:solidFill>
                  <a:srgbClr val="CF3338"/>
                </a:solidFill>
                <a:latin typeface="Arial"/>
              </a:rPr>
              <a:t>Ten minutes, tops</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Find one column you have been cleaning by hand and let Flash Fill do it: type one example, press Ctrl+E.</a:t>
            </a:r>
          </a:p>
          <a:p>
            <a:pPr>
              <a:spcAft>
                <a:spcPts val="700"/>
              </a:spcAft>
            </a:pPr>
            <a:r>
              <a:rPr sz="1200" b="1" i="0">
                <a:solidFill>
                  <a:srgbClr val="CF3338"/>
                </a:solidFill>
                <a:latin typeface="Arial"/>
              </a:rPr>
              <a:t>▶  </a:t>
            </a:r>
            <a:r>
              <a:rPr sz="1600" b="0" i="0">
                <a:solidFill>
                  <a:srgbClr val="1F2120"/>
                </a:solidFill>
                <a:latin typeface="Arial"/>
              </a:rPr>
              <a:t>Open a real dataset and click Home &gt; Analyze Data. Ask it one question you actually care about.</a:t>
            </a:r>
          </a:p>
          <a:p>
            <a:pPr>
              <a:spcAft>
                <a:spcPts val="700"/>
              </a:spcAft>
            </a:pPr>
            <a:r>
              <a:rPr sz="1200" b="1" i="0">
                <a:solidFill>
                  <a:srgbClr val="CF3338"/>
                </a:solidFill>
                <a:latin typeface="Arial"/>
              </a:rPr>
              <a:t>▶  </a:t>
            </a:r>
            <a:r>
              <a:rPr sz="1600" b="0" i="0">
                <a:solidFill>
                  <a:srgbClr val="1F2120"/>
                </a:solidFill>
                <a:latin typeface="Arial"/>
              </a:rPr>
              <a:t>Note what it gets wrong. Bring that list tomorrow. The fix is the whole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TOMORROW</a:t>
            </a:r>
          </a:p>
          <a:p>
            <a:pPr>
              <a:spcBef>
                <a:spcPts val="800"/>
              </a:spcBef>
            </a:pPr>
            <a:r>
              <a:rPr sz="3600" b="1" i="0">
                <a:solidFill>
                  <a:srgbClr val="FFFFFF"/>
                </a:solidFill>
                <a:latin typeface="Arial Black"/>
              </a:rPr>
              <a:t>Make your data AI-readable</a:t>
            </a:r>
          </a:p>
          <a:p>
            <a:pPr>
              <a:spcBef>
                <a:spcPts val="1400"/>
              </a:spcBef>
            </a:pPr>
            <a:r>
              <a:rPr sz="1800" b="0" i="0">
                <a:solidFill>
                  <a:srgbClr val="FFFFFF"/>
                </a:solidFill>
                <a:latin typeface="Arial"/>
              </a:rPr>
              <a:t>The single highest-leverage prep move an analyst can make, and it costs nothing.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THANK YOU</a:t>
            </a:r>
          </a:p>
          <a:p>
            <a:pPr>
              <a:spcBef>
                <a:spcPts val="800"/>
              </a:spcBef>
            </a:pPr>
            <a:r>
              <a:rPr sz="3600" b="1" i="0">
                <a:solidFill>
                  <a:srgbClr val="FFFFFF"/>
                </a:solidFill>
                <a:latin typeface="Arial Black"/>
              </a:rPr>
              <a:t>See you tomorrow at noon Eastern</a:t>
            </a:r>
          </a:p>
          <a:p>
            <a:pPr>
              <a:spcBef>
                <a:spcPts val="1400"/>
              </a:spcBef>
            </a:pPr>
            <a:r>
              <a:rPr sz="1800" b="0" i="0">
                <a:solidFill>
                  <a:srgbClr val="FFFFFF"/>
                </a:solidFill>
                <a:latin typeface="Arial"/>
              </a:rPr>
              <a:t>Replays and the full back catalog live in the Stringfest membership vault.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